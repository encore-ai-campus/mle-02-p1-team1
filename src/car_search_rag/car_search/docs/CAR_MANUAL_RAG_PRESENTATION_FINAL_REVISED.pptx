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b16f784ac75a4035" /><Relationship Type="http://schemas.openxmlformats.org/officeDocument/2006/relationships/extended-properties" Target="/docProps/app.xml" Id="Rb2c1e27f2d444242" /><Relationship Type="http://schemas.openxmlformats.org/officeDocument/2006/relationships/officeDocument" Target="/ppt/presentation.xml" Id="Rcffd0e43e8b34591" /></Relationships>
</file>

<file path=ppt/presentation.xml><?xml version="1.0" encoding="utf-8"?>
<p:presentation xmlns:p="http://schemas.openxmlformats.org/presentationml/2006/main">
  <p:sldMasterIdLst>
    <p:sldMasterId xmlns:r="http://schemas.openxmlformats.org/officeDocument/2006/relationships" id="2147483648" r:id="Rb65d3320fe944370"/>
  </p:sldMasterIdLst>
  <p:notesMasterIdLst>
    <p:notesMasterId xmlns:r="http://schemas.openxmlformats.org/officeDocument/2006/relationships" r:id="Rb602d797b0f64e52"/>
  </p:notesMasterIdLst>
  <p:sldIdLst>
    <p:sldId xmlns:r="http://schemas.openxmlformats.org/officeDocument/2006/relationships" id="256" r:id="R62d742195a804f37"/>
    <p:sldId xmlns:r="http://schemas.openxmlformats.org/officeDocument/2006/relationships" id="257" r:id="R0d0bb19250c34a2e"/>
    <p:sldId xmlns:r="http://schemas.openxmlformats.org/officeDocument/2006/relationships" id="258" r:id="Rc2787ca48dd543ff"/>
    <p:sldId xmlns:r="http://schemas.openxmlformats.org/officeDocument/2006/relationships" id="259" r:id="R5fdfba02cee6487b"/>
    <p:sldId xmlns:r="http://schemas.openxmlformats.org/officeDocument/2006/relationships" id="260" r:id="R10d81c926c014231"/>
    <p:sldId xmlns:r="http://schemas.openxmlformats.org/officeDocument/2006/relationships" id="261" r:id="rId13"/>
    <p:sldId xmlns:r="http://schemas.openxmlformats.org/officeDocument/2006/relationships" id="262" r:id="Re23845cf38f44b5c"/>
    <p:sldId xmlns:r="http://schemas.openxmlformats.org/officeDocument/2006/relationships" id="263" r:id="Rfa33008caf234578"/>
    <p:sldId xmlns:r="http://schemas.openxmlformats.org/officeDocument/2006/relationships" id="264" r:id="R099804c8896446d7"/>
    <p:sldId xmlns:r="http://schemas.openxmlformats.org/officeDocument/2006/relationships" id="265" r:id="Rde1d43c0c1fb4fd8"/>
    <p:sldId xmlns:r="http://schemas.openxmlformats.org/officeDocument/2006/relationships" id="266" r:id="Rff0852f1027e4f17"/>
    <p:sldId xmlns:r="http://schemas.openxmlformats.org/officeDocument/2006/relationships" id="267" r:id="Rc50132a014e8458c"/>
    <p:sldId xmlns:r="http://schemas.openxmlformats.org/officeDocument/2006/relationships" id="268" r:id="rId14"/>
    <p:sldId xmlns:r="http://schemas.openxmlformats.org/officeDocument/2006/relationships" id="269" r:id="rId15"/>
    <p:sldId xmlns:r="http://schemas.openxmlformats.org/officeDocument/2006/relationships" id="270" r:id="Rc47cff3067d044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44c8f5e76e0b4ddf" /><Relationship Type="http://schemas.openxmlformats.org/officeDocument/2006/relationships/slideMaster" Target="/ppt/slideMasters/slideMaster1.xml" Id="Rb65d3320fe944370" /><Relationship Type="http://schemas.openxmlformats.org/officeDocument/2006/relationships/notesMaster" Target="/ppt/notesMasters/notesMaster1.xml" Id="Rb602d797b0f64e52" /><Relationship Type="http://schemas.openxmlformats.org/officeDocument/2006/relationships/presProps" Target="/ppt/presProps.xml" Id="Rc25bcbb4c5a24959" /><Relationship Type="http://schemas.openxmlformats.org/officeDocument/2006/relationships/tableStyles" Target="/ppt/tableStyles.xml" Id="Rbbacc28b8d64419c" /><Relationship Type="http://schemas.openxmlformats.org/officeDocument/2006/relationships/slide" Target="/ppt/slides/slide1.xml" Id="R62d742195a804f37" /><Relationship Type="http://schemas.openxmlformats.org/officeDocument/2006/relationships/slide" Target="/ppt/slides/slide2.xml" Id="R0d0bb19250c34a2e" /><Relationship Type="http://schemas.openxmlformats.org/officeDocument/2006/relationships/slide" Target="/ppt/slides/slide3.xml" Id="Rc2787ca48dd543ff" /><Relationship Type="http://schemas.openxmlformats.org/officeDocument/2006/relationships/slide" Target="/ppt/slides/slide4.xml" Id="R5fdfba02cee6487b" /><Relationship Type="http://schemas.openxmlformats.org/officeDocument/2006/relationships/slide" Target="/ppt/slides/slide5.xml" Id="R10d81c926c014231" /><Relationship Type="http://schemas.openxmlformats.org/officeDocument/2006/relationships/slide" Target="/ppt/slides/slide6.xml" Id="Re23845cf38f44b5c" /><Relationship Type="http://schemas.openxmlformats.org/officeDocument/2006/relationships/slide" Target="/ppt/slides/slide7.xml" Id="Rfa33008caf234578" /><Relationship Type="http://schemas.openxmlformats.org/officeDocument/2006/relationships/slide" Target="/ppt/slides/slide8.xml" Id="R099804c8896446d7" /><Relationship Type="http://schemas.openxmlformats.org/officeDocument/2006/relationships/slide" Target="/ppt/slides/slide9.xml" Id="Rde1d43c0c1fb4fd8" /><Relationship Type="http://schemas.openxmlformats.org/officeDocument/2006/relationships/slide" Target="/ppt/slides/slide10.xml" Id="Rff0852f1027e4f17" /><Relationship Type="http://schemas.openxmlformats.org/officeDocument/2006/relationships/slide" Target="/ppt/slides/slide11.xml" Id="Rc50132a014e8458c" /><Relationship Type="http://schemas.openxmlformats.org/officeDocument/2006/relationships/slide" Target="/ppt/slides/slide12.xml" Id="Rc47cff3067d044f3" /><Relationship Type="http://schemas.openxmlformats.org/officeDocument/2006/relationships/slide" Target="/ppt/slides/slide13.xml" Id="rId13" /><Relationship Type="http://schemas.openxmlformats.org/officeDocument/2006/relationships/slide" Target="/ppt/slides/slide14.xml" Id="rId14" /><Relationship Type="http://schemas.openxmlformats.org/officeDocument/2006/relationships/slide" Target="/ppt/slides/slide15.xml" Id="rId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be0740ce7842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cee411b7c14b2e" /><Relationship Type="http://schemas.openxmlformats.org/officeDocument/2006/relationships/notesMaster" Target="/ppt/notesMasters/notesMaster1.xml" Id="R2c0dc8553a56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350d3ffbe94745" /><Relationship Type="http://schemas.openxmlformats.org/officeDocument/2006/relationships/notesMaster" Target="/ppt/notesMasters/notesMaster1.xml" Id="Rae8831d338ea46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fb351f5fbb4f4c" /><Relationship Type="http://schemas.openxmlformats.org/officeDocument/2006/relationships/notesMaster" Target="/ppt/notesMasters/notesMaster1.xml" Id="R97d3a6930fe24d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59c74c18db4bf2" /><Relationship Type="http://schemas.openxmlformats.org/officeDocument/2006/relationships/notesMaster" Target="/ppt/notesMasters/notesMaster1.xml" Id="R799d941948014b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fefff6b6c048ef" /><Relationship Type="http://schemas.openxmlformats.org/officeDocument/2006/relationships/notesMaster" Target="/ppt/notesMasters/notesMaster1.xml" Id="R5d4e964d96514e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867e9fdb744e71" /><Relationship Type="http://schemas.openxmlformats.org/officeDocument/2006/relationships/notesMaster" Target="/ppt/notesMasters/notesMaster1.xml" Id="R76280b612a1b4e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a2e94faf4f405c" /><Relationship Type="http://schemas.openxmlformats.org/officeDocument/2006/relationships/notesMaster" Target="/ppt/notesMasters/notesMaster1.xml" Id="R3abc417277af4f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d04cef0def4bd2" /><Relationship Type="http://schemas.openxmlformats.org/officeDocument/2006/relationships/notesMaster" Target="/ppt/notesMasters/notesMaster1.xml" Id="R96109ad58a3b4c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b76b4df85f42ff" /><Relationship Type="http://schemas.openxmlformats.org/officeDocument/2006/relationships/notesMaster" Target="/ppt/notesMasters/notesMaster1.xml" Id="R459ec9593df349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a5510bc523430b" /><Relationship Type="http://schemas.openxmlformats.org/officeDocument/2006/relationships/notesMaster" Target="/ppt/notesMasters/notesMaster1.xml" Id="Rd41b5d983d074a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6aab49174c4cee" /><Relationship Type="http://schemas.openxmlformats.org/officeDocument/2006/relationships/notesMaster" Target="/ppt/notesMasters/notesMaster1.xml" Id="R4567163cdf354e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ef09dd9a474b67" /><Relationship Type="http://schemas.openxmlformats.org/officeDocument/2006/relationships/notesMaster" Target="/ppt/notesMasters/notesMaster1.xml" Id="R432454cb838049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Sonata 2026 국문 취급설명서를 대상으로 자연어 질문에 매뉴얼 근거를 연결하는 검색·답변 서비스를 만들었습니다. 이 발표는 검색 점수, 실제 UI에서 본 이미지 문제, 그리고 PDF 레이아웃을 이용한 image_desc 개선 과정을 따라갑니다.</a:t>
            </a:r>
          </a:p>
          <a:p xmlns:a="http://schemas.openxmlformats.org/drawingml/2006/main">
            <a:r>
              <a:t/>
            </a:r>
          </a:p>
          <a:p xmlns:a="http://schemas.openxmlformats.org/drawingml/2006/main">
            <a:r>
              <a:t>근거: SONATA_PROJECT_SCOPE.md;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 매뉴얼은 수백 페이지에 걸쳐 사용, 안전, 정비 정보를 담고 있습니다. 사용자는 정확한 부품 명칭이나 페이지를 몰라도 자연어로 질문하고, 답변이 어느 설명에 근거하는지 확인하고 싶어 합니다. Sonata 프로젝트는 이 탐색 과정을 RAG 검색으로 연결했습니다.</a:t>
            </a:r>
          </a:p>
          <a:p xmlns:a="http://schemas.openxmlformats.org/drawingml/2006/main">
            <a:r>
              <a:t/>
            </a:r>
          </a:p>
          <a:p xmlns:a="http://schemas.openxmlformats.org/drawingml/2006/main">
            <a:r>
              <a:t>근거: EDA_REPORT.md; Notion M0 · 주제·API 확정; 사용자 제공 PROJECT BRIEF / PRD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PDF에서 508페이지 모두 텍스트 추출 성공으로 기록되어 있습니다. 등록 코드는 RecursiveCharacterTextSplitter의 chunk_size 800, overlap 150 설정으로 검색 chunk를 만들고, 페이지와 이미지를 별도 metadata로 DB에 적재합니다. 초기 EDA에서는 이미지 955건 모두 image_desc가 비어 있었습니다.</a:t>
            </a:r>
          </a:p>
          <a:p xmlns:a="http://schemas.openxmlformats.org/drawingml/2006/main">
            <a:r>
              <a:t/>
            </a:r>
          </a:p>
          <a:p xmlns:a="http://schemas.openxmlformats.org/drawingml/2006/main">
            <a:r>
              <a:t>근거: EDA_REPORT.md; DATASET_SPEC.md; sonata_pdf_eda.ipynb;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적재 시 PDF 페이지 텍스트를 800자 단위, 150자 overlap으로 분할하고 text-embedding-3-small로 1536차원 벡터를 저장합니다. 질문 때는 같은 embedding 모델로 query vector를 만들고, search_car_manual이 PostgreSQL + pgvector의 cosine distance 연산자로 chunk를 정렬합니다. ChatOpenAI가 검색 근거를 받아 답변을 만들고 Streamlit이 결과를 보여줍니다. HNSW index는 존재하지만 개별 실행계획에서 선택 여부는 별도로 봐야 합니다.</a:t>
            </a:r>
          </a:p>
          <a:p xmlns:a="http://schemas.openxmlformats.org/drawingml/2006/main">
            <a:r>
              <a:t/>
            </a:r>
          </a:p>
          <a:p xmlns:a="http://schemas.openxmlformats.org/drawingml/2006/main">
            <a:r>
              <a:t>근거: SONATA_PROJECT_SCOPE.md; car_manual_register_service.py; car_manual_search_service.py; car_manual.sql; app_kbj.py; M4 실행계획 EXPERIMENT_LOG.md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M6은 11개 Sonata 질문에 대해 질문 embedding과 pgvector Top-5 검색만 독립 실행했습니다. 공식 Hit@5는 9/11, MRR@5는 0.5333입니다. M6-05의 기대 chunk는 6위, M6-11은 10위였습니다. 이 공식 retrieval-only 결과는 브라우저 UI에서 보인 citation이나 답변 품질과 별도입니다.</a:t>
            </a:r>
          </a:p>
          <a:p xmlns:a="http://schemas.openxmlformats.org/drawingml/2006/main">
            <a:r>
              <a:t/>
            </a:r>
          </a:p>
          <a:p xmlns:a="http://schemas.openxmlformats.org/drawingml/2006/main">
            <a:r>
              <a:t>근거: M6_RETRIEVAL_EVALUATION.md; M6_RETRIEVAL_RESULTS.csv; M6 Notion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Streamlit 시연에서 텍스트 답변은 질문을 다루더라도, 같은 페이지에 연결된 이미지가 질문과 직접 관련이 낮은 경우가 관찰됐습니다. 예를 들어 와이퍼 교체 질문에 타이어 이미지가 함께 보였고, 비상 경고등 질문에도 주차 경고 관련 이미지가 섞였습니다. 이는 텍스트 Hit@5만으로 화면의 이미지 관련성을 평가할 수 없다는 점을 보여줬습니다.</a:t>
            </a:r>
          </a:p>
          <a:p xmlns:a="http://schemas.openxmlformats.org/drawingml/2006/main">
            <a:r>
              <a:t/>
            </a:r>
          </a:p>
          <a:p xmlns:a="http://schemas.openxmlformats.org/drawingml/2006/main">
            <a:r>
              <a:t>근거: M6_BROWSER_E2E_RESULT.md; M7_IMPROVEMENT_EVALUATION.md; 원본 PDF physical p.236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주변 문맥 규칙을 production에 적용했지만 955개 중 9개만 설명이 생성됐습니다. 동일 100건 표본의 텍스트 LLM 실험에서도 더 큰 모델이 규칙 후보를 실질적으로 더 좋게 다듬는 사례는 제한적이었습니다. context를 늘리면 개선 후보는 늘었지만 다른 주제의 문맥이 섞이는 문제가 생겼습니다. 그래서 모델 비교를 멈추고 PDF의 실제 레이아웃을 분석했습니다.</a:t>
            </a:r>
          </a:p>
          <a:p xmlns:a="http://schemas.openxmlformats.org/drawingml/2006/main">
            <a:r>
              <a:t/>
            </a:r>
          </a:p>
          <a:p xmlns:a="http://schemas.openxmlformats.org/drawingml/2006/main">
            <a:r>
              <a:t>근거: M7_IMPROVEMENT_EVALUATION.md; IMAGE_DESC_TEXT_LLM_100.md; IMAGE_DESC_TEXT_LLM_100_GPT56_LUNA.md; IMAGE_DESC_TEXT_LLM_100_GPT56_TERRA.md; IMAGE_DESC_CONTEXT_DIAGNOSTIC_100.md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페이지를 확인하면서 제목 또는 기능명, 짧은 타입 label, 이미지가 일정한 공간 관계로 배치된다는 점을 확인했습니다. 예를 들어 ‘앞좌석 열선 시트 사용’ 아래에 A타입·B타입 label이 있고 각 그림이 이어집니다. 최종 방식은 이미지 바로 위 텍스트를 중심으로 같은 column, 수평 겹침, 거리 순으로 연결합니다. font 크기는 후보 순위 신호로만 사용하며 9pt도 버리지 않습니다.</a:t>
            </a:r>
          </a:p>
          <a:p xmlns:a="http://schemas.openxmlformats.org/drawingml/2006/main">
            <a:r>
              <a:t/>
            </a:r>
          </a:p>
          <a:p xmlns:a="http://schemas.openxmlformats.org/drawingml/2006/main">
            <a:r>
              <a:t>근거: IMAGE_DESC_HEADING_100.md; M7_IMPROVEMENT_EVALUATION.md; car_manual_register_service.py; 원본 PDF physical p.463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등록된 image_desc는 문서에 실제 있는 제목·기능명·절차명과 필요한 A/B 타입 label을 추출해 구성합니다. 955개 중 890개가 non-NULL이고 65개는 NULL로 남았습니다. 400개는 heading only, 490개는 heading과 label 조합입니다. 이 비율은 metadata 저장 coverage이지 이미지 설명의 정확도 점수가 아닙니다.</a:t>
            </a:r>
          </a:p>
          <a:p xmlns:a="http://schemas.openxmlformats.org/drawingml/2006/main">
            <a:r>
              <a:t/>
            </a:r>
          </a:p>
          <a:p xmlns:a="http://schemas.openxmlformats.org/drawingml/2006/main">
            <a:r>
              <a:t>근거: M7_IMPROVEMENT_EVALUATION.md; M7_AFTER_RESULTS.csv;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M7은 텍스트 검색 SQL, embedding, Top-K를 바꾸지 않았습니다. 검색 결과 페이지 안에서 image_desc를 사용해 이미지 표시 순서를 별도로 선택했습니다. 동일 11개 질문의 공식 Retrieval-only 재평가에서 Hit@5는 9/11, MRR@5는 0.5333으로 동일했습니다. 따라서 텍스트 검색 알고리즘 개선이라고 해석하지 않습니다.</a:t>
            </a:r>
          </a:p>
          <a:p xmlns:a="http://schemas.openxmlformats.org/drawingml/2006/main">
            <a:r>
              <a:t/>
            </a:r>
          </a:p>
          <a:p xmlns:a="http://schemas.openxmlformats.org/drawingml/2006/main">
            <a:r>
              <a:t>근거: M6_RETRIEVAL_EVALUATION.md; M6_RETRIEVAL_RESULTS.csv; M7_IMPROVEMENT_EVALUATION.md; M7_AFTER_RESULTS.csv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 Streamlit 브라우저에서 M6 질문들을 확인한 결과를 이미지 관련성으로 별도 분류했습니다. 직접 적합 사례는 M6-01, 04, 07, 11, 부분 적합은 M6-06, 08, 09입니다. M6-03, 05에는 무관 이미지가 일부 섞였습니다. 이는 정성적 UI 관찰이며 image_desc coverage와 같은 정량 지표가 아니고, 완전한 이미지 정합성의 증명도 아닙니다.</a:t>
            </a:r>
          </a:p>
          <a:p xmlns:a="http://schemas.openxmlformats.org/drawingml/2006/main">
            <a:r>
              <a:t/>
            </a:r>
          </a:p>
          <a:p xmlns:a="http://schemas.openxmlformats.org/drawingml/2006/main">
            <a:r>
              <a:t>근거: M7_IMPROVEMENT_EVALUATION.md; M6_BROWSER_E2E_RESULT.md;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작업에서 텍스트 Retrieval baseline과 이미지 관련성을 서로 다른 지표로 관리했습니다. 강한 모델을 연속해서 시험했지만 실질적인 문구 개선은 제한적이었고, PDF의 제목·label·image 배치를 이용한 deterministic extraction이 더 실용적이었습니다. 다음 개선도 전체 점수만 보는 대신 M6-05·M6-11의 순위 문제와 M6-03·M6-05의 이미지 혼입처럼 관찰된 실패 사례를 분리해 추적하는 것이 적절합니다.</a:t>
            </a:r>
          </a:p>
          <a:p xmlns:a="http://schemas.openxmlformats.org/drawingml/2006/main">
            <a:r>
              <a:t/>
            </a:r>
          </a:p>
          <a:p xmlns:a="http://schemas.openxmlformats.org/drawingml/2006/main">
            <a:r>
              <a:t>근거: PROJECT_PROGRESS_REPORT.md; M6_RETRIEVAL_EVALUATION.md; M7_IMPROVEMENT_EVALUATION.md; Notion M7 · 개선 실험 1회; Notion M9 · 시연·회고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705a559cf4c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aebf2ce1bb4cfc" /><Relationship Type="http://schemas.openxmlformats.org/officeDocument/2006/relationships/slideLayout" Target="/ppt/slideLayouts/slideLayout1.xml" Id="Re493738b132240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93738b132240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b6bca821ab4304" /><Relationship Type="http://schemas.openxmlformats.org/officeDocument/2006/relationships/notesSlide" Target="/ppt/notesSlides/notesSlide1.xml" Id="Rfdf5c9a037cd48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864d2c7959450e" /><Relationship Type="http://schemas.openxmlformats.org/officeDocument/2006/relationships/notesSlide" Target="/ppt/notesSlides/notesSlide2.xml" Id="R3faa85fdd56c4b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173212f4014e0d" /><Relationship Type="http://schemas.openxmlformats.org/officeDocument/2006/relationships/image" Target="/ppt/media/image.png" Id="Refa2b3ebadc3442d" /><Relationship Type="http://schemas.openxmlformats.org/officeDocument/2006/relationships/notesSlide" Target="/ppt/notesSlides/notesSlide3.xml" Id="R8216e19c9e2045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0a522bc4e244a1" /><Relationship Type="http://schemas.openxmlformats.org/officeDocument/2006/relationships/notesSlide" Target="/ppt/notesSlides/notesSlide4.xml" Id="R832bbac91fc348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e53432398f46de" /><Relationship Type="http://schemas.openxmlformats.org/officeDocument/2006/relationships/notesSlide" Target="/ppt/notesSlides/notesSlide5.xml" Id="Rd18bd5d14b584f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4265b1af4947f0" /><Relationship Type="http://schemas.openxmlformats.org/officeDocument/2006/relationships/image" Target="/ppt/media/image2.png" Id="R7a1138afeed041a5" /><Relationship Type="http://schemas.openxmlformats.org/officeDocument/2006/relationships/notesSlide" Target="/ppt/notesSlides/notesSlide6.xml" Id="R488be52e6d754a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7af24e19b445e8" /><Relationship Type="http://schemas.openxmlformats.org/officeDocument/2006/relationships/notesSlide" Target="/ppt/notesSlides/notesSlide7.xml" Id="R919b830f56334f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be1b8d4c1d4fe1" /><Relationship Type="http://schemas.openxmlformats.org/officeDocument/2006/relationships/image" Target="/ppt/media/image3.png" Id="R0b86fe4dfd8745e0" /><Relationship Type="http://schemas.openxmlformats.org/officeDocument/2006/relationships/notesSlide" Target="/ppt/notesSlides/notesSlide8.xml" Id="R6bf5bfd7369e47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fac0cff860435e" /><Relationship Type="http://schemas.openxmlformats.org/officeDocument/2006/relationships/notesSlide" Target="/ppt/notesSlides/notesSlide9.xml" Id="R3712381af0de4b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8aa44a55c442f8" /><Relationship Type="http://schemas.openxmlformats.org/officeDocument/2006/relationships/notesSlide" Target="/ppt/notesSlides/notesSlide10.xml" Id="R95f9bb052f804a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ce8c6983bb4f20" /><Relationship Type="http://schemas.openxmlformats.org/officeDocument/2006/relationships/notesSlide" Target="/ppt/notesSlides/notesSlide11.xml" Id="R94d733244dbc4c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122bc7dc2b433b" /><Relationship Type="http://schemas.openxmlformats.org/officeDocument/2006/relationships/notesSlide" Target="/ppt/notesSlides/notesSlide12.xml" Id="Rb94d0a4f74214ce0" /></Relationships>
</file>

<file path=ppt/slides/_rels/slide13.xml.rels><?xml version='1.0' encoding='utf-8'?>
<rel:Relationships xmlns:rel="http://schemas.openxmlformats.org/package/2006/relationships"><rel:Relationship Type="http://schemas.openxmlformats.org/officeDocument/2006/relationships/slideLayout" Target="/ppt/slideLayouts/slideLayout1.xml" Id="R5a0a522bc4e244a1" /></rel:Relationships>
</file>

<file path=ppt/slides/_rels/slide14.xml.rels><?xml version='1.0' encoding='utf-8'?>
<rel:Relationships xmlns:rel="http://schemas.openxmlformats.org/package/2006/relationships"><rel:Relationship Type="http://schemas.openxmlformats.org/officeDocument/2006/relationships/slideLayout" Target="/ppt/slideLayouts/slideLayout1.xml" Id="Rf7122bc7dc2b433b" /></rel:Relationships>
</file>

<file path=ppt/slides/_rels/slide15.xml.rels><?xml version='1.0' encoding='utf-8'?>
<rel:Relationships xmlns:rel="http://schemas.openxmlformats.org/package/2006/relationships"><rel:Relationship Type="http://schemas.openxmlformats.org/officeDocument/2006/relationships/slideLayout" Target="/ppt/slideLayouts/slideLayout1.xml" Id="R62e53432398f46de" /></rel: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 name="">
            <a:extLst>
              <a:ext uri="{FF2B5EF4-FFF2-40B4-BE49-F238E27FC236}">
                <a16:creationId id="{D56E6D6A-BCE1-4EBE-8BD8-E0088DBBBFF2}"/>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4C241A15-0F9E-45DC-BC6C-0614B15B83ED}"/>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58712"/>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Hyundai Sonata 2026</a:t>
            </a:r>
          </a:p>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차량 매뉴얼 RAG</a:t>
            </a:r>
          </a:p>
        </p:txBody>
      </p:sp>
      <p:sp>
        <p:nvSpPr>
          <p:cNvPr id="3" name="">
            <a:extLst>
              <a:ext uri="{FF2B5EF4-FFF2-40B4-BE49-F238E27FC236}">
                <a16:creationId id="{8EB88F04-77F4-4F75-9F1A-C61AD1AF2EAE}"/>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25B57E79-3A3D-4A24-91C0-7B2776AA8694}"/>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AC925584-0E13-4B4F-A958-F0905AAA45CC}"/>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01</a:t>
            </a:r>
          </a:p>
        </p:txBody>
      </p:sp>
      <p:sp>
        <p:nvSpPr>
          <p:cNvPr id="6" name="">
            <a:extLst>
              <a:ext uri="{FF2B5EF4-FFF2-40B4-BE49-F238E27FC236}">
                <a16:creationId id="{C496F034-7A99-4D17-B8E6-BF2859B50933}"/>
              </a:ext>
            </a:extLst>
          </p:cNvPr>
          <p:cNvSpPr>
            <a:spLocks noGrp="1"/>
          </p:cNvSpPr>
          <p:nvPr/>
        </p:nvSpPr>
        <p:spPr>
          <a:xfrm>
            <a:off x="647700" y="2476500"/>
            <a:ext cx="6477000" cy="495300"/>
          </a:xfrm>
          <a:prstGeom prst="rect">
            <a:avLst/>
          </a:prstGeom>
          <a:noFill/>
          <a:ln w="0">
            <a:noFill/>
            <a:prstDash val="solid"/>
          </a:ln>
        </p:spPr>
        <p:txBody>
          <a:bodyPr wrap="square" lIns="0" tIns="0" rIns="0" bIns="0" anchor="t">
            <a:normAutofit fontScale="100000"/>
          </a:bodyPr>
          <a:lstStyle/>
          <a:p>
            <a:pPr algn="l">
              <a:defRPr sz="2325" b="0">
                <a:solidFill>
                  <a:srgbClr val="5E6E83"/>
                </a:solidFill>
                <a:latin typeface="Noto Sans KR"/>
                <a:ea typeface="Noto Sans KR"/>
                <a:cs typeface="Noto Sans KR"/>
              </a:defRPr>
            </a:pPr>
            <a:r>
              <a:rPr sz="2325" b="0">
                <a:solidFill>
                  <a:srgbClr val="5E6E83"/>
                </a:solidFill>
                <a:latin typeface="Noto Sans KR"/>
                <a:ea typeface="Noto Sans KR"/>
                <a:cs typeface="Noto Sans KR"/>
              </a:rPr>
              <a:t>검색 결과 이미지 관련성 개선</a:t>
            </a:r>
          </a:p>
        </p:txBody>
      </p:sp>
      <p:sp>
        <p:nvSpPr>
          <p:cNvPr id="7" name="">
            <a:extLst>
              <a:ext uri="{FF2B5EF4-FFF2-40B4-BE49-F238E27FC236}">
                <a16:creationId id="{64B8F1E1-AA44-4AFD-8FEA-9CB392838A49}"/>
              </a:ext>
            </a:extLst>
          </p:cNvPr>
          <p:cNvSpPr>
            <a:spLocks noGrp="1"/>
          </p:cNvSpPr>
          <p:nvPr/>
        </p:nvSpPr>
        <p:spPr>
          <a:xfrm>
            <a:off x="647700" y="3276600"/>
            <a:ext cx="4953000" cy="19050"/>
          </a:xfrm>
          <a:prstGeom prst="rect">
            <a:avLst/>
          </a:prstGeom>
          <a:solidFill>
            <a:srgbClr val="D9E1EC"/>
          </a:solidFill>
          <a:ln w="0">
            <a:noFill/>
            <a:prstDash val="solid"/>
          </a:ln>
        </p:spPr>
      </p:sp>
      <p:sp>
        <p:nvSpPr>
          <p:cNvPr id="8" name="">
            <a:extLst>
              <a:ext uri="{FF2B5EF4-FFF2-40B4-BE49-F238E27FC236}">
                <a16:creationId id="{9206A93D-BE76-451F-B19D-16280A4E1522}"/>
              </a:ext>
            </a:extLst>
          </p:cNvPr>
          <p:cNvSpPr>
            <a:spLocks noGrp="1"/>
          </p:cNvSpPr>
          <p:nvPr/>
        </p:nvSpPr>
        <p:spPr>
          <a:xfrm>
            <a:off x="6858000" y="2238375"/>
            <a:ext cx="2000250" cy="904875"/>
          </a:xfrm>
          <a:prstGeom prst="rect">
            <a:avLst/>
          </a:prstGeom>
          <a:noFill/>
          <a:ln w="0">
            <a:noFill/>
            <a:prstDash val="solid"/>
          </a:ln>
        </p:spPr>
        <p:txBody>
          <a:bodyPr wrap="square" lIns="0" tIns="0" rIns="0" bIns="0" anchor="t">
            <a:normAutofit fontScale="100000"/>
          </a:bodyPr>
          <a:lstStyle/>
          <a:p>
            <a:pPr algn="ctr">
              <a:defRPr sz="5700" b="1">
                <a:solidFill>
                  <a:srgbClr val="5E6E83"/>
                </a:solidFill>
                <a:latin typeface="Noto Sans KR"/>
                <a:ea typeface="Noto Sans KR"/>
                <a:cs typeface="Noto Sans KR"/>
              </a:defRPr>
            </a:pPr>
            <a:r>
              <a:rPr sz="5700" b="1">
                <a:solidFill>
                  <a:srgbClr val="5E6E83"/>
                </a:solidFill>
                <a:latin typeface="Noto Sans KR"/>
                <a:ea typeface="Noto Sans KR"/>
                <a:cs typeface="Noto Sans KR"/>
              </a:rPr>
              <a:t>0%</a:t>
            </a:r>
          </a:p>
        </p:txBody>
      </p:sp>
      <p:sp>
        <p:nvSpPr>
          <p:cNvPr id="9" name="">
            <a:extLst>
              <a:ext uri="{FF2B5EF4-FFF2-40B4-BE49-F238E27FC236}">
                <a16:creationId id="{1F8E7E6E-8A80-48ED-9884-80B38F140A3F}"/>
              </a:ext>
            </a:extLst>
          </p:cNvPr>
          <p:cNvSpPr>
            <a:spLocks noGrp="1"/>
          </p:cNvSpPr>
          <p:nvPr/>
        </p:nvSpPr>
        <p:spPr>
          <a:xfrm>
            <a:off x="8858250" y="2390775"/>
            <a:ext cx="904875" cy="609600"/>
          </a:xfrm>
          <a:prstGeom prst="rect">
            <a:avLst/>
          </a:prstGeom>
          <a:noFill/>
          <a:ln w="0">
            <a:noFill/>
            <a:prstDash val="solid"/>
          </a:ln>
        </p:spPr>
        <p:txBody>
          <a:bodyPr wrap="square" lIns="0" tIns="0" rIns="0" bIns="0" anchor="t">
            <a:normAutofit fontScale="100000"/>
          </a:bodyPr>
          <a:lstStyle/>
          <a:p>
            <a:pPr algn="ctr">
              <a:defRPr sz="3600" b="1">
                <a:solidFill>
                  <a:srgbClr val="2357D8"/>
                </a:solidFill>
                <a:latin typeface="Noto Sans KR"/>
                <a:ea typeface="Noto Sans KR"/>
                <a:cs typeface="Noto Sans KR"/>
              </a:defRPr>
            </a:pPr>
            <a:r>
              <a:rPr sz="3600" b="1">
                <a:solidFill>
                  <a:srgbClr val="2357D8"/>
                </a:solidFill>
                <a:latin typeface="Noto Sans KR"/>
                <a:ea typeface="Noto Sans KR"/>
                <a:cs typeface="Noto Sans KR"/>
              </a:rPr>
              <a:t>→</a:t>
            </a:r>
          </a:p>
        </p:txBody>
      </p:sp>
      <p:sp>
        <p:nvSpPr>
          <p:cNvPr id="10" name="">
            <a:extLst>
              <a:ext uri="{FF2B5EF4-FFF2-40B4-BE49-F238E27FC236}">
                <a16:creationId id="{ACB06C4A-019E-466A-A948-1C64F5C0A971}"/>
              </a:ext>
            </a:extLst>
          </p:cNvPr>
          <p:cNvSpPr>
            <a:spLocks noGrp="1"/>
          </p:cNvSpPr>
          <p:nvPr/>
        </p:nvSpPr>
        <p:spPr>
          <a:xfrm>
            <a:off x="9620250" y="2238375"/>
            <a:ext cx="2095500" cy="904875"/>
          </a:xfrm>
          <a:prstGeom prst="rect">
            <a:avLst/>
          </a:prstGeom>
          <a:noFill/>
          <a:ln w="0">
            <a:noFill/>
            <a:prstDash val="solid"/>
          </a:ln>
        </p:spPr>
        <p:txBody>
          <a:bodyPr wrap="square" lIns="0" tIns="0" rIns="0" bIns="0" anchor="t">
            <a:normAutofit fontScale="94612"/>
          </a:bodyPr>
          <a:lstStyle/>
          <a:p>
            <a:pPr algn="ctr">
              <a:defRPr sz="5700" b="1">
                <a:solidFill>
                  <a:srgbClr val="2357D8"/>
                </a:solidFill>
                <a:latin typeface="Noto Sans KR"/>
                <a:ea typeface="Noto Sans KR"/>
                <a:cs typeface="Noto Sans KR"/>
              </a:defRPr>
            </a:pPr>
            <a:r>
              <a:rPr sz="5700" b="1">
                <a:solidFill>
                  <a:srgbClr val="2357D8"/>
                </a:solidFill>
                <a:latin typeface="Noto Sans KR"/>
                <a:ea typeface="Noto Sans KR"/>
                <a:cs typeface="Noto Sans KR"/>
              </a:rPr>
              <a:t>93.2%</a:t>
            </a:r>
          </a:p>
        </p:txBody>
      </p:sp>
      <p:sp>
        <p:nvSpPr>
          <p:cNvPr id="11" name="">
            <a:extLst>
              <a:ext uri="{FF2B5EF4-FFF2-40B4-BE49-F238E27FC236}">
                <a16:creationId id="{304957A6-A8E5-4376-A6CB-4A81143FBDD2}"/>
              </a:ext>
            </a:extLst>
          </p:cNvPr>
          <p:cNvSpPr>
            <a:spLocks noGrp="1"/>
          </p:cNvSpPr>
          <p:nvPr/>
        </p:nvSpPr>
        <p:spPr>
          <a:xfrm>
            <a:off x="6648450" y="3200400"/>
            <a:ext cx="2571750" cy="304800"/>
          </a:xfrm>
          <a:prstGeom prst="rect">
            <a:avLst/>
          </a:prstGeom>
          <a:noFill/>
          <a:ln w="0">
            <a:noFill/>
            <a:prstDash val="solid"/>
          </a:ln>
        </p:spPr>
        <p:txBody>
          <a:bodyPr wrap="square" lIns="0" tIns="0" rIns="0" bIns="0" anchor="t">
            <a:normAutofit fontScale="100000"/>
          </a:bodyPr>
          <a:lstStyle/>
          <a:p>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초기 image_desc coverage</a:t>
            </a:r>
          </a:p>
        </p:txBody>
      </p:sp>
      <p:sp>
        <p:nvSpPr>
          <p:cNvPr id="12" name="">
            <a:extLst>
              <a:ext uri="{FF2B5EF4-FFF2-40B4-BE49-F238E27FC236}">
                <a16:creationId id="{BD163933-DDE5-4EDC-ACC8-2B80B6DA6659}"/>
              </a:ext>
            </a:extLst>
          </p:cNvPr>
          <p:cNvSpPr>
            <a:spLocks noGrp="1"/>
          </p:cNvSpPr>
          <p:nvPr/>
        </p:nvSpPr>
        <p:spPr>
          <a:xfrm>
            <a:off x="9429750" y="3200400"/>
            <a:ext cx="2428875" cy="304800"/>
          </a:xfrm>
          <a:prstGeom prst="rect">
            <a:avLst/>
          </a:prstGeom>
          <a:noFill/>
          <a:ln w="0">
            <a:noFill/>
            <a:prstDash val="solid"/>
          </a:ln>
        </p:spPr>
        <p:txBody>
          <a:bodyPr wrap="square" lIns="0" tIns="0" rIns="0" bIns="0" anchor="t">
            <a:normAutofit fontScale="100000"/>
          </a:bodyPr>
          <a:lstStyle/>
          <a:p>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최종 저장 coverage</a:t>
            </a:r>
          </a:p>
        </p:txBody>
      </p:sp>
      <p:sp>
        <p:nvSpPr>
          <p:cNvPr id="13" name="">
            <a:extLst>
              <a:ext uri="{FF2B5EF4-FFF2-40B4-BE49-F238E27FC236}">
                <a16:creationId id="{18D5180E-DE92-4BE8-82BA-D194BA6BAF8F}"/>
              </a:ext>
            </a:extLst>
          </p:cNvPr>
          <p:cNvSpPr>
            <a:spLocks noGrp="1"/>
          </p:cNvSpPr>
          <p:nvPr/>
        </p:nvSpPr>
        <p:spPr>
          <a:xfrm>
            <a:off x="6686550" y="4038600"/>
            <a:ext cx="4953000" cy="323850"/>
          </a:xfrm>
          <a:prstGeom prst="rect">
            <a:avLst/>
          </a:prstGeom>
          <a:noFill/>
          <a:ln w="0">
            <a:noFill/>
            <a:prstDash val="solid"/>
          </a:ln>
        </p:spPr>
        <p:txBody>
          <a:bodyPr wrap="square" lIns="0" tIns="0" rIns="0" bIns="0" anchor="t">
            <a:normAutofit fontScale="100000"/>
          </a:bodyPr>
          <a:lstStyle/>
          <a:p>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layout 기반 deterministic extraction</a:t>
            </a:r>
          </a:p>
        </p:txBody>
      </p:sp>
      <p:sp>
        <p:nvSpPr>
          <p:cNvPr id="14" name="">
            <a:extLst>
              <a:ext uri="{FF2B5EF4-FFF2-40B4-BE49-F238E27FC236}">
                <a16:creationId id="{6FADC072-72FD-432F-BF39-83E5B062F15C}"/>
              </a:ext>
            </a:extLst>
          </p:cNvPr>
          <p:cNvSpPr>
            <a:spLocks noGrp="1"/>
          </p:cNvSpPr>
          <p:nvPr/>
        </p:nvSpPr>
        <p:spPr>
          <a:xfrm>
            <a:off x="647700" y="5638800"/>
            <a:ext cx="6572250" cy="34290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508 pages   /   947 chunks   /   955 images</a:t>
            </a:r>
          </a:p>
        </p:txBody>
      </p:sp>
    </p:spTree>
    <p:extLst>
      <p:ext uri="{BB962C8B-B14F-4D97-AF65-F5344CB8AC3E}">
        <p14:creationId val="1015591331"/>
      </p:ext>
    </p:extLst>
  </p:cSld>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 name="">
            <a:extLst>
              <a:ext uri="{FF2B5EF4-FFF2-40B4-BE49-F238E27FC236}">
                <a16:creationId id="{DC204B6E-C510-46B4-BC7B-30E97B1A363E}"/>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CD902FC3-6DB9-4E93-9C02-2F9E22105B38}"/>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긴 매뉴얼에서 필요한 근거를 찾는 문제</a:t>
            </a:r>
          </a:p>
        </p:txBody>
      </p:sp>
      <p:sp>
        <p:nvSpPr>
          <p:cNvPr id="3" name="">
            <a:extLst>
              <a:ext uri="{FF2B5EF4-FFF2-40B4-BE49-F238E27FC236}">
                <a16:creationId id="{2F1FCEF9-3831-4A5C-8E59-8B6E6BDC1121}"/>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08290F92-1701-4E62-A432-D1B131254DAB}"/>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7107B2B5-79B2-47D8-8762-7E51613DED30}"/>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02</a:t>
            </a:r>
          </a:p>
        </p:txBody>
      </p:sp>
      <p:sp>
        <p:nvSpPr>
          <p:cNvPr id="6" name="">
            <a:extLst>
              <a:ext uri="{FF2B5EF4-FFF2-40B4-BE49-F238E27FC236}">
                <a16:creationId id="{8A2191D7-DE19-4AB0-959F-3FD5573C7E1A}"/>
              </a:ext>
            </a:extLst>
          </p:cNvPr>
          <p:cNvSpPr>
            <a:spLocks noGrp="1"/>
          </p:cNvSpPr>
          <p:nvPr/>
        </p:nvSpPr>
        <p:spPr>
          <a:xfrm>
            <a:off x="685800" y="1733550"/>
            <a:ext cx="3143250" cy="1381125"/>
          </a:xfrm>
          <a:prstGeom prst="rect">
            <a:avLst/>
          </a:prstGeom>
          <a:noFill/>
          <a:ln w="0">
            <a:noFill/>
            <a:prstDash val="solid"/>
          </a:ln>
        </p:spPr>
        <p:txBody>
          <a:bodyPr wrap="square" lIns="0" tIns="0" rIns="0" bIns="0" anchor="t">
            <a:normAutofit fontScale="100000"/>
          </a:bodyPr>
          <a:lstStyle/>
          <a:p>
            <a:pPr algn="l">
              <a:defRPr sz="8700" b="1">
                <a:solidFill>
                  <a:srgbClr val="2357D8"/>
                </a:solidFill>
                <a:latin typeface="Noto Sans KR"/>
                <a:ea typeface="Noto Sans KR"/>
                <a:cs typeface="Noto Sans KR"/>
              </a:defRPr>
            </a:pPr>
            <a:r>
              <a:rPr sz="8700" b="1">
                <a:solidFill>
                  <a:srgbClr val="2357D8"/>
                </a:solidFill>
                <a:latin typeface="Noto Sans KR"/>
                <a:ea typeface="Noto Sans KR"/>
                <a:cs typeface="Noto Sans KR"/>
              </a:rPr>
              <a:t>508</a:t>
            </a:r>
          </a:p>
        </p:txBody>
      </p:sp>
      <p:sp>
        <p:nvSpPr>
          <p:cNvPr id="7" name="">
            <a:extLst>
              <a:ext uri="{FF2B5EF4-FFF2-40B4-BE49-F238E27FC236}">
                <a16:creationId id="{A7577DBB-3282-4C7E-855F-88499260C7BC}"/>
              </a:ext>
            </a:extLst>
          </p:cNvPr>
          <p:cNvSpPr>
            <a:spLocks noGrp="1"/>
          </p:cNvSpPr>
          <p:nvPr/>
        </p:nvSpPr>
        <p:spPr>
          <a:xfrm>
            <a:off x="3762375" y="2209800"/>
            <a:ext cx="1428750" cy="495300"/>
          </a:xfrm>
          <a:prstGeom prst="rect">
            <a:avLst/>
          </a:prstGeom>
          <a:noFill/>
          <a:ln w="0">
            <a:noFill/>
            <a:prstDash val="solid"/>
          </a:ln>
        </p:spPr>
        <p:txBody>
          <a:bodyPr wrap="square" lIns="0" tIns="0" rIns="0" bIns="0" anchor="t">
            <a:normAutofit fontScale="100000"/>
          </a:bodyPr>
          <a:lstStyle/>
          <a:p>
            <a:pPr algn="l">
              <a:defRPr sz="2475" b="1">
                <a:solidFill>
                  <a:srgbClr val="5E6E83"/>
                </a:solidFill>
                <a:latin typeface="Noto Sans KR"/>
                <a:ea typeface="Noto Sans KR"/>
                <a:cs typeface="Noto Sans KR"/>
              </a:defRPr>
            </a:pPr>
            <a:r>
              <a:rPr sz="2475" b="1">
                <a:solidFill>
                  <a:srgbClr val="5E6E83"/>
                </a:solidFill>
                <a:latin typeface="Noto Sans KR"/>
                <a:ea typeface="Noto Sans KR"/>
                <a:cs typeface="Noto Sans KR"/>
              </a:rPr>
              <a:t>페이지</a:t>
            </a:r>
          </a:p>
        </p:txBody>
      </p:sp>
      <p:sp>
        <p:nvSpPr>
          <p:cNvPr id="8" name="">
            <a:extLst>
              <a:ext uri="{FF2B5EF4-FFF2-40B4-BE49-F238E27FC236}">
                <a16:creationId id="{42E5464C-9015-4383-B87C-FF163252F10C}"/>
              </a:ext>
            </a:extLst>
          </p:cNvPr>
          <p:cNvSpPr>
            <a:spLocks noGrp="1"/>
          </p:cNvSpPr>
          <p:nvPr/>
        </p:nvSpPr>
        <p:spPr>
          <a:xfrm>
            <a:off x="685800" y="3486150"/>
            <a:ext cx="5334000" cy="685800"/>
          </a:xfrm>
          <a:prstGeom prst="rect">
            <a:avLst/>
          </a:prstGeom>
          <a:noFill/>
          <a:ln w="0">
            <a:noFill/>
            <a:prstDash val="solid"/>
          </a:ln>
        </p:spPr>
        <p:txBody>
          <a:bodyPr wrap="square" lIns="0" tIns="0" rIns="0" bIns="0" anchor="t">
            <a:normAutofit fontScale="100000"/>
          </a:bodyPr>
          <a:lstStyle/>
          <a:p>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질문 표현과 매뉴얼 표현은 다를 수 있다</a:t>
            </a:r>
          </a:p>
        </p:txBody>
      </p:sp>
      <p:sp>
        <p:nvSpPr>
          <p:cNvPr id="9" name="">
            <a:extLst>
              <a:ext uri="{FF2B5EF4-FFF2-40B4-BE49-F238E27FC236}">
                <a16:creationId id="{53729966-4C94-4D29-B37A-118846A85296}"/>
              </a:ext>
            </a:extLst>
          </p:cNvPr>
          <p:cNvSpPr>
            <a:spLocks noGrp="1"/>
          </p:cNvSpPr>
          <p:nvPr/>
        </p:nvSpPr>
        <p:spPr>
          <a:xfrm>
            <a:off x="685800" y="4457700"/>
            <a:ext cx="5191125" cy="19050"/>
          </a:xfrm>
          <a:prstGeom prst="rect">
            <a:avLst/>
          </a:prstGeom>
          <a:solidFill>
            <a:srgbClr val="D9E1EC"/>
          </a:solidFill>
          <a:ln w="0">
            <a:noFill/>
            <a:prstDash val="solid"/>
          </a:ln>
        </p:spPr>
      </p:sp>
      <p:sp>
        <p:nvSpPr>
          <p:cNvPr id="10" name="">
            <a:extLst>
              <a:ext uri="{FF2B5EF4-FFF2-40B4-BE49-F238E27FC236}">
                <a16:creationId id="{105368A7-7350-4E8C-A12A-888B27DAC64E}"/>
              </a:ext>
            </a:extLst>
          </p:cNvPr>
          <p:cNvSpPr>
            <a:spLocks noGrp="1"/>
          </p:cNvSpPr>
          <p:nvPr/>
        </p:nvSpPr>
        <p:spPr>
          <a:xfrm>
            <a:off x="6572250" y="2038350"/>
            <a:ext cx="4762500" cy="952500"/>
          </a:xfrm>
          <a:prstGeom prst="rect">
            <a:avLst/>
          </a:prstGeom>
          <a:noFill/>
          <a:ln w="0">
            <a:noFill/>
            <a:prstDash val="solid"/>
          </a:ln>
        </p:spPr>
        <p:txBody>
          <a:bodyPr wrap="square" lIns="0" tIns="0" rIns="0" bIns="0" anchor="t">
            <a:normAutofit fontScale="100000"/>
          </a:bodyPr>
          <a:lstStyle/>
          <a:p>
            <a:pPr algn="l">
              <a:defRPr sz="2700" b="1">
                <a:solidFill>
                  <a:srgbClr val="12233F"/>
                </a:solidFill>
                <a:latin typeface="Noto Sans KR"/>
                <a:ea typeface="Noto Sans KR"/>
                <a:cs typeface="Noto Sans KR"/>
              </a:defRPr>
            </a:pPr>
            <a:r>
              <a:rPr sz="2700" b="1">
                <a:solidFill>
                  <a:srgbClr val="12233F"/>
                </a:solidFill>
                <a:latin typeface="Noto Sans KR"/>
                <a:ea typeface="Noto Sans KR"/>
                <a:cs typeface="Noto Sans KR"/>
              </a:rPr>
              <a:t>“차가운 타이어는 어떤 상태인가요?”</a:t>
            </a:r>
          </a:p>
        </p:txBody>
      </p:sp>
      <p:sp>
        <p:nvSpPr>
          <p:cNvPr id="11" name="">
            <a:extLst>
              <a:ext uri="{FF2B5EF4-FFF2-40B4-BE49-F238E27FC236}">
                <a16:creationId id="{B5D39F56-A812-4D04-A5E6-FFBA0B479D2D}"/>
              </a:ext>
            </a:extLst>
          </p:cNvPr>
          <p:cNvSpPr>
            <a:spLocks noGrp="1"/>
          </p:cNvSpPr>
          <p:nvPr/>
        </p:nvSpPr>
        <p:spPr>
          <a:xfrm>
            <a:off x="6572250" y="3124200"/>
            <a:ext cx="1905000" cy="304800"/>
          </a:xfrm>
          <a:prstGeom prst="rect">
            <a:avLst/>
          </a:prstGeom>
          <a:noFill/>
          <a:ln w="0">
            <a:noFill/>
            <a:prstDash val="solid"/>
          </a:ln>
        </p:spPr>
        <p:txBody>
          <a:bodyPr wrap="square" lIns="0" tIns="0" rIns="0" bIns="0" anchor="t">
            <a:normAutofit fontScale="100000"/>
          </a:bodyPr>
          <a:lstStyle/>
          <a:p>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자연어 질문</a:t>
            </a:r>
          </a:p>
        </p:txBody>
      </p:sp>
      <p:sp>
        <p:nvSpPr>
          <p:cNvPr id="12" name="">
            <a:extLst>
              <a:ext uri="{FF2B5EF4-FFF2-40B4-BE49-F238E27FC236}">
                <a16:creationId id="{C88A4B4E-399A-4F43-89A5-8EB20891DB8D}"/>
              </a:ext>
            </a:extLst>
          </p:cNvPr>
          <p:cNvSpPr>
            <a:spLocks noGrp="1"/>
          </p:cNvSpPr>
          <p:nvPr/>
        </p:nvSpPr>
        <p:spPr>
          <a:xfrm>
            <a:off x="6572250" y="3686175"/>
            <a:ext cx="4762500" cy="361950"/>
          </a:xfrm>
          <a:prstGeom prst="rect">
            <a:avLst/>
          </a:prstGeom>
          <a:noFill/>
          <a:ln w="0">
            <a:noFill/>
            <a:prstDash val="solid"/>
          </a:ln>
        </p:spPr>
        <p:txBody>
          <a:bodyPr wrap="square" lIns="0" tIns="0" rIns="0" bIns="0" anchor="t">
            <a:normAutofit fontScale="100000"/>
          </a:bodyPr>
          <a:lstStyle/>
          <a:p>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관련 페이지와 chunk를 검색</a:t>
            </a:r>
          </a:p>
        </p:txBody>
      </p:sp>
      <p:sp>
        <p:nvSpPr>
          <p:cNvPr id="13" name="">
            <a:extLst>
              <a:ext uri="{FF2B5EF4-FFF2-40B4-BE49-F238E27FC236}">
                <a16:creationId id="{A36A5AD5-5651-4FD1-97D4-831E12822F98}"/>
              </a:ext>
            </a:extLst>
          </p:cNvPr>
          <p:cNvSpPr>
            <a:spLocks noGrp="1"/>
          </p:cNvSpPr>
          <p:nvPr/>
        </p:nvSpPr>
        <p:spPr>
          <a:xfrm>
            <a:off x="6572250" y="4210050"/>
            <a:ext cx="4762500" cy="361950"/>
          </a:xfrm>
          <a:prstGeom prst="rect">
            <a:avLst/>
          </a:prstGeom>
          <a:noFill/>
          <a:ln w="0">
            <a:noFill/>
            <a:prstDash val="solid"/>
          </a:ln>
        </p:spPr>
        <p:txBody>
          <a:bodyPr wrap="square" lIns="0" tIns="0" rIns="0" bIns="0" anchor="t">
            <a:normAutofit fontScale="100000"/>
          </a:bodyPr>
          <a:lstStyle/>
          <a:p>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근거 기반 답변과 이미지 표시</a:t>
            </a:r>
          </a:p>
        </p:txBody>
      </p:sp>
    </p:spTree>
    <p:extLst>
      <p:ext uri="{BB962C8B-B14F-4D97-AF65-F5344CB8AC3E}">
        <p14:creationId val="1357756470"/>
      </p:ext>
    </p:extLst>
  </p:cSld>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9" name="">
            <a:extLst>
              <a:ext uri="{FF2B5EF4-FFF2-40B4-BE49-F238E27FC236}">
                <a16:creationId id="{15FD4E09-0E2D-4D22-8E19-BA250145A11A}"/>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0E1FEC27-8E14-47C6-BCE1-C605F59627E7}"/>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원본 508페이지를 검색 단위로 구성</a:t>
            </a:r>
          </a:p>
        </p:txBody>
      </p:sp>
      <p:sp>
        <p:nvSpPr>
          <p:cNvPr id="3" name="">
            <a:extLst>
              <a:ext uri="{FF2B5EF4-FFF2-40B4-BE49-F238E27FC236}">
                <a16:creationId id="{2095FE62-487F-4826-ADF9-D2B195074C11}"/>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F506C1AE-5F8E-4DBF-AAF3-BF226F0F9681}"/>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4B830E03-AE8D-44C2-97B4-E97E140609DD}"/>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03</a:t>
            </a:r>
          </a:p>
        </p:txBody>
      </p:sp>
      <p:sp>
        <p:nvSpPr>
          <p:cNvPr id="6" name="">
            <a:extLst>
              <a:ext uri="{FF2B5EF4-FFF2-40B4-BE49-F238E27FC236}">
                <a16:creationId id="{B25DAEF4-ABA6-480A-8FE6-701C0F0014E1}"/>
              </a:ext>
            </a:extLst>
          </p:cNvPr>
          <p:cNvSpPr>
            <a:spLocks noGrp="1"/>
          </p:cNvSpPr>
          <p:nvPr/>
        </p:nvSpPr>
        <p:spPr>
          <a:xfrm>
            <a:off x="723900" y="1533525"/>
            <a:ext cx="1571625" cy="723900"/>
          </a:xfrm>
          <a:prstGeom prst="rect">
            <a:avLst/>
          </a:prstGeom>
          <a:noFill/>
          <a:ln w="0">
            <a:noFill/>
            <a:prstDash val="solid"/>
          </a:ln>
        </p:spPr>
        <p:txBody>
          <a:bodyPr wrap="square" lIns="0" tIns="0" rIns="0" bIns="0" anchor="t">
            <a:normAutofit fontScale="100000"/>
          </a:bodyPr>
          <a:lstStyle/>
          <a:p>
            <a:pPr algn="l">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508</a:t>
            </a:r>
          </a:p>
        </p:txBody>
      </p:sp>
      <p:sp>
        <p:nvSpPr>
          <p:cNvPr id="7" name="">
            <a:extLst>
              <a:ext uri="{FF2B5EF4-FFF2-40B4-BE49-F238E27FC236}">
                <a16:creationId id="{9CE6FA21-B805-4D2D-82F4-09A08FD0B4C8}"/>
              </a:ext>
            </a:extLst>
          </p:cNvPr>
          <p:cNvSpPr>
            <a:spLocks noGrp="1"/>
          </p:cNvSpPr>
          <p:nvPr/>
        </p:nvSpPr>
        <p:spPr>
          <a:xfrm>
            <a:off x="723900" y="2238375"/>
            <a:ext cx="1571625" cy="28575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PDF pages</a:t>
            </a:r>
          </a:p>
        </p:txBody>
      </p:sp>
      <p:sp>
        <p:nvSpPr>
          <p:cNvPr id="8" name="">
            <a:extLst>
              <a:ext uri="{FF2B5EF4-FFF2-40B4-BE49-F238E27FC236}">
                <a16:creationId id="{5DA67715-C74B-4D98-A05A-66B4CF60F3D1}"/>
              </a:ext>
            </a:extLst>
          </p:cNvPr>
          <p:cNvSpPr>
            <a:spLocks noGrp="1"/>
          </p:cNvSpPr>
          <p:nvPr/>
        </p:nvSpPr>
        <p:spPr>
          <a:xfrm>
            <a:off x="2428875" y="1533525"/>
            <a:ext cx="2095500" cy="647700"/>
          </a:xfrm>
          <a:prstGeom prst="rect">
            <a:avLst/>
          </a:prstGeom>
          <a:noFill/>
          <a:ln w="0">
            <a:noFill/>
            <a:prstDash val="solid"/>
          </a:ln>
        </p:spPr>
        <p:txBody>
          <a:bodyPr wrap="square" lIns="0" tIns="0" rIns="0" bIns="0" anchor="t">
            <a:normAutofit fontScale="100000"/>
          </a:bodyPr>
          <a:lstStyle/>
          <a:p>
            <a:pPr algn="l">
              <a:defRPr sz="2925" b="1">
                <a:solidFill>
                  <a:srgbClr val="12233F"/>
                </a:solidFill>
                <a:latin typeface="Noto Sans KR"/>
                <a:ea typeface="Noto Sans KR"/>
                <a:cs typeface="Noto Sans KR"/>
              </a:defRPr>
            </a:pPr>
            <a:r>
              <a:rPr sz="2925" b="1">
                <a:solidFill>
                  <a:srgbClr val="12233F"/>
                </a:solidFill>
                <a:latin typeface="Noto Sans KR"/>
                <a:ea typeface="Noto Sans KR"/>
                <a:cs typeface="Noto Sans KR"/>
              </a:rPr>
              <a:t>508 / 508</a:t>
            </a:r>
          </a:p>
        </p:txBody>
      </p:sp>
      <p:sp>
        <p:nvSpPr>
          <p:cNvPr id="9" name="">
            <a:extLst>
              <a:ext uri="{FF2B5EF4-FFF2-40B4-BE49-F238E27FC236}">
                <a16:creationId id="{A26E946B-E19A-46B4-9437-9CEBF16632E6}"/>
              </a:ext>
            </a:extLst>
          </p:cNvPr>
          <p:cNvSpPr>
            <a:spLocks noGrp="1"/>
          </p:cNvSpPr>
          <p:nvPr/>
        </p:nvSpPr>
        <p:spPr>
          <a:xfrm>
            <a:off x="2428875" y="2238375"/>
            <a:ext cx="2095500" cy="28575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텍스트 추출 성공</a:t>
            </a:r>
          </a:p>
        </p:txBody>
      </p:sp>
      <p:sp>
        <p:nvSpPr>
          <p:cNvPr id="10" name="">
            <a:extLst>
              <a:ext uri="{FF2B5EF4-FFF2-40B4-BE49-F238E27FC236}">
                <a16:creationId id="{B8E50D8C-AA29-4AAC-82FD-99C745EA8BEB}"/>
              </a:ext>
            </a:extLst>
          </p:cNvPr>
          <p:cNvSpPr>
            <a:spLocks noGrp="1"/>
          </p:cNvSpPr>
          <p:nvPr/>
        </p:nvSpPr>
        <p:spPr>
          <a:xfrm>
            <a:off x="4686300" y="1533525"/>
            <a:ext cx="1571625" cy="723900"/>
          </a:xfrm>
          <a:prstGeom prst="rect">
            <a:avLst/>
          </a:prstGeom>
          <a:noFill/>
          <a:ln w="0">
            <a:noFill/>
            <a:prstDash val="solid"/>
          </a:ln>
        </p:spPr>
        <p:txBody>
          <a:bodyPr wrap="square" lIns="0" tIns="0" rIns="0" bIns="0" anchor="t">
            <a:normAutofit fontScale="100000"/>
          </a:bodyPr>
          <a:lstStyle/>
          <a:p>
            <a:pPr algn="l">
              <a:defRPr sz="4650" b="1">
                <a:solidFill>
                  <a:srgbClr val="008A91"/>
                </a:solidFill>
                <a:latin typeface="Noto Sans KR"/>
                <a:ea typeface="Noto Sans KR"/>
                <a:cs typeface="Noto Sans KR"/>
              </a:defRPr>
            </a:pPr>
            <a:r>
              <a:rPr sz="4650" b="1">
                <a:solidFill>
                  <a:srgbClr val="008A91"/>
                </a:solidFill>
                <a:latin typeface="Noto Sans KR"/>
                <a:ea typeface="Noto Sans KR"/>
                <a:cs typeface="Noto Sans KR"/>
              </a:rPr>
              <a:t>947</a:t>
            </a:r>
          </a:p>
        </p:txBody>
      </p:sp>
      <p:sp>
        <p:nvSpPr>
          <p:cNvPr id="11" name="">
            <a:extLst>
              <a:ext uri="{FF2B5EF4-FFF2-40B4-BE49-F238E27FC236}">
                <a16:creationId id="{79E74794-9D06-4FBA-B01D-277D0CDB3245}"/>
              </a:ext>
            </a:extLst>
          </p:cNvPr>
          <p:cNvSpPr>
            <a:spLocks noGrp="1"/>
          </p:cNvSpPr>
          <p:nvPr/>
        </p:nvSpPr>
        <p:spPr>
          <a:xfrm>
            <a:off x="4686300" y="2238375"/>
            <a:ext cx="1571625" cy="28575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chunks</a:t>
            </a:r>
          </a:p>
        </p:txBody>
      </p:sp>
      <p:sp>
        <p:nvSpPr>
          <p:cNvPr id="12" name="">
            <a:extLst>
              <a:ext uri="{FF2B5EF4-FFF2-40B4-BE49-F238E27FC236}">
                <a16:creationId id="{BD9C58F9-10C6-497C-9CAF-062427BFE21B}"/>
              </a:ext>
            </a:extLst>
          </p:cNvPr>
          <p:cNvSpPr>
            <a:spLocks noGrp="1"/>
          </p:cNvSpPr>
          <p:nvPr/>
        </p:nvSpPr>
        <p:spPr>
          <a:xfrm>
            <a:off x="6457950" y="1533525"/>
            <a:ext cx="1571625" cy="723900"/>
          </a:xfrm>
          <a:prstGeom prst="rect">
            <a:avLst/>
          </a:prstGeom>
          <a:noFill/>
          <a:ln w="0">
            <a:noFill/>
            <a:prstDash val="solid"/>
          </a:ln>
        </p:spPr>
        <p:txBody>
          <a:bodyPr wrap="square" lIns="0" tIns="0" rIns="0" bIns="0" anchor="t">
            <a:normAutofit fontScale="100000"/>
          </a:bodyPr>
          <a:lstStyle/>
          <a:p>
            <a:pPr algn="l">
              <a:defRPr sz="4650" b="1">
                <a:solidFill>
                  <a:srgbClr val="D87527"/>
                </a:solidFill>
                <a:latin typeface="Noto Sans KR"/>
                <a:ea typeface="Noto Sans KR"/>
                <a:cs typeface="Noto Sans KR"/>
              </a:defRPr>
            </a:pPr>
            <a:r>
              <a:rPr sz="4650" b="1">
                <a:solidFill>
                  <a:srgbClr val="D87527"/>
                </a:solidFill>
                <a:latin typeface="Noto Sans KR"/>
                <a:ea typeface="Noto Sans KR"/>
                <a:cs typeface="Noto Sans KR"/>
              </a:rPr>
              <a:t>955</a:t>
            </a:r>
          </a:p>
        </p:txBody>
      </p:sp>
      <p:sp>
        <p:nvSpPr>
          <p:cNvPr id="13" name="">
            <a:extLst>
              <a:ext uri="{FF2B5EF4-FFF2-40B4-BE49-F238E27FC236}">
                <a16:creationId id="{F5DD4936-3A1F-4F41-93AA-87428D32DFFF}"/>
              </a:ext>
            </a:extLst>
          </p:cNvPr>
          <p:cNvSpPr>
            <a:spLocks noGrp="1"/>
          </p:cNvSpPr>
          <p:nvPr/>
        </p:nvSpPr>
        <p:spPr>
          <a:xfrm>
            <a:off x="6457950" y="2238375"/>
            <a:ext cx="1571625" cy="28575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images</a:t>
            </a:r>
          </a:p>
        </p:txBody>
      </p:sp>
      <p:pic>
        <p:nvPicPr>
          <p:cNvPr id="32" name=""/>
          <p:cNvPicPr>
            <a:picLocks noChangeAspect="1"/>
          </p:cNvPicPr>
          <p:nvPr/>
        </p:nvPicPr>
        <p:blipFill>
          <a:blip r:embed="Refa2b3ebadc3442d"/>
          <a:stretch/>
        </p:blipFill>
        <p:spPr>
          <a:xfrm>
            <a:off x="1138238" y="2857500"/>
            <a:ext cx="5476875" cy="3095625"/>
          </a:xfrm>
          <a:prstGeom prst="rect">
            <a:avLst/>
          </a:prstGeom>
        </p:spPr>
      </p:pic>
      <p:sp>
        <p:nvSpPr>
          <p:cNvPr id="15" name="">
            <a:extLst>
              <a:ext uri="{FF2B5EF4-FFF2-40B4-BE49-F238E27FC236}">
                <a16:creationId id="{D2674873-7611-4E25-A748-FE85773DC82E}"/>
              </a:ext>
            </a:extLst>
          </p:cNvPr>
          <p:cNvSpPr>
            <a:spLocks noGrp="1"/>
          </p:cNvSpPr>
          <p:nvPr/>
        </p:nvSpPr>
        <p:spPr>
          <a:xfrm>
            <a:off x="7715250" y="3162300"/>
            <a:ext cx="3524250" cy="285750"/>
          </a:xfrm>
          <a:prstGeom prst="rect">
            <a:avLst/>
          </a:prstGeom>
          <a:noFill/>
          <a:ln w="0">
            <a:noFill/>
            <a:prstDash val="solid"/>
          </a:ln>
        </p:spPr>
        <p:txBody>
          <a:bodyPr wrap="square" lIns="0" tIns="0" rIns="0" bIns="0" anchor="t">
            <a:normAutofit fontScale="100000"/>
          </a:bodyPr>
          <a:lstStyle/>
          <a:p>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image_desc</a:t>
            </a:r>
          </a:p>
        </p:txBody>
      </p:sp>
      <p:sp>
        <p:nvSpPr>
          <p:cNvPr id="16" name="">
            <a:extLst>
              <a:ext uri="{FF2B5EF4-FFF2-40B4-BE49-F238E27FC236}">
                <a16:creationId id="{236214FC-8759-4EA2-853E-CE85648270F2}"/>
              </a:ext>
            </a:extLst>
          </p:cNvPr>
          <p:cNvSpPr>
            <a:spLocks noGrp="1"/>
          </p:cNvSpPr>
          <p:nvPr/>
        </p:nvSpPr>
        <p:spPr>
          <a:xfrm>
            <a:off x="7715250" y="3581400"/>
            <a:ext cx="3333750" cy="800100"/>
          </a:xfrm>
          <a:prstGeom prst="rect">
            <a:avLst/>
          </a:prstGeom>
          <a:noFill/>
          <a:ln w="0">
            <a:noFill/>
            <a:prstDash val="solid"/>
          </a:ln>
        </p:spPr>
        <p:txBody>
          <a:bodyPr wrap="square" lIns="0" tIns="0" rIns="0" bIns="0" anchor="t">
            <a:normAutofit fontScale="100000"/>
          </a:bodyPr>
          <a:lstStyle/>
          <a:p>
            <a:pPr algn="l">
              <a:defRPr sz="5250" b="1">
                <a:solidFill>
                  <a:srgbClr val="B94D45"/>
                </a:solidFill>
                <a:latin typeface="Noto Sans KR"/>
                <a:ea typeface="Noto Sans KR"/>
                <a:cs typeface="Noto Sans KR"/>
              </a:defRPr>
            </a:pPr>
            <a:r>
              <a:rPr sz="5250" b="1">
                <a:solidFill>
                  <a:srgbClr val="B94D45"/>
                </a:solidFill>
                <a:latin typeface="Noto Sans KR"/>
                <a:ea typeface="Noto Sans KR"/>
                <a:cs typeface="Noto Sans KR"/>
              </a:rPr>
              <a:t>100%</a:t>
            </a:r>
          </a:p>
        </p:txBody>
      </p:sp>
      <p:sp>
        <p:nvSpPr>
          <p:cNvPr id="17" name="">
            <a:extLst>
              <a:ext uri="{FF2B5EF4-FFF2-40B4-BE49-F238E27FC236}">
                <a16:creationId id="{4CDFCF72-4C8D-4612-AF6E-45F818807EFF}"/>
              </a:ext>
            </a:extLst>
          </p:cNvPr>
          <p:cNvSpPr>
            <a:spLocks noGrp="1"/>
          </p:cNvSpPr>
          <p:nvPr/>
        </p:nvSpPr>
        <p:spPr>
          <a:xfrm>
            <a:off x="7715250" y="4429125"/>
            <a:ext cx="3429000" cy="361950"/>
          </a:xfrm>
          <a:prstGeom prst="rect">
            <a:avLst/>
          </a:prstGeom>
          <a:noFill/>
          <a:ln w="0">
            <a:noFill/>
            <a:prstDash val="solid"/>
          </a:ln>
        </p:spPr>
        <p:txBody>
          <a:bodyPr wrap="square" lIns="0" tIns="0" rIns="0" bIns="0" anchor="t">
            <a:normAutofit fontScale="100000"/>
          </a:bodyPr>
          <a:lstStyle/>
          <a:p>
            <a:pPr algn="l">
              <a:defRPr sz="2100" b="1">
                <a:solidFill>
                  <a:srgbClr val="12233F"/>
                </a:solidFill>
                <a:latin typeface="Noto Sans KR"/>
                <a:ea typeface="Noto Sans KR"/>
                <a:cs typeface="Noto Sans KR"/>
              </a:defRPr>
            </a:pPr>
            <a:r>
              <a:rPr sz="2100" b="1">
                <a:solidFill>
                  <a:srgbClr val="12233F"/>
                </a:solidFill>
                <a:latin typeface="Noto Sans KR"/>
                <a:ea typeface="Noto Sans KR"/>
                <a:cs typeface="Noto Sans KR"/>
              </a:rPr>
              <a:t>955 / 955 NULL</a:t>
            </a:r>
          </a:p>
        </p:txBody>
      </p:sp>
      <p:sp>
        <p:nvSpPr>
          <p:cNvPr id="18" name="">
            <a:extLst>
              <a:ext uri="{FF2B5EF4-FFF2-40B4-BE49-F238E27FC236}">
                <a16:creationId id="{15477C4D-7DE8-4BB0-A15F-CACF7D71AEB6}"/>
              </a:ext>
            </a:extLst>
          </p:cNvPr>
          <p:cNvSpPr>
            <a:spLocks noGrp="1"/>
          </p:cNvSpPr>
          <p:nvPr/>
        </p:nvSpPr>
        <p:spPr>
          <a:xfrm>
            <a:off x="7715250" y="5095875"/>
            <a:ext cx="3619500" cy="619125"/>
          </a:xfrm>
          <a:prstGeom prst="rect">
            <a:avLst/>
          </a:prstGeom>
          <a:noFill/>
          <a:ln w="0">
            <a:noFill/>
            <a:prstDash val="solid"/>
          </a:ln>
        </p:spPr>
        <p:txBody>
          <a:bodyPr wrap="square" lIns="0" tIns="0" rIns="0" bIns="0" anchor="t">
            <a:normAutofit fontScale="100000"/>
          </a:bodyPr>
          <a:lstStyle/>
          <a:p>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텍스트 추출과 이미지 설명 metadata는</a:t>
            </a:r>
          </a:p>
          <a:p>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별도 문제로 점검</a:t>
            </a:r>
          </a:p>
        </p:txBody>
      </p:sp>
    </p:spTree>
    <p:extLst>
      <p:ext uri="{BB962C8B-B14F-4D97-AF65-F5344CB8AC3E}">
        <p14:creationId val="1428333169"/>
      </p:ext>
    </p:extLst>
  </p:cSld>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1" name="">
            <a:extLst>
              <a:ext uri="{FF2B5EF4-FFF2-40B4-BE49-F238E27FC236}">
                <a16:creationId id="{CE4FBC39-DAB8-49F1-ADEA-02D4BB8A08B4}"/>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6578BEB8-EB84-4B73-B47D-1E8BE282D24B}"/>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Embedding 검색 결과를 답변과 이미지에 연결</a:t>
            </a:r>
          </a:p>
        </p:txBody>
      </p:sp>
      <p:sp>
        <p:nvSpPr>
          <p:cNvPr id="3" name="">
            <a:extLst>
              <a:ext uri="{FF2B5EF4-FFF2-40B4-BE49-F238E27FC236}">
                <a16:creationId id="{1D7BC4FE-3325-468A-9788-D7EC794F84CC}"/>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85446912-BE91-466A-8B82-6B239C03CB0C}"/>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5DBDD219-2D03-441E-A2EE-5C2AEF96E3DA}"/>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04</a:t>
            </a:r>
          </a:p>
        </p:txBody>
      </p:sp>
      <p:sp>
        <p:nvSpPr>
          <p:cNvPr id="6" name="">
            <a:extLst>
              <a:ext uri="{FF2B5EF4-FFF2-40B4-BE49-F238E27FC236}">
                <a16:creationId id="{1D5507F6-BA7B-46ED-B4C3-A76ACE4D4CD0}"/>
              </a:ext>
            </a:extLst>
          </p:cNvPr>
          <p:cNvSpPr>
            <a:spLocks noGrp="1"/>
          </p:cNvSpPr>
          <p:nvPr/>
        </p:nvSpPr>
        <p:spPr>
          <a:xfrm>
            <a:off x="685800" y="1485900"/>
            <a:ext cx="1143000" cy="266700"/>
          </a:xfrm>
          <a:prstGeom prst="rect">
            <a:avLst/>
          </a:prstGeom>
          <a:noFill/>
          <a:ln w="0">
            <a:noFill/>
            <a:prstDash val="solid"/>
          </a:ln>
        </p:spPr>
        <p:txBody>
          <a:bodyPr wrap="square" lIns="0" tIns="0" rIns="0" bIns="0" anchor="t">
            <a:normAutofit fontScale="100000"/>
          </a:bodyPr>
          <a:lstStyle/>
          <a:p>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적재</a:t>
            </a:r>
          </a:p>
        </p:txBody>
      </p:sp>
      <p:sp>
        <p:nvSpPr>
          <p:cNvPr id="7" name="">
            <a:extLst>
              <a:ext uri="{FF2B5EF4-FFF2-40B4-BE49-F238E27FC236}">
                <a16:creationId id="{C6CCA6C4-9C6F-41D0-81C3-FC61477ED1B4}"/>
              </a:ext>
            </a:extLst>
          </p:cNvPr>
          <p:cNvSpPr>
            <a:spLocks noGrp="1"/>
          </p:cNvSpPr>
          <p:nvPr/>
        </p:nvSpPr>
        <p:spPr>
          <a:xfrm>
            <a:off x="685800" y="1838325"/>
            <a:ext cx="10839450" cy="38100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page text  →  chunk 800 / overlap 150  →  text-embedding-3-small  →  PostgreSQL + pgvector</a:t>
            </a:r>
          </a:p>
        </p:txBody>
      </p:sp>
      <p:sp>
        <p:nvSpPr>
          <p:cNvPr id="8" name="">
            <a:extLst>
              <a:ext uri="{FF2B5EF4-FFF2-40B4-BE49-F238E27FC236}">
                <a16:creationId id="{E7B4DA24-DA47-43BE-B012-ACA408762DD9}"/>
              </a:ext>
            </a:extLst>
          </p:cNvPr>
          <p:cNvSpPr>
            <a:spLocks noGrp="1"/>
          </p:cNvSpPr>
          <p:nvPr/>
        </p:nvSpPr>
        <p:spPr>
          <a:xfrm>
            <a:off x="685800" y="2390775"/>
            <a:ext cx="10820400" cy="19050"/>
          </a:xfrm>
          <a:prstGeom prst="rect">
            <a:avLst/>
          </a:prstGeom>
          <a:solidFill>
            <a:srgbClr val="D9E1EC"/>
          </a:solidFill>
          <a:ln w="0">
            <a:noFill/>
            <a:prstDash val="solid"/>
          </a:ln>
        </p:spPr>
      </p:sp>
      <p:sp>
        <p:nvSpPr>
          <p:cNvPr id="9" name="">
            <a:extLst>
              <a:ext uri="{FF2B5EF4-FFF2-40B4-BE49-F238E27FC236}">
                <a16:creationId id="{FB85D580-C10B-4DD5-BBC4-ABC8E7F1389D}"/>
              </a:ext>
            </a:extLst>
          </p:cNvPr>
          <p:cNvSpPr>
            <a:spLocks noGrp="1"/>
          </p:cNvSpPr>
          <p:nvPr/>
        </p:nvSpPr>
        <p:spPr>
          <a:xfrm>
            <a:off x="685800" y="2647950"/>
            <a:ext cx="1619250" cy="266700"/>
          </a:xfrm>
          <a:prstGeom prst="rect">
            <a:avLst/>
          </a:prstGeom>
          <a:noFill/>
          <a:ln w="0">
            <a:noFill/>
            <a:prstDash val="solid"/>
          </a:ln>
        </p:spPr>
        <p:txBody>
          <a:bodyPr wrap="square" lIns="0" tIns="0" rIns="0" bIns="0" anchor="t">
            <a:normAutofit fontScale="100000"/>
          </a:bodyPr>
          <a:lstStyle/>
          <a:p>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질문·답변</a:t>
            </a:r>
          </a:p>
        </p:txBody>
      </p:sp>
      <p:sp>
        <p:nvSpPr>
          <p:cNvPr id="10" name="">
            <a:extLst>
              <a:ext uri="{FF2B5EF4-FFF2-40B4-BE49-F238E27FC236}">
                <a16:creationId id="{2AC799EA-3891-4A58-B431-3384C9DFC51B}"/>
              </a:ext>
            </a:extLst>
          </p:cNvPr>
          <p:cNvSpPr>
            <a:spLocks noGrp="1"/>
          </p:cNvSpPr>
          <p:nvPr/>
        </p:nvSpPr>
        <p:spPr>
          <a:xfrm>
            <a:off x="666750" y="3333750"/>
            <a:ext cx="1476375" cy="1200150"/>
          </a:xfrm>
          <a:prstGeom prst="roundRect">
            <a:avLst>
              <a:gd name="adj" fmla="val 12698"/>
            </a:avLst>
          </a:prstGeom>
          <a:solidFill>
            <a:srgbClr val="FFFFFF"/>
          </a:solidFill>
          <a:ln w="9525">
            <a:solidFill>
              <a:srgbClr val="D9E1EC"/>
            </a:solidFill>
            <a:prstDash val="solid"/>
          </a:ln>
        </p:spPr>
      </p:sp>
      <p:sp>
        <p:nvSpPr>
          <p:cNvPr id="11" name="">
            <a:extLst>
              <a:ext uri="{FF2B5EF4-FFF2-40B4-BE49-F238E27FC236}">
                <a16:creationId id="{A37FC83B-AB8E-4068-800D-66229226CBBC}"/>
              </a:ext>
            </a:extLst>
          </p:cNvPr>
          <p:cNvSpPr>
            <a:spLocks noGrp="1"/>
          </p:cNvSpPr>
          <p:nvPr/>
        </p:nvSpPr>
        <p:spPr>
          <a:xfrm>
            <a:off x="666750" y="3333750"/>
            <a:ext cx="66675" cy="1200150"/>
          </a:xfrm>
          <a:prstGeom prst="rect">
            <a:avLst/>
          </a:prstGeom>
          <a:solidFill>
            <a:srgbClr val="2357D8"/>
          </a:solidFill>
          <a:ln w="0">
            <a:noFill/>
            <a:prstDash val="solid"/>
          </a:ln>
        </p:spPr>
      </p:sp>
      <p:sp>
        <p:nvSpPr>
          <p:cNvPr id="12" name="">
            <a:extLst>
              <a:ext uri="{FF2B5EF4-FFF2-40B4-BE49-F238E27FC236}">
                <a16:creationId id="{6194A200-8B19-4E85-8AD3-D071466F77E8}"/>
              </a:ext>
            </a:extLst>
          </p:cNvPr>
          <p:cNvSpPr>
            <a:spLocks noGrp="1"/>
          </p:cNvSpPr>
          <p:nvPr/>
        </p:nvSpPr>
        <p:spPr>
          <a:xfrm>
            <a:off x="83820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질문</a:t>
            </a:r>
          </a:p>
        </p:txBody>
      </p:sp>
      <p:sp>
        <p:nvSpPr>
          <p:cNvPr id="13" name="">
            <a:extLst>
              <a:ext uri="{FF2B5EF4-FFF2-40B4-BE49-F238E27FC236}">
                <a16:creationId id="{BF1B8382-271F-45C5-AA7E-82710441F674}"/>
              </a:ext>
            </a:extLst>
          </p:cNvPr>
          <p:cNvSpPr>
            <a:spLocks noGrp="1"/>
          </p:cNvSpPr>
          <p:nvPr/>
        </p:nvSpPr>
        <p:spPr>
          <a:xfrm>
            <a:off x="83820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자연어</a:t>
            </a:r>
          </a:p>
        </p:txBody>
      </p:sp>
      <p:sp>
        <p:nvSpPr>
          <p:cNvPr id="14" name="">
            <a:extLst>
              <a:ext uri="{FF2B5EF4-FFF2-40B4-BE49-F238E27FC236}">
                <a16:creationId id="{72BA6EB8-957B-40E8-99D2-85E6E495901D}"/>
              </a:ext>
            </a:extLst>
          </p:cNvPr>
          <p:cNvSpPr>
            <a:spLocks noGrp="1"/>
          </p:cNvSpPr>
          <p:nvPr/>
        </p:nvSpPr>
        <p:spPr>
          <a:xfrm>
            <a:off x="2200275" y="3800475"/>
            <a:ext cx="285750" cy="247650"/>
          </a:xfrm>
          <a:prstGeom prst="rightArrow">
            <a:avLst/>
          </a:prstGeom>
          <a:solidFill>
            <a:srgbClr val="2357D8"/>
          </a:solidFill>
          <a:ln w="0">
            <a:noFill/>
            <a:prstDash val="solid"/>
          </a:ln>
        </p:spPr>
      </p:sp>
      <p:sp>
        <p:nvSpPr>
          <p:cNvPr id="15" name="">
            <a:extLst>
              <a:ext uri="{FF2B5EF4-FFF2-40B4-BE49-F238E27FC236}">
                <a16:creationId id="{8D4E9DD7-1DE3-4391-BC9B-E3708FD3BC7F}"/>
              </a:ext>
            </a:extLst>
          </p:cNvPr>
          <p:cNvSpPr>
            <a:spLocks noGrp="1"/>
          </p:cNvSpPr>
          <p:nvPr/>
        </p:nvSpPr>
        <p:spPr>
          <a:xfrm>
            <a:off x="2552700" y="3333750"/>
            <a:ext cx="1476375" cy="1200150"/>
          </a:xfrm>
          <a:prstGeom prst="roundRect">
            <a:avLst>
              <a:gd name="adj" fmla="val 12698"/>
            </a:avLst>
          </a:prstGeom>
          <a:solidFill>
            <a:srgbClr val="FFFFFF"/>
          </a:solidFill>
          <a:ln w="9525">
            <a:solidFill>
              <a:srgbClr val="D9E1EC"/>
            </a:solidFill>
            <a:prstDash val="solid"/>
          </a:ln>
        </p:spPr>
      </p:sp>
      <p:sp>
        <p:nvSpPr>
          <p:cNvPr id="16" name="">
            <a:extLst>
              <a:ext uri="{FF2B5EF4-FFF2-40B4-BE49-F238E27FC236}">
                <a16:creationId id="{702E7782-92B3-48E1-BEFC-56E9F374AF7A}"/>
              </a:ext>
            </a:extLst>
          </p:cNvPr>
          <p:cNvSpPr>
            <a:spLocks noGrp="1"/>
          </p:cNvSpPr>
          <p:nvPr/>
        </p:nvSpPr>
        <p:spPr>
          <a:xfrm>
            <a:off x="2552700" y="3333750"/>
            <a:ext cx="66675" cy="1200150"/>
          </a:xfrm>
          <a:prstGeom prst="rect">
            <a:avLst/>
          </a:prstGeom>
          <a:solidFill>
            <a:srgbClr val="2357D8"/>
          </a:solidFill>
          <a:ln w="0">
            <a:noFill/>
            <a:prstDash val="solid"/>
          </a:ln>
        </p:spPr>
      </p:sp>
      <p:sp>
        <p:nvSpPr>
          <p:cNvPr id="17" name="">
            <a:extLst>
              <a:ext uri="{FF2B5EF4-FFF2-40B4-BE49-F238E27FC236}">
                <a16:creationId id="{85D26269-6305-4B82-8C66-1D757BFB2DD7}"/>
              </a:ext>
            </a:extLst>
          </p:cNvPr>
          <p:cNvSpPr>
            <a:spLocks noGrp="1"/>
          </p:cNvSpPr>
          <p:nvPr/>
        </p:nvSpPr>
        <p:spPr>
          <a:xfrm>
            <a:off x="272415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Embedding</a:t>
            </a:r>
          </a:p>
        </p:txBody>
      </p:sp>
      <p:sp>
        <p:nvSpPr>
          <p:cNvPr id="18" name="">
            <a:extLst>
              <a:ext uri="{FF2B5EF4-FFF2-40B4-BE49-F238E27FC236}">
                <a16:creationId id="{999DEC0E-4BAE-4F72-8FAB-CEC14920915B}"/>
              </a:ext>
            </a:extLst>
          </p:cNvPr>
          <p:cNvSpPr>
            <a:spLocks noGrp="1"/>
          </p:cNvSpPr>
          <p:nvPr/>
        </p:nvSpPr>
        <p:spPr>
          <a:xfrm>
            <a:off x="272415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1536차원</a:t>
            </a:r>
          </a:p>
        </p:txBody>
      </p:sp>
      <p:sp>
        <p:nvSpPr>
          <p:cNvPr id="19" name="">
            <a:extLst>
              <a:ext uri="{FF2B5EF4-FFF2-40B4-BE49-F238E27FC236}">
                <a16:creationId id="{A3A826B6-7372-4ACB-80C1-A4D9CD94E6C4}"/>
              </a:ext>
            </a:extLst>
          </p:cNvPr>
          <p:cNvSpPr>
            <a:spLocks noGrp="1"/>
          </p:cNvSpPr>
          <p:nvPr/>
        </p:nvSpPr>
        <p:spPr>
          <a:xfrm>
            <a:off x="4086225" y="3800475"/>
            <a:ext cx="285750" cy="247650"/>
          </a:xfrm>
          <a:prstGeom prst="rightArrow">
            <a:avLst/>
          </a:prstGeom>
          <a:solidFill>
            <a:srgbClr val="2357D8"/>
          </a:solidFill>
          <a:ln w="0">
            <a:noFill/>
            <a:prstDash val="solid"/>
          </a:ln>
        </p:spPr>
      </p:sp>
      <p:sp>
        <p:nvSpPr>
          <p:cNvPr id="20" name="">
            <a:extLst>
              <a:ext uri="{FF2B5EF4-FFF2-40B4-BE49-F238E27FC236}">
                <a16:creationId id="{DB0F48D2-A9AD-47BF-8148-F62841682C59}"/>
              </a:ext>
            </a:extLst>
          </p:cNvPr>
          <p:cNvSpPr>
            <a:spLocks noGrp="1"/>
          </p:cNvSpPr>
          <p:nvPr/>
        </p:nvSpPr>
        <p:spPr>
          <a:xfrm>
            <a:off x="4438650" y="3333750"/>
            <a:ext cx="1476375" cy="1200150"/>
          </a:xfrm>
          <a:prstGeom prst="roundRect">
            <a:avLst>
              <a:gd name="adj" fmla="val 12698"/>
            </a:avLst>
          </a:prstGeom>
          <a:solidFill>
            <a:srgbClr val="FFFFFF"/>
          </a:solidFill>
          <a:ln w="9525">
            <a:solidFill>
              <a:srgbClr val="D9E1EC"/>
            </a:solidFill>
            <a:prstDash val="solid"/>
          </a:ln>
        </p:spPr>
      </p:sp>
      <p:sp>
        <p:nvSpPr>
          <p:cNvPr id="21" name="">
            <a:extLst>
              <a:ext uri="{FF2B5EF4-FFF2-40B4-BE49-F238E27FC236}">
                <a16:creationId id="{8808B679-C8F7-4A89-9137-F80059A5B795}"/>
              </a:ext>
            </a:extLst>
          </p:cNvPr>
          <p:cNvSpPr>
            <a:spLocks noGrp="1"/>
          </p:cNvSpPr>
          <p:nvPr/>
        </p:nvSpPr>
        <p:spPr>
          <a:xfrm>
            <a:off x="4438650" y="3333750"/>
            <a:ext cx="66675" cy="1200150"/>
          </a:xfrm>
          <a:prstGeom prst="rect">
            <a:avLst/>
          </a:prstGeom>
          <a:solidFill>
            <a:srgbClr val="008A91"/>
          </a:solidFill>
          <a:ln w="0">
            <a:noFill/>
            <a:prstDash val="solid"/>
          </a:ln>
        </p:spPr>
      </p:sp>
      <p:sp>
        <p:nvSpPr>
          <p:cNvPr id="22" name="">
            <a:extLst>
              <a:ext uri="{FF2B5EF4-FFF2-40B4-BE49-F238E27FC236}">
                <a16:creationId id="{770FC91B-6D09-406E-B62B-CD20F9FA4BE3}"/>
              </a:ext>
            </a:extLst>
          </p:cNvPr>
          <p:cNvSpPr>
            <a:spLocks noGrp="1"/>
          </p:cNvSpPr>
          <p:nvPr/>
        </p:nvSpPr>
        <p:spPr>
          <a:xfrm>
            <a:off x="461010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SQL 검색</a:t>
            </a:r>
          </a:p>
        </p:txBody>
      </p:sp>
      <p:sp>
        <p:nvSpPr>
          <p:cNvPr id="23" name="">
            <a:extLst>
              <a:ext uri="{FF2B5EF4-FFF2-40B4-BE49-F238E27FC236}">
                <a16:creationId id="{3E7C01E2-C336-42DD-8E90-76E69E458C64}"/>
              </a:ext>
            </a:extLst>
          </p:cNvPr>
          <p:cNvSpPr>
            <a:spLocks noGrp="1"/>
          </p:cNvSpPr>
          <p:nvPr/>
        </p:nvSpPr>
        <p:spPr>
          <a:xfrm>
            <a:off x="461010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`&lt;=&gt;` cosine</a:t>
            </a:r>
          </a:p>
        </p:txBody>
      </p:sp>
      <p:sp>
        <p:nvSpPr>
          <p:cNvPr id="24" name="">
            <a:extLst>
              <a:ext uri="{FF2B5EF4-FFF2-40B4-BE49-F238E27FC236}">
                <a16:creationId id="{6A04006C-A8C2-45C3-8A37-16D6DDDDBFE1}"/>
              </a:ext>
            </a:extLst>
          </p:cNvPr>
          <p:cNvSpPr>
            <a:spLocks noGrp="1"/>
          </p:cNvSpPr>
          <p:nvPr/>
        </p:nvSpPr>
        <p:spPr>
          <a:xfrm>
            <a:off x="5972175" y="3800475"/>
            <a:ext cx="285750" cy="247650"/>
          </a:xfrm>
          <a:prstGeom prst="rightArrow">
            <a:avLst/>
          </a:prstGeom>
          <a:solidFill>
            <a:srgbClr val="2357D8"/>
          </a:solidFill>
          <a:ln w="0">
            <a:noFill/>
            <a:prstDash val="solid"/>
          </a:ln>
        </p:spPr>
      </p:sp>
      <p:sp>
        <p:nvSpPr>
          <p:cNvPr id="25" name="">
            <a:extLst>
              <a:ext uri="{FF2B5EF4-FFF2-40B4-BE49-F238E27FC236}">
                <a16:creationId id="{11E43AC3-85C0-4C6B-81B9-981E7DA984A1}"/>
              </a:ext>
            </a:extLst>
          </p:cNvPr>
          <p:cNvSpPr>
            <a:spLocks noGrp="1"/>
          </p:cNvSpPr>
          <p:nvPr/>
        </p:nvSpPr>
        <p:spPr>
          <a:xfrm>
            <a:off x="6324600" y="3333750"/>
            <a:ext cx="1476375" cy="1200150"/>
          </a:xfrm>
          <a:prstGeom prst="roundRect">
            <a:avLst>
              <a:gd name="adj" fmla="val 12698"/>
            </a:avLst>
          </a:prstGeom>
          <a:solidFill>
            <a:srgbClr val="FFFFFF"/>
          </a:solidFill>
          <a:ln w="9525">
            <a:solidFill>
              <a:srgbClr val="D9E1EC"/>
            </a:solidFill>
            <a:prstDash val="solid"/>
          </a:ln>
        </p:spPr>
      </p:sp>
      <p:sp>
        <p:nvSpPr>
          <p:cNvPr id="26" name="">
            <a:extLst>
              <a:ext uri="{FF2B5EF4-FFF2-40B4-BE49-F238E27FC236}">
                <a16:creationId id="{3CB56940-8FBD-484D-93C4-31164FA00FB5}"/>
              </a:ext>
            </a:extLst>
          </p:cNvPr>
          <p:cNvSpPr>
            <a:spLocks noGrp="1"/>
          </p:cNvSpPr>
          <p:nvPr/>
        </p:nvSpPr>
        <p:spPr>
          <a:xfrm>
            <a:off x="6324600" y="3333750"/>
            <a:ext cx="66675" cy="1200150"/>
          </a:xfrm>
          <a:prstGeom prst="rect">
            <a:avLst/>
          </a:prstGeom>
          <a:solidFill>
            <a:srgbClr val="2357D8"/>
          </a:solidFill>
          <a:ln w="0">
            <a:noFill/>
            <a:prstDash val="solid"/>
          </a:ln>
        </p:spPr>
      </p:sp>
      <p:sp>
        <p:nvSpPr>
          <p:cNvPr id="27" name="">
            <a:extLst>
              <a:ext uri="{FF2B5EF4-FFF2-40B4-BE49-F238E27FC236}">
                <a16:creationId id="{F3093CAD-D6CD-470E-8341-98F0FF878546}"/>
              </a:ext>
            </a:extLst>
          </p:cNvPr>
          <p:cNvSpPr>
            <a:spLocks noGrp="1"/>
          </p:cNvSpPr>
          <p:nvPr/>
        </p:nvSpPr>
        <p:spPr>
          <a:xfrm>
            <a:off x="649605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검색 chunk</a:t>
            </a:r>
          </a:p>
        </p:txBody>
      </p:sp>
      <p:sp>
        <p:nvSpPr>
          <p:cNvPr id="28" name="">
            <a:extLst>
              <a:ext uri="{FF2B5EF4-FFF2-40B4-BE49-F238E27FC236}">
                <a16:creationId id="{74221C71-501E-469F-B419-C16FC4198545}"/>
              </a:ext>
            </a:extLst>
          </p:cNvPr>
          <p:cNvSpPr>
            <a:spLocks noGrp="1"/>
          </p:cNvSpPr>
          <p:nvPr/>
        </p:nvSpPr>
        <p:spPr>
          <a:xfrm>
            <a:off x="649605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Top-K</a:t>
            </a:r>
          </a:p>
        </p:txBody>
      </p:sp>
      <p:sp>
        <p:nvSpPr>
          <p:cNvPr id="29" name="">
            <a:extLst>
              <a:ext uri="{FF2B5EF4-FFF2-40B4-BE49-F238E27FC236}">
                <a16:creationId id="{E2CAAE08-548F-4C70-BEBA-563BBB255508}"/>
              </a:ext>
            </a:extLst>
          </p:cNvPr>
          <p:cNvSpPr>
            <a:spLocks noGrp="1"/>
          </p:cNvSpPr>
          <p:nvPr/>
        </p:nvSpPr>
        <p:spPr>
          <a:xfrm>
            <a:off x="7858125" y="3800475"/>
            <a:ext cx="285750" cy="247650"/>
          </a:xfrm>
          <a:prstGeom prst="rightArrow">
            <a:avLst/>
          </a:prstGeom>
          <a:solidFill>
            <a:srgbClr val="2357D8"/>
          </a:solidFill>
          <a:ln w="0">
            <a:noFill/>
            <a:prstDash val="solid"/>
          </a:ln>
        </p:spPr>
      </p:sp>
      <p:sp>
        <p:nvSpPr>
          <p:cNvPr id="30" name="">
            <a:extLst>
              <a:ext uri="{FF2B5EF4-FFF2-40B4-BE49-F238E27FC236}">
                <a16:creationId id="{21AAF541-B6F9-4C9C-8C2C-452AC108D027}"/>
              </a:ext>
            </a:extLst>
          </p:cNvPr>
          <p:cNvSpPr>
            <a:spLocks noGrp="1"/>
          </p:cNvSpPr>
          <p:nvPr/>
        </p:nvSpPr>
        <p:spPr>
          <a:xfrm>
            <a:off x="8210550" y="3333750"/>
            <a:ext cx="1476375" cy="1200150"/>
          </a:xfrm>
          <a:prstGeom prst="roundRect">
            <a:avLst>
              <a:gd name="adj" fmla="val 12698"/>
            </a:avLst>
          </a:prstGeom>
          <a:solidFill>
            <a:srgbClr val="FFFFFF"/>
          </a:solidFill>
          <a:ln w="9525">
            <a:solidFill>
              <a:srgbClr val="D9E1EC"/>
            </a:solidFill>
            <a:prstDash val="solid"/>
          </a:ln>
        </p:spPr>
      </p:sp>
      <p:sp>
        <p:nvSpPr>
          <p:cNvPr id="31" name="">
            <a:extLst>
              <a:ext uri="{FF2B5EF4-FFF2-40B4-BE49-F238E27FC236}">
                <a16:creationId id="{4D875D09-78BF-4A3F-88F1-97708928D714}"/>
              </a:ext>
            </a:extLst>
          </p:cNvPr>
          <p:cNvSpPr>
            <a:spLocks noGrp="1"/>
          </p:cNvSpPr>
          <p:nvPr/>
        </p:nvSpPr>
        <p:spPr>
          <a:xfrm>
            <a:off x="8210550" y="3333750"/>
            <a:ext cx="66675" cy="1200150"/>
          </a:xfrm>
          <a:prstGeom prst="rect">
            <a:avLst/>
          </a:prstGeom>
          <a:solidFill>
            <a:srgbClr val="2357D8"/>
          </a:solidFill>
          <a:ln w="0">
            <a:noFill/>
            <a:prstDash val="solid"/>
          </a:ln>
        </p:spPr>
      </p:sp>
      <p:sp>
        <p:nvSpPr>
          <p:cNvPr id="32" name="">
            <a:extLst>
              <a:ext uri="{FF2B5EF4-FFF2-40B4-BE49-F238E27FC236}">
                <a16:creationId id="{AA67CC2F-D677-4AB3-97CC-EBF4AA1C1282}"/>
              </a:ext>
            </a:extLst>
          </p:cNvPr>
          <p:cNvSpPr>
            <a:spLocks noGrp="1"/>
          </p:cNvSpPr>
          <p:nvPr/>
        </p:nvSpPr>
        <p:spPr>
          <a:xfrm>
            <a:off x="838200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ChatOpenAI</a:t>
            </a:r>
          </a:p>
        </p:txBody>
      </p:sp>
      <p:sp>
        <p:nvSpPr>
          <p:cNvPr id="33" name="">
            <a:extLst>
              <a:ext uri="{FF2B5EF4-FFF2-40B4-BE49-F238E27FC236}">
                <a16:creationId id="{A0BA0C20-15D4-4B25-87F1-43918CB5FBC4}"/>
              </a:ext>
            </a:extLst>
          </p:cNvPr>
          <p:cNvSpPr>
            <a:spLocks noGrp="1"/>
          </p:cNvSpPr>
          <p:nvPr/>
        </p:nvSpPr>
        <p:spPr>
          <a:xfrm>
            <a:off x="838200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근거 문맥</a:t>
            </a:r>
          </a:p>
        </p:txBody>
      </p:sp>
      <p:sp>
        <p:nvSpPr>
          <p:cNvPr id="34" name="">
            <a:extLst>
              <a:ext uri="{FF2B5EF4-FFF2-40B4-BE49-F238E27FC236}">
                <a16:creationId id="{7F745D15-0F41-4295-A74D-58D68F8DA064}"/>
              </a:ext>
            </a:extLst>
          </p:cNvPr>
          <p:cNvSpPr>
            <a:spLocks noGrp="1"/>
          </p:cNvSpPr>
          <p:nvPr/>
        </p:nvSpPr>
        <p:spPr>
          <a:xfrm>
            <a:off x="9744075" y="3800475"/>
            <a:ext cx="285750" cy="247650"/>
          </a:xfrm>
          <a:prstGeom prst="rightArrow">
            <a:avLst/>
          </a:prstGeom>
          <a:solidFill>
            <a:srgbClr val="2357D8"/>
          </a:solidFill>
          <a:ln w="0">
            <a:noFill/>
            <a:prstDash val="solid"/>
          </a:ln>
        </p:spPr>
      </p:sp>
      <p:sp>
        <p:nvSpPr>
          <p:cNvPr id="35" name="">
            <a:extLst>
              <a:ext uri="{FF2B5EF4-FFF2-40B4-BE49-F238E27FC236}">
                <a16:creationId id="{BFC8A2CA-7022-4D0F-A6E0-F9DE4387E30A}"/>
              </a:ext>
            </a:extLst>
          </p:cNvPr>
          <p:cNvSpPr>
            <a:spLocks noGrp="1"/>
          </p:cNvSpPr>
          <p:nvPr/>
        </p:nvSpPr>
        <p:spPr>
          <a:xfrm>
            <a:off x="10096500" y="3333750"/>
            <a:ext cx="1476375" cy="1200150"/>
          </a:xfrm>
          <a:prstGeom prst="roundRect">
            <a:avLst>
              <a:gd name="adj" fmla="val 12698"/>
            </a:avLst>
          </a:prstGeom>
          <a:solidFill>
            <a:srgbClr val="FFFFFF"/>
          </a:solidFill>
          <a:ln w="9525">
            <a:solidFill>
              <a:srgbClr val="D9E1EC"/>
            </a:solidFill>
            <a:prstDash val="solid"/>
          </a:ln>
        </p:spPr>
      </p:sp>
      <p:sp>
        <p:nvSpPr>
          <p:cNvPr id="36" name="">
            <a:extLst>
              <a:ext uri="{FF2B5EF4-FFF2-40B4-BE49-F238E27FC236}">
                <a16:creationId id="{F8656E6B-898C-46C1-AF78-8C320153E9EE}"/>
              </a:ext>
            </a:extLst>
          </p:cNvPr>
          <p:cNvSpPr>
            <a:spLocks noGrp="1"/>
          </p:cNvSpPr>
          <p:nvPr/>
        </p:nvSpPr>
        <p:spPr>
          <a:xfrm>
            <a:off x="10096500" y="3333750"/>
            <a:ext cx="66675" cy="1200150"/>
          </a:xfrm>
          <a:prstGeom prst="rect">
            <a:avLst/>
          </a:prstGeom>
          <a:solidFill>
            <a:srgbClr val="2357D8"/>
          </a:solidFill>
          <a:ln w="0">
            <a:noFill/>
            <a:prstDash val="solid"/>
          </a:ln>
        </p:spPr>
      </p:sp>
      <p:sp>
        <p:nvSpPr>
          <p:cNvPr id="37" name="">
            <a:extLst>
              <a:ext uri="{FF2B5EF4-FFF2-40B4-BE49-F238E27FC236}">
                <a16:creationId id="{072368EF-83DC-4E84-9C75-3F6466223830}"/>
              </a:ext>
            </a:extLst>
          </p:cNvPr>
          <p:cNvSpPr>
            <a:spLocks noGrp="1"/>
          </p:cNvSpPr>
          <p:nvPr/>
        </p:nvSpPr>
        <p:spPr>
          <a:xfrm>
            <a:off x="1026795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Streamlit</a:t>
            </a:r>
          </a:p>
        </p:txBody>
      </p:sp>
      <p:sp>
        <p:nvSpPr>
          <p:cNvPr id="38" name="">
            <a:extLst>
              <a:ext uri="{FF2B5EF4-FFF2-40B4-BE49-F238E27FC236}">
                <a16:creationId id="{E33BEFB9-BF3A-4DFC-99A9-95F04E7F696F}"/>
              </a:ext>
            </a:extLst>
          </p:cNvPr>
          <p:cNvSpPr>
            <a:spLocks noGrp="1"/>
          </p:cNvSpPr>
          <p:nvPr/>
        </p:nvSpPr>
        <p:spPr>
          <a:xfrm>
            <a:off x="1026795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답변·이미지</a:t>
            </a:r>
          </a:p>
        </p:txBody>
      </p:sp>
      <p:sp>
        <p:nvSpPr>
          <p:cNvPr id="39" name="">
            <a:extLst>
              <a:ext uri="{FF2B5EF4-FFF2-40B4-BE49-F238E27FC236}">
                <a16:creationId id="{9E5AE7BC-456A-40A2-BBBE-9C01EE2064E2}"/>
              </a:ext>
            </a:extLst>
          </p:cNvPr>
          <p:cNvSpPr>
            <a:spLocks noGrp="1"/>
          </p:cNvSpPr>
          <p:nvPr/>
        </p:nvSpPr>
        <p:spPr>
          <a:xfrm>
            <a:off x="685800" y="5238750"/>
            <a:ext cx="10668000" cy="30480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HNSW / vector_cosine_ops 인덱스 존재 · 실제 planner 사용 여부는 실행계획에 따라 다름</a:t>
            </a:r>
          </a:p>
        </p:txBody>
      </p:sp>
      <p:sp>
        <p:nvSpPr>
          <p:cNvPr id="40" name="">
            <a:extLst>
              <a:ext uri="{FF2B5EF4-FFF2-40B4-BE49-F238E27FC236}">
                <a16:creationId id="{0B951415-37D1-4388-A1A0-E26D93D4C859}"/>
              </a:ext>
            </a:extLst>
          </p:cNvPr>
          <p:cNvSpPr>
            <a:spLocks noGrp="1"/>
          </p:cNvSpPr>
          <p:nvPr/>
        </p:nvSpPr>
        <p:spPr>
          <a:xfrm>
            <a:off x="685800" y="5638800"/>
            <a:ext cx="4762500" cy="266700"/>
          </a:xfrm>
          <a:prstGeom prst="rect">
            <a:avLst/>
          </a:prstGeom>
          <a:noFill/>
          <a:ln w="0">
            <a:noFill/>
            <a:prstDash val="solid"/>
          </a:ln>
        </p:spPr>
        <p:txBody>
          <a:bodyPr wrap="square" lIns="0" tIns="0" rIns="0" bIns="0" anchor="t">
            <a:normAutofit fontScale="100000"/>
          </a:bodyPr>
          <a:lstStyle/>
          <a:p>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현재 chat model 설정: gpt-6-luna</a:t>
            </a:r>
          </a:p>
        </p:txBody>
      </p:sp>
    </p:spTree>
    <p:extLst>
      <p:ext uri="{BB962C8B-B14F-4D97-AF65-F5344CB8AC3E}">
        <p14:creationId val="1894248681"/>
      </p:ext>
    </p:extLst>
  </p:cSld>
</p:sld>
</file>

<file path=ppt/slides/slide5.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 name="">
            <a:extLst>
              <a:ext uri="{FF2B5EF4-FFF2-40B4-BE49-F238E27FC236}">
                <a16:creationId id="{516739E4-4923-4D40-AADE-D17002A853EB}"/>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F7F1D7EE-F296-46C7-A580-FF00967A642D}"/>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M6 공식 Retrieval baseline</a:t>
            </a:r>
          </a:p>
        </p:txBody>
      </p:sp>
      <p:sp>
        <p:nvSpPr>
          <p:cNvPr id="3" name="">
            <a:extLst>
              <a:ext uri="{FF2B5EF4-FFF2-40B4-BE49-F238E27FC236}">
                <a16:creationId id="{280B1A5E-69D1-4633-962B-5B5A4D136E3F}"/>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216E7D7B-F74C-4C0B-8D26-40B24938569F}"/>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A08C0FA7-6C97-4C29-94AE-115333212146}"/>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05</a:t>
            </a:r>
          </a:p>
        </p:txBody>
      </p:sp>
      <p:sp>
        <p:nvSpPr>
          <p:cNvPr id="6" name="">
            <a:extLst>
              <a:ext uri="{FF2B5EF4-FFF2-40B4-BE49-F238E27FC236}">
                <a16:creationId id="{CE76AB8C-4C80-4428-A862-E5D2C79B3C1B}"/>
              </a:ext>
            </a:extLst>
          </p:cNvPr>
          <p:cNvSpPr>
            <a:spLocks noGrp="1"/>
          </p:cNvSpPr>
          <p:nvPr/>
        </p:nvSpPr>
        <p:spPr>
          <a:xfrm>
            <a:off x="685800" y="1552575"/>
            <a:ext cx="4095750" cy="285750"/>
          </a:xfrm>
          <a:prstGeom prst="rect">
            <a:avLst/>
          </a:prstGeom>
          <a:noFill/>
          <a:ln w="0">
            <a:noFill/>
            <a:prstDash val="solid"/>
          </a:ln>
        </p:spPr>
        <p:txBody>
          <a:bodyPr wrap="square" lIns="0" tIns="0" rIns="0" bIns="0" anchor="t">
            <a:normAutofit fontScale="100000"/>
          </a:bodyPr>
          <a:lstStyle/>
          <a:p>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공식 Retrieval-only</a:t>
            </a:r>
          </a:p>
        </p:txBody>
      </p:sp>
      <p:sp>
        <p:nvSpPr>
          <p:cNvPr id="7" name="">
            <a:extLst>
              <a:ext uri="{FF2B5EF4-FFF2-40B4-BE49-F238E27FC236}">
                <a16:creationId id="{53C32EF9-C38F-493C-86F9-F5CDF416A8B5}"/>
              </a:ext>
            </a:extLst>
          </p:cNvPr>
          <p:cNvSpPr>
            <a:spLocks noGrp="1"/>
          </p:cNvSpPr>
          <p:nvPr/>
        </p:nvSpPr>
        <p:spPr>
          <a:xfrm>
            <a:off x="685800" y="2047875"/>
            <a:ext cx="4953000" cy="1123950"/>
          </a:xfrm>
          <a:prstGeom prst="rect">
            <a:avLst/>
          </a:prstGeom>
          <a:noFill/>
          <a:ln w="0">
            <a:noFill/>
            <a:prstDash val="solid"/>
          </a:ln>
        </p:spPr>
        <p:txBody>
          <a:bodyPr wrap="square" lIns="0" tIns="0" rIns="0" bIns="0" anchor="t">
            <a:normAutofit fontScale="98333"/>
          </a:bodyPr>
          <a:lstStyle/>
          <a:p>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81.8%</a:t>
            </a:r>
          </a:p>
        </p:txBody>
      </p:sp>
      <p:sp>
        <p:nvSpPr>
          <p:cNvPr id="8" name="">
            <a:extLst>
              <a:ext uri="{FF2B5EF4-FFF2-40B4-BE49-F238E27FC236}">
                <a16:creationId id="{272272B2-404F-452B-A5C1-1BD2E1DE9D23}"/>
              </a:ext>
            </a:extLst>
          </p:cNvPr>
          <p:cNvSpPr>
            <a:spLocks noGrp="1"/>
          </p:cNvSpPr>
          <p:nvPr/>
        </p:nvSpPr>
        <p:spPr>
          <a:xfrm>
            <a:off x="742950" y="3238500"/>
            <a:ext cx="3714750" cy="361950"/>
          </a:xfrm>
          <a:prstGeom prst="rect">
            <a:avLst/>
          </a:prstGeom>
          <a:noFill/>
          <a:ln w="0">
            <a:noFill/>
            <a:prstDash val="solid"/>
          </a:ln>
        </p:spPr>
        <p:txBody>
          <a:bodyPr wrap="square" lIns="0" tIns="0" rIns="0" bIns="0" anchor="t">
            <a:normAutofit fontScale="100000"/>
          </a:bodyPr>
          <a:lstStyle/>
          <a:p>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Hit@5   9 / 11</a:t>
            </a:r>
          </a:p>
        </p:txBody>
      </p:sp>
      <p:sp>
        <p:nvSpPr>
          <p:cNvPr id="9" name="">
            <a:extLst>
              <a:ext uri="{FF2B5EF4-FFF2-40B4-BE49-F238E27FC236}">
                <a16:creationId id="{B960CA79-48F2-47B8-BB2C-7C4D7C86F26B}"/>
              </a:ext>
            </a:extLst>
          </p:cNvPr>
          <p:cNvSpPr>
            <a:spLocks noGrp="1"/>
          </p:cNvSpPr>
          <p:nvPr/>
        </p:nvSpPr>
        <p:spPr>
          <a:xfrm>
            <a:off x="6096000" y="1733550"/>
            <a:ext cx="19050" cy="3714750"/>
          </a:xfrm>
          <a:prstGeom prst="rect">
            <a:avLst/>
          </a:prstGeom>
          <a:solidFill>
            <a:srgbClr val="D9E1EC"/>
          </a:solidFill>
          <a:ln w="0">
            <a:noFill/>
            <a:prstDash val="solid"/>
          </a:ln>
        </p:spPr>
      </p:sp>
      <p:sp>
        <p:nvSpPr>
          <p:cNvPr id="10" name="">
            <a:extLst>
              <a:ext uri="{FF2B5EF4-FFF2-40B4-BE49-F238E27FC236}">
                <a16:creationId id="{4364758B-B97B-41C6-9D40-557336692AAB}"/>
              </a:ext>
            </a:extLst>
          </p:cNvPr>
          <p:cNvSpPr>
            <a:spLocks noGrp="1"/>
          </p:cNvSpPr>
          <p:nvPr/>
        </p:nvSpPr>
        <p:spPr>
          <a:xfrm>
            <a:off x="6686550" y="2209800"/>
            <a:ext cx="4476750" cy="838200"/>
          </a:xfrm>
          <a:prstGeom prst="rect">
            <a:avLst/>
          </a:prstGeom>
          <a:noFill/>
          <a:ln w="0">
            <a:noFill/>
            <a:prstDash val="solid"/>
          </a:ln>
        </p:spPr>
        <p:txBody>
          <a:bodyPr wrap="square" lIns="0" tIns="0" rIns="0" bIns="0" anchor="t">
            <a:normAutofit fontScale="94017"/>
          </a:bodyPr>
          <a:lstStyle/>
          <a:p>
            <a:pPr algn="l">
              <a:defRPr sz="5850" b="1">
                <a:solidFill>
                  <a:srgbClr val="008A91"/>
                </a:solidFill>
                <a:latin typeface="Noto Sans KR"/>
                <a:ea typeface="Noto Sans KR"/>
                <a:cs typeface="Noto Sans KR"/>
              </a:defRPr>
            </a:pPr>
            <a:r>
              <a:rPr sz="5850" b="1">
                <a:solidFill>
                  <a:srgbClr val="008A91"/>
                </a:solidFill>
                <a:latin typeface="Noto Sans KR"/>
                <a:ea typeface="Noto Sans KR"/>
                <a:cs typeface="Noto Sans KR"/>
              </a:rPr>
              <a:t>0.5333</a:t>
            </a:r>
          </a:p>
        </p:txBody>
      </p:sp>
      <p:sp>
        <p:nvSpPr>
          <p:cNvPr id="11" name="">
            <a:extLst>
              <a:ext uri="{FF2B5EF4-FFF2-40B4-BE49-F238E27FC236}">
                <a16:creationId id="{71D778AA-A533-4AA4-A90F-A1FC2AA584ED}"/>
              </a:ext>
            </a:extLst>
          </p:cNvPr>
          <p:cNvSpPr>
            <a:spLocks noGrp="1"/>
          </p:cNvSpPr>
          <p:nvPr/>
        </p:nvSpPr>
        <p:spPr>
          <a:xfrm>
            <a:off x="6762750" y="3162300"/>
            <a:ext cx="3619500" cy="342900"/>
          </a:xfrm>
          <a:prstGeom prst="rect">
            <a:avLst/>
          </a:prstGeom>
          <a:noFill/>
          <a:ln w="0">
            <a:noFill/>
            <a:prstDash val="solid"/>
          </a:ln>
        </p:spPr>
        <p:txBody>
          <a:bodyPr wrap="square" lIns="0" tIns="0" rIns="0" bIns="0" anchor="t">
            <a:normAutofit fontScale="100000"/>
          </a:bodyPr>
          <a:lstStyle/>
          <a:p>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MRR@5</a:t>
            </a:r>
          </a:p>
        </p:txBody>
      </p:sp>
      <p:sp>
        <p:nvSpPr>
          <p:cNvPr id="12" name="">
            <a:extLst>
              <a:ext uri="{FF2B5EF4-FFF2-40B4-BE49-F238E27FC236}">
                <a16:creationId id="{F5B89352-8E81-45ED-9C21-3521CC94C9D1}"/>
              </a:ext>
            </a:extLst>
          </p:cNvPr>
          <p:cNvSpPr>
            <a:spLocks noGrp="1"/>
          </p:cNvSpPr>
          <p:nvPr/>
        </p:nvSpPr>
        <p:spPr>
          <a:xfrm>
            <a:off x="685800" y="4524375"/>
            <a:ext cx="4476750" cy="34290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11문항 · 독립 query 검색</a:t>
            </a:r>
          </a:p>
        </p:txBody>
      </p:sp>
      <p:sp>
        <p:nvSpPr>
          <p:cNvPr id="13" name="">
            <a:extLst>
              <a:ext uri="{FF2B5EF4-FFF2-40B4-BE49-F238E27FC236}">
                <a16:creationId id="{ABED0CA1-C71F-452C-BAC0-54B30EBA068C}"/>
              </a:ext>
            </a:extLst>
          </p:cNvPr>
          <p:cNvSpPr>
            <a:spLocks noGrp="1"/>
          </p:cNvSpPr>
          <p:nvPr/>
        </p:nvSpPr>
        <p:spPr>
          <a:xfrm>
            <a:off x="685800" y="5086350"/>
            <a:ext cx="10287000" cy="381000"/>
          </a:xfrm>
          <a:prstGeom prst="rect">
            <a:avLst/>
          </a:prstGeom>
          <a:noFill/>
          <a:ln w="0">
            <a:noFill/>
            <a:prstDash val="solid"/>
          </a:ln>
        </p:spPr>
        <p:txBody>
          <a:bodyPr wrap="square" lIns="0" tIns="0" rIns="0" bIns="0" anchor="t">
            <a:normAutofit fontScale="100000"/>
          </a:bodyPr>
          <a:lstStyle/>
          <a:p>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Top-5 밖: M6-05 (rank 6) · M6-11 (rank 10)</a:t>
            </a:r>
          </a:p>
        </p:txBody>
      </p:sp>
      <p:sp>
        <p:nvSpPr>
          <p:cNvPr id="14" name="">
            <a:extLst>
              <a:ext uri="{FF2B5EF4-FFF2-40B4-BE49-F238E27FC236}">
                <a16:creationId id="{98C93DEC-8C2E-4B8F-9FDC-F48B75B42FEE}"/>
              </a:ext>
            </a:extLst>
          </p:cNvPr>
          <p:cNvSpPr>
            <a:spLocks noGrp="1"/>
          </p:cNvSpPr>
          <p:nvPr/>
        </p:nvSpPr>
        <p:spPr>
          <a:xfrm>
            <a:off x="685800" y="5695950"/>
            <a:ext cx="8858250" cy="28575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브라우저 E2E 관찰 점수와 혼합하지 않음</a:t>
            </a:r>
          </a:p>
        </p:txBody>
      </p:sp>
    </p:spTree>
    <p:extLst>
      <p:ext uri="{BB962C8B-B14F-4D97-AF65-F5344CB8AC3E}">
        <p14:creationId val="511292023"/>
      </p:ext>
    </p:extLst>
  </p:cSld>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a16:creationId id="{B145F9C3-8FBA-4AF7-8A5E-9EC00C881E0D}"/>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D88AEE09-8B27-4667-8C9A-7CB4F192765A}"/>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답변과 이미지 관련성은 별도 품질 축</a:t>
            </a:r>
          </a:p>
        </p:txBody>
      </p:sp>
      <p:sp>
        <p:nvSpPr>
          <p:cNvPr id="3" name="">
            <a:extLst>
              <a:ext uri="{FF2B5EF4-FFF2-40B4-BE49-F238E27FC236}">
                <a16:creationId id="{C53FE04C-2F98-4276-B1A7-3BEF9F3F2279}"/>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5BE352D5-9E7B-4A0C-8F58-8761CB8A89C3}"/>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0E402A1B-9B0F-4CD2-9CDB-D65B605D19E7}"/>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07</a:t>
            </a:r>
          </a:p>
        </p:txBody>
      </p:sp>
      <p:sp>
        <p:nvSpPr>
          <p:cNvPr id="6" name="">
            <a:extLst>
              <a:ext uri="{FF2B5EF4-FFF2-40B4-BE49-F238E27FC236}">
                <a16:creationId id="{11C65DA3-5A4F-4559-95E3-E3BC8D980322}"/>
              </a:ext>
            </a:extLst>
          </p:cNvPr>
          <p:cNvSpPr>
            <a:spLocks noGrp="1"/>
          </p:cNvSpPr>
          <p:nvPr/>
        </p:nvSpPr>
        <p:spPr>
          <a:xfrm>
            <a:off x="685800" y="1524000"/>
            <a:ext cx="5238750" cy="285750"/>
          </a:xfrm>
          <a:prstGeom prst="rect">
            <a:avLst/>
          </a:prstGeom>
          <a:noFill/>
          <a:ln w="0">
            <a:noFill/>
            <a:prstDash val="solid"/>
          </a:ln>
        </p:spPr>
        <p:txBody>
          <a:bodyPr wrap="square" lIns="0" tIns="0" rIns="0" bIns="0" anchor="t">
            <a:normAutofit fontScale="100000"/>
          </a:bodyPr>
          <a:lstStyle/>
          <a:p>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Streamlit UI 관찰</a:t>
            </a:r>
          </a:p>
        </p:txBody>
      </p:sp>
      <p:sp>
        <p:nvSpPr>
          <p:cNvPr id="7" name="">
            <a:extLst>
              <a:ext uri="{FF2B5EF4-FFF2-40B4-BE49-F238E27FC236}">
                <a16:creationId id="{D8C08D26-1BF4-499B-9840-5BFEAECA205C}"/>
              </a:ext>
            </a:extLst>
          </p:cNvPr>
          <p:cNvSpPr>
            <a:spLocks noGrp="1"/>
          </p:cNvSpPr>
          <p:nvPr/>
        </p:nvSpPr>
        <p:spPr>
          <a:xfrm>
            <a:off x="685800" y="2095500"/>
            <a:ext cx="3381375" cy="876300"/>
          </a:xfrm>
          <a:prstGeom prst="rect">
            <a:avLst/>
          </a:prstGeom>
          <a:noFill/>
          <a:ln w="0">
            <a:noFill/>
            <a:prstDash val="solid"/>
          </a:ln>
        </p:spPr>
        <p:txBody>
          <a:bodyPr wrap="square" lIns="0" tIns="0" rIns="0" bIns="0" anchor="t">
            <a:normAutofit fontScale="100000"/>
          </a:bodyPr>
          <a:lstStyle/>
          <a:p>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와이퍼 블레이드</a:t>
            </a:r>
          </a:p>
          <a:p>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교체 질문</a:t>
            </a:r>
          </a:p>
        </p:txBody>
      </p:sp>
      <p:sp>
        <p:nvSpPr>
          <p:cNvPr id="8" name="">
            <a:extLst>
              <a:ext uri="{FF2B5EF4-FFF2-40B4-BE49-F238E27FC236}">
                <a16:creationId id="{BF0D44BC-0CD2-4067-ABEA-31C4316B10F2}"/>
              </a:ext>
            </a:extLst>
          </p:cNvPr>
          <p:cNvSpPr>
            <a:spLocks noGrp="1"/>
          </p:cNvSpPr>
          <p:nvPr/>
        </p:nvSpPr>
        <p:spPr>
          <a:xfrm>
            <a:off x="685800" y="3152775"/>
            <a:ext cx="4667250" cy="361950"/>
          </a:xfrm>
          <a:prstGeom prst="rect">
            <a:avLst/>
          </a:prstGeom>
          <a:noFill/>
          <a:ln w="0">
            <a:noFill/>
            <a:prstDash val="solid"/>
          </a:ln>
        </p:spPr>
        <p:txBody>
          <a:bodyPr wrap="square" lIns="0" tIns="0" rIns="0" bIns="0" anchor="t">
            <a:normAutofit fontScale="100000"/>
          </a:bodyPr>
          <a:lstStyle/>
          <a:p>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타이어 교체 이미지가 함께 노출</a:t>
            </a:r>
          </a:p>
        </p:txBody>
      </p:sp>
      <p:sp>
        <p:nvSpPr>
          <p:cNvPr id="9" name="">
            <a:extLst>
              <a:ext uri="{FF2B5EF4-FFF2-40B4-BE49-F238E27FC236}">
                <a16:creationId id="{B04EEBB8-980E-4BF4-836C-BED81D5FE834}"/>
              </a:ext>
            </a:extLst>
          </p:cNvPr>
          <p:cNvSpPr>
            <a:spLocks noGrp="1"/>
          </p:cNvSpPr>
          <p:nvPr/>
        </p:nvSpPr>
        <p:spPr>
          <a:xfrm>
            <a:off x="685800" y="3829050"/>
            <a:ext cx="4667250" cy="19050"/>
          </a:xfrm>
          <a:prstGeom prst="rect">
            <a:avLst/>
          </a:prstGeom>
          <a:solidFill>
            <a:srgbClr val="D9E1EC"/>
          </a:solidFill>
          <a:ln w="0">
            <a:noFill/>
            <a:prstDash val="solid"/>
          </a:ln>
        </p:spPr>
      </p:sp>
      <p:sp>
        <p:nvSpPr>
          <p:cNvPr id="10" name="">
            <a:extLst>
              <a:ext uri="{FF2B5EF4-FFF2-40B4-BE49-F238E27FC236}">
                <a16:creationId id="{E8BA6939-8B9C-4F33-885A-11A2B536F09B}"/>
              </a:ext>
            </a:extLst>
          </p:cNvPr>
          <p:cNvSpPr>
            <a:spLocks noGrp="1"/>
          </p:cNvSpPr>
          <p:nvPr/>
        </p:nvSpPr>
        <p:spPr>
          <a:xfrm>
            <a:off x="685800" y="4133850"/>
            <a:ext cx="3381375" cy="781050"/>
          </a:xfrm>
          <a:prstGeom prst="rect">
            <a:avLst/>
          </a:prstGeom>
          <a:noFill/>
          <a:ln w="0">
            <a:noFill/>
            <a:prstDash val="solid"/>
          </a:ln>
        </p:spPr>
        <p:txBody>
          <a:bodyPr wrap="square" lIns="0" tIns="0" rIns="0" bIns="0" anchor="t">
            <a:normAutofit fontScale="92342"/>
          </a:bodyPr>
          <a:lstStyle/>
          <a:p>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비상 경고등</a:t>
            </a:r>
          </a:p>
          <a:p>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기능 질문</a:t>
            </a:r>
          </a:p>
        </p:txBody>
      </p:sp>
      <p:sp>
        <p:nvSpPr>
          <p:cNvPr id="11" name="">
            <a:extLst>
              <a:ext uri="{FF2B5EF4-FFF2-40B4-BE49-F238E27FC236}">
                <a16:creationId id="{B50C86F1-691B-4F28-A018-BB0BC715E146}"/>
              </a:ext>
            </a:extLst>
          </p:cNvPr>
          <p:cNvSpPr>
            <a:spLocks noGrp="1"/>
          </p:cNvSpPr>
          <p:nvPr/>
        </p:nvSpPr>
        <p:spPr>
          <a:xfrm>
            <a:off x="685800" y="5086350"/>
            <a:ext cx="4476750" cy="361950"/>
          </a:xfrm>
          <a:prstGeom prst="rect">
            <a:avLst/>
          </a:prstGeom>
          <a:noFill/>
          <a:ln w="0">
            <a:noFill/>
            <a:prstDash val="solid"/>
          </a:ln>
        </p:spPr>
        <p:txBody>
          <a:bodyPr wrap="square" lIns="0" tIns="0" rIns="0" bIns="0" anchor="t">
            <a:normAutofit fontScale="100000"/>
          </a:bodyPr>
          <a:lstStyle/>
          <a:p>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주차 경고 이미지도 섞임</a:t>
            </a:r>
          </a:p>
        </p:txBody>
      </p:sp>
      <p:pic>
        <p:nvPicPr>
          <p:cNvPr id="25" name=""/>
          <p:cNvPicPr>
            <a:picLocks noChangeAspect="1"/>
          </p:cNvPicPr>
          <p:nvPr/>
        </p:nvPicPr>
        <p:blipFill>
          <a:blip r:embed="R7a1138afeed041a5"/>
          <a:stretch/>
        </p:blipFill>
        <p:spPr>
          <a:xfrm>
            <a:off x="7334250" y="1471285"/>
            <a:ext cx="3333750" cy="4677429"/>
          </a:xfrm>
          <a:prstGeom prst="rect">
            <a:avLst/>
          </a:prstGeom>
        </p:spPr>
      </p:pic>
      <p:sp>
        <p:nvSpPr>
          <p:cNvPr id="13" name="">
            <a:extLst>
              <a:ext uri="{FF2B5EF4-FFF2-40B4-BE49-F238E27FC236}">
                <a16:creationId id="{C6F59C1A-DE34-4278-B1AB-4BD43CC85A79}"/>
              </a:ext>
            </a:extLst>
          </p:cNvPr>
          <p:cNvSpPr>
            <a:spLocks noGrp="1"/>
          </p:cNvSpPr>
          <p:nvPr/>
        </p:nvSpPr>
        <p:spPr>
          <a:xfrm>
            <a:off x="7219950" y="6153150"/>
            <a:ext cx="3619500" cy="209550"/>
          </a:xfrm>
          <a:prstGeom prst="rect">
            <a:avLst/>
          </a:prstGeom>
          <a:noFill/>
          <a:ln w="0">
            <a:noFill/>
            <a:prstDash val="solid"/>
          </a:ln>
        </p:spPr>
        <p:txBody>
          <a:bodyPr wrap="square" lIns="0" tIns="0" rIns="0" bIns="0" anchor="t">
            <a:normAutofit fontScale="100000"/>
          </a:bodyPr>
          <a:lstStyle/>
          <a:p>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원본 p.236 · USB 단자와 2개 위치 그림</a:t>
            </a:r>
          </a:p>
        </p:txBody>
      </p:sp>
    </p:spTree>
    <p:extLst>
      <p:ext uri="{BB962C8B-B14F-4D97-AF65-F5344CB8AC3E}">
        <p14:creationId val="880741557"/>
      </p:ext>
    </p:extLst>
  </p:cSld>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2" name="">
            <a:extLst>
              <a:ext uri="{FF2B5EF4-FFF2-40B4-BE49-F238E27FC236}">
                <a16:creationId id="{7A4CA93D-1E85-4E2B-9E2A-43EFAC471467}"/>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64C0923F-4F36-4620-AF21-350B44A79216}"/>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모델 교체만으로는 image_desc 품질이 크게 나아지지 않았다</a:t>
            </a:r>
          </a:p>
        </p:txBody>
      </p:sp>
      <p:sp>
        <p:nvSpPr>
          <p:cNvPr id="3" name="">
            <a:extLst>
              <a:ext uri="{FF2B5EF4-FFF2-40B4-BE49-F238E27FC236}">
                <a16:creationId id="{50E5B173-A753-4923-B020-AB61CCD429A5}"/>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2E103CE4-D7DA-4E6D-B40E-AC0E488CCBDE}"/>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AD259090-9CD5-4F23-B9FC-E1F537BEE781}"/>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08</a:t>
            </a:r>
          </a:p>
        </p:txBody>
      </p:sp>
      <p:sp>
        <p:nvSpPr>
          <p:cNvPr id="6" name="">
            <a:extLst>
              <a:ext uri="{FF2B5EF4-FFF2-40B4-BE49-F238E27FC236}">
                <a16:creationId id="{B7DC355E-1E95-49FE-97C4-D0BAAE7C7C33}"/>
              </a:ext>
            </a:extLst>
          </p:cNvPr>
          <p:cNvSpPr>
            <a:spLocks noGrp="1"/>
          </p:cNvSpPr>
          <p:nvPr/>
        </p:nvSpPr>
        <p:spPr>
          <a:xfrm>
            <a:off x="685800" y="1600200"/>
            <a:ext cx="2667000" cy="323850"/>
          </a:xfrm>
          <a:prstGeom prst="rect">
            <a:avLst/>
          </a:prstGeom>
          <a:noFill/>
          <a:ln w="0">
            <a:noFill/>
            <a:prstDash val="solid"/>
          </a:ln>
        </p:spPr>
        <p:txBody>
          <a:bodyPr wrap="square" lIns="0" tIns="0" rIns="0" bIns="0" anchor="t">
            <a:normAutofit fontScale="100000"/>
          </a:bodyPr>
          <a:lstStyle/>
          <a:p>
            <a:pPr algn="l">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초기 deterministic rule</a:t>
            </a:r>
          </a:p>
        </p:txBody>
      </p:sp>
      <p:sp>
        <p:nvSpPr>
          <p:cNvPr id="7" name="">
            <a:extLst>
              <a:ext uri="{FF2B5EF4-FFF2-40B4-BE49-F238E27FC236}">
                <a16:creationId id="{1642E524-B9C4-4DB1-8161-4A2EAD2C2DE3}"/>
              </a:ext>
            </a:extLst>
          </p:cNvPr>
          <p:cNvSpPr>
            <a:spLocks noGrp="1"/>
          </p:cNvSpPr>
          <p:nvPr/>
        </p:nvSpPr>
        <p:spPr>
          <a:xfrm>
            <a:off x="685800" y="2009775"/>
            <a:ext cx="2857500" cy="647700"/>
          </a:xfrm>
          <a:prstGeom prst="rect">
            <a:avLst/>
          </a:prstGeom>
          <a:noFill/>
          <a:ln w="0">
            <a:noFill/>
            <a:prstDash val="solid"/>
          </a:ln>
        </p:spPr>
        <p:txBody>
          <a:bodyPr wrap="square" lIns="0" tIns="0" rIns="0" bIns="0" anchor="t">
            <a:normAutofit fontScale="100000"/>
          </a:bodyPr>
          <a:lstStyle/>
          <a:p>
            <a:pPr algn="l">
              <a:defRPr sz="3900" b="1">
                <a:solidFill>
                  <a:srgbClr val="B94D45"/>
                </a:solidFill>
                <a:latin typeface="Noto Sans KR"/>
                <a:ea typeface="Noto Sans KR"/>
                <a:cs typeface="Noto Sans KR"/>
              </a:defRPr>
            </a:pPr>
            <a:r>
              <a:rPr sz="3900" b="1">
                <a:solidFill>
                  <a:srgbClr val="B94D45"/>
                </a:solidFill>
                <a:latin typeface="Noto Sans KR"/>
                <a:ea typeface="Noto Sans KR"/>
                <a:cs typeface="Noto Sans KR"/>
              </a:rPr>
              <a:t>9 / 955</a:t>
            </a:r>
          </a:p>
        </p:txBody>
      </p:sp>
      <p:sp>
        <p:nvSpPr>
          <p:cNvPr id="8" name="">
            <a:extLst>
              <a:ext uri="{FF2B5EF4-FFF2-40B4-BE49-F238E27FC236}">
                <a16:creationId id="{C7F80A6F-F3DB-4E8D-BCAF-76AF8FBCA7C3}"/>
              </a:ext>
            </a:extLst>
          </p:cNvPr>
          <p:cNvSpPr>
            <a:spLocks noGrp="1"/>
          </p:cNvSpPr>
          <p:nvPr/>
        </p:nvSpPr>
        <p:spPr>
          <a:xfrm>
            <a:off x="685800" y="2705100"/>
            <a:ext cx="2857500" cy="304800"/>
          </a:xfrm>
          <a:prstGeom prst="rect">
            <a:avLst/>
          </a:prstGeom>
          <a:noFill/>
          <a:ln w="0">
            <a:noFill/>
            <a:prstDash val="solid"/>
          </a:ln>
        </p:spPr>
        <p:txBody>
          <a:bodyPr wrap="square" lIns="0" tIns="0" rIns="0" bIns="0" anchor="t">
            <a:normAutofit fontScale="100000"/>
          </a:bodyPr>
          <a:lstStyle/>
          <a:p>
            <a:pPr algn="l">
              <a:defRPr sz="1650" b="1">
                <a:solidFill>
                  <a:srgbClr val="12233F"/>
                </a:solidFill>
                <a:latin typeface="Noto Sans KR"/>
                <a:ea typeface="Noto Sans KR"/>
                <a:cs typeface="Noto Sans KR"/>
              </a:defRPr>
            </a:pPr>
            <a:r>
              <a:rPr sz="1650" b="1">
                <a:solidFill>
                  <a:srgbClr val="12233F"/>
                </a:solidFill>
                <a:latin typeface="Noto Sans KR"/>
                <a:ea typeface="Noto Sans KR"/>
                <a:cs typeface="Noto Sans KR"/>
              </a:rPr>
              <a:t>coverage 0.94%</a:t>
            </a:r>
          </a:p>
        </p:txBody>
      </p:sp>
      <p:sp>
        <p:nvSpPr>
          <p:cNvPr id="9" name="">
            <a:extLst>
              <a:ext uri="{FF2B5EF4-FFF2-40B4-BE49-F238E27FC236}">
                <a16:creationId id="{9345873E-4434-4FB6-8ABB-BD6AAB27543D}"/>
              </a:ext>
            </a:extLst>
          </p:cNvPr>
          <p:cNvSpPr>
            <a:spLocks noGrp="1"/>
          </p:cNvSpPr>
          <p:nvPr/>
        </p:nvSpPr>
        <p:spPr>
          <a:xfrm>
            <a:off x="3943350" y="1619250"/>
            <a:ext cx="19050" cy="3714750"/>
          </a:xfrm>
          <a:prstGeom prst="rect">
            <a:avLst/>
          </a:prstGeom>
          <a:solidFill>
            <a:srgbClr val="D9E1EC"/>
          </a:solidFill>
          <a:ln w="0">
            <a:noFill/>
            <a:prstDash val="solid"/>
          </a:ln>
        </p:spPr>
      </p:sp>
      <p:sp>
        <p:nvSpPr>
          <p:cNvPr id="10" name="">
            <a:extLst>
              <a:ext uri="{FF2B5EF4-FFF2-40B4-BE49-F238E27FC236}">
                <a16:creationId id="{C84F2F50-FB3B-4251-B4A6-7C7AEEC53384}"/>
              </a:ext>
            </a:extLst>
          </p:cNvPr>
          <p:cNvSpPr>
            <a:spLocks noGrp="1"/>
          </p:cNvSpPr>
          <p:nvPr/>
        </p:nvSpPr>
        <p:spPr>
          <a:xfrm>
            <a:off x="4400550" y="1600200"/>
            <a:ext cx="6667500" cy="323850"/>
          </a:xfrm>
          <a:prstGeom prst="rect">
            <a:avLst/>
          </a:prstGeom>
          <a:noFill/>
          <a:ln w="0">
            <a:noFill/>
            <a:prstDash val="solid"/>
          </a:ln>
        </p:spPr>
        <p:txBody>
          <a:bodyPr wrap="square" lIns="0" tIns="0" rIns="0" bIns="0" anchor="t">
            <a:normAutofit fontScale="100000"/>
          </a:bodyPr>
          <a:lstStyle/>
          <a:p>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텍스트 LLM 비교 · 100건 표본</a:t>
            </a:r>
          </a:p>
        </p:txBody>
      </p:sp>
      <p:sp>
        <p:nvSpPr>
          <p:cNvPr id="11" name="">
            <a:extLst>
              <a:ext uri="{FF2B5EF4-FFF2-40B4-BE49-F238E27FC236}">
                <a16:creationId id="{7BCC184F-7FFA-4C67-8368-0735AFBFD4F1}"/>
              </a:ext>
            </a:extLst>
          </p:cNvPr>
          <p:cNvSpPr>
            <a:spLocks noGrp="1"/>
          </p:cNvSpPr>
          <p:nvPr/>
        </p:nvSpPr>
        <p:spPr>
          <a:xfrm>
            <a:off x="4400550" y="2124075"/>
            <a:ext cx="2381250" cy="3048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gpt-4.1-mini</a:t>
            </a:r>
          </a:p>
        </p:txBody>
      </p:sp>
      <p:sp>
        <p:nvSpPr>
          <p:cNvPr id="12" name="">
            <a:extLst>
              <a:ext uri="{FF2B5EF4-FFF2-40B4-BE49-F238E27FC236}">
                <a16:creationId id="{B663D434-397C-4BF7-95FA-45DEC79D7205}"/>
              </a:ext>
            </a:extLst>
          </p:cNvPr>
          <p:cNvSpPr>
            <a:spLocks noGrp="1"/>
          </p:cNvSpPr>
          <p:nvPr/>
        </p:nvSpPr>
        <p:spPr>
          <a:xfrm>
            <a:off x="7334250" y="2124075"/>
            <a:ext cx="2667000" cy="304800"/>
          </a:xfrm>
          <a:prstGeom prst="rect">
            <a:avLst/>
          </a:prstGeom>
          <a:noFill/>
          <a:ln w="0">
            <a:noFill/>
            <a:prstDash val="solid"/>
          </a:ln>
        </p:spPr>
        <p:txBody>
          <a:bodyPr wrap="square" lIns="0" tIns="0" rIns="0" bIns="0" anchor="t">
            <a:normAutofit fontScale="100000"/>
          </a:bodyPr>
          <a:lstStyle/>
          <a:p>
            <a:pPr algn="l">
              <a:defRPr sz="1725" b="1">
                <a:solidFill>
                  <a:srgbClr val="2357D8"/>
                </a:solidFill>
                <a:latin typeface="Noto Sans KR"/>
                <a:ea typeface="Noto Sans KR"/>
                <a:cs typeface="Noto Sans KR"/>
              </a:defRPr>
            </a:pPr>
            <a:r>
              <a:rPr sz="1725" b="1">
                <a:solidFill>
                  <a:srgbClr val="2357D8"/>
                </a:solidFill>
                <a:latin typeface="Noto Sans KR"/>
                <a:ea typeface="Noto Sans KR"/>
                <a:cs typeface="Noto Sans KR"/>
              </a:rPr>
              <a:t>7 / 57 채택</a:t>
            </a:r>
          </a:p>
        </p:txBody>
      </p:sp>
      <p:sp>
        <p:nvSpPr>
          <p:cNvPr id="13" name="">
            <a:extLst>
              <a:ext uri="{FF2B5EF4-FFF2-40B4-BE49-F238E27FC236}">
                <a16:creationId id="{2A9637E8-8A56-435C-85C4-8C2A21CFC1D6}"/>
              </a:ext>
            </a:extLst>
          </p:cNvPr>
          <p:cNvSpPr>
            <a:spLocks noGrp="1"/>
          </p:cNvSpPr>
          <p:nvPr/>
        </p:nvSpPr>
        <p:spPr>
          <a:xfrm>
            <a:off x="4400550" y="2676525"/>
            <a:ext cx="2381250" cy="3048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gpt-5.6-luna</a:t>
            </a:r>
          </a:p>
        </p:txBody>
      </p:sp>
      <p:sp>
        <p:nvSpPr>
          <p:cNvPr id="14" name="">
            <a:extLst>
              <a:ext uri="{FF2B5EF4-FFF2-40B4-BE49-F238E27FC236}">
                <a16:creationId id="{E42F59E8-C34A-4028-B508-CA2F89CA5550}"/>
              </a:ext>
            </a:extLst>
          </p:cNvPr>
          <p:cNvSpPr>
            <a:spLocks noGrp="1"/>
          </p:cNvSpPr>
          <p:nvPr/>
        </p:nvSpPr>
        <p:spPr>
          <a:xfrm>
            <a:off x="7334250" y="2676525"/>
            <a:ext cx="3810000" cy="304800"/>
          </a:xfrm>
          <a:prstGeom prst="rect">
            <a:avLst/>
          </a:prstGeom>
          <a:noFill/>
          <a:ln w="0">
            <a:noFill/>
            <a:prstDash val="solid"/>
          </a:ln>
        </p:spPr>
        <p:txBody>
          <a:bodyPr wrap="square" lIns="0" tIns="0" rIns="0" bIns="0" anchor="t">
            <a:normAutofit fontScale="100000"/>
          </a:bodyPr>
          <a:lstStyle/>
          <a:p>
            <a:pPr algn="l">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44 통과 · 37 동일 문구</a:t>
            </a:r>
          </a:p>
        </p:txBody>
      </p:sp>
      <p:sp>
        <p:nvSpPr>
          <p:cNvPr id="15" name="">
            <a:extLst>
              <a:ext uri="{FF2B5EF4-FFF2-40B4-BE49-F238E27FC236}">
                <a16:creationId id="{895CB07D-F50E-4792-A692-97426044488F}"/>
              </a:ext>
            </a:extLst>
          </p:cNvPr>
          <p:cNvSpPr>
            <a:spLocks noGrp="1"/>
          </p:cNvSpPr>
          <p:nvPr/>
        </p:nvSpPr>
        <p:spPr>
          <a:xfrm>
            <a:off x="4400550" y="3228975"/>
            <a:ext cx="2381250" cy="3048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gpt-5.6-terra</a:t>
            </a:r>
          </a:p>
        </p:txBody>
      </p:sp>
      <p:sp>
        <p:nvSpPr>
          <p:cNvPr id="16" name="">
            <a:extLst>
              <a:ext uri="{FF2B5EF4-FFF2-40B4-BE49-F238E27FC236}">
                <a16:creationId id="{944318EC-8476-4485-8E06-B1CAFFFA6335}"/>
              </a:ext>
            </a:extLst>
          </p:cNvPr>
          <p:cNvSpPr>
            <a:spLocks noGrp="1"/>
          </p:cNvSpPr>
          <p:nvPr/>
        </p:nvSpPr>
        <p:spPr>
          <a:xfrm>
            <a:off x="7334250" y="3228975"/>
            <a:ext cx="4000500" cy="304800"/>
          </a:xfrm>
          <a:prstGeom prst="rect">
            <a:avLst/>
          </a:prstGeom>
          <a:noFill/>
          <a:ln w="0">
            <a:noFill/>
            <a:prstDash val="solid"/>
          </a:ln>
        </p:spPr>
        <p:txBody>
          <a:bodyPr wrap="square" lIns="0" tIns="0" rIns="0" bIns="0" anchor="t">
            <a:normAutofit fontScale="100000"/>
          </a:bodyPr>
          <a:lstStyle/>
          <a:p>
            <a:pPr algn="l">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39 통과 · 명확한 개선 3</a:t>
            </a:r>
          </a:p>
        </p:txBody>
      </p:sp>
      <p:sp>
        <p:nvSpPr>
          <p:cNvPr id="17" name="">
            <a:extLst>
              <a:ext uri="{FF2B5EF4-FFF2-40B4-BE49-F238E27FC236}">
                <a16:creationId id="{EA90C2F7-390A-4FF5-ABEB-D040720AB00E}"/>
              </a:ext>
            </a:extLst>
          </p:cNvPr>
          <p:cNvSpPr>
            <a:spLocks noGrp="1"/>
          </p:cNvSpPr>
          <p:nvPr/>
        </p:nvSpPr>
        <p:spPr>
          <a:xfrm>
            <a:off x="4400550" y="3876675"/>
            <a:ext cx="6667500" cy="19050"/>
          </a:xfrm>
          <a:prstGeom prst="rect">
            <a:avLst/>
          </a:prstGeom>
          <a:solidFill>
            <a:srgbClr val="D9E1EC"/>
          </a:solidFill>
          <a:ln w="0">
            <a:noFill/>
            <a:prstDash val="solid"/>
          </a:ln>
        </p:spPr>
      </p:sp>
      <p:sp>
        <p:nvSpPr>
          <p:cNvPr id="18" name="">
            <a:extLst>
              <a:ext uri="{FF2B5EF4-FFF2-40B4-BE49-F238E27FC236}">
                <a16:creationId id="{9015D411-2BB6-41A2-BA85-7AD2645F428F}"/>
              </a:ext>
            </a:extLst>
          </p:cNvPr>
          <p:cNvSpPr>
            <a:spLocks noGrp="1"/>
          </p:cNvSpPr>
          <p:nvPr/>
        </p:nvSpPr>
        <p:spPr>
          <a:xfrm>
            <a:off x="4400550" y="4238625"/>
            <a:ext cx="2381250" cy="32385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context 확대</a:t>
            </a:r>
          </a:p>
        </p:txBody>
      </p:sp>
      <p:sp>
        <p:nvSpPr>
          <p:cNvPr id="19" name="">
            <a:extLst>
              <a:ext uri="{FF2B5EF4-FFF2-40B4-BE49-F238E27FC236}">
                <a16:creationId id="{FC3885AD-2437-48D3-8093-9E9168C9357E}"/>
              </a:ext>
            </a:extLst>
          </p:cNvPr>
          <p:cNvSpPr>
            <a:spLocks noGrp="1"/>
          </p:cNvSpPr>
          <p:nvPr/>
        </p:nvSpPr>
        <p:spPr>
          <a:xfrm>
            <a:off x="7334250" y="4238625"/>
            <a:ext cx="3810000" cy="323850"/>
          </a:xfrm>
          <a:prstGeom prst="rect">
            <a:avLst/>
          </a:prstGeom>
          <a:noFill/>
          <a:ln w="0">
            <a:noFill/>
            <a:prstDash val="solid"/>
          </a:ln>
        </p:spPr>
        <p:txBody>
          <a:bodyPr wrap="square" lIns="0" tIns="0" rIns="0" bIns="0" anchor="t">
            <a:normAutofit fontScale="100000"/>
          </a:bodyPr>
          <a:lstStyle/>
          <a:p>
            <a:pPr algn="l">
              <a:defRPr sz="1725" b="1">
                <a:solidFill>
                  <a:srgbClr val="008A91"/>
                </a:solidFill>
                <a:latin typeface="Noto Sans KR"/>
                <a:ea typeface="Noto Sans KR"/>
                <a:cs typeface="Noto Sans KR"/>
              </a:defRPr>
            </a:pPr>
            <a:r>
              <a:rPr sz="1725" b="1">
                <a:solidFill>
                  <a:srgbClr val="008A91"/>
                </a:solidFill>
                <a:latin typeface="Noto Sans KR"/>
                <a:ea typeface="Noto Sans KR"/>
                <a:cs typeface="Noto Sans KR"/>
              </a:rPr>
              <a:t>명확한 개선 후보 3 → 25</a:t>
            </a:r>
          </a:p>
        </p:txBody>
      </p:sp>
      <p:sp>
        <p:nvSpPr>
          <p:cNvPr id="20" name="">
            <a:extLst>
              <a:ext uri="{FF2B5EF4-FFF2-40B4-BE49-F238E27FC236}">
                <a16:creationId id="{DD11AEE5-2D0C-49A3-BAED-7CE06D8EAF3A}"/>
              </a:ext>
            </a:extLst>
          </p:cNvPr>
          <p:cNvSpPr>
            <a:spLocks noGrp="1"/>
          </p:cNvSpPr>
          <p:nvPr/>
        </p:nvSpPr>
        <p:spPr>
          <a:xfrm>
            <a:off x="4400550" y="4714875"/>
            <a:ext cx="6762750" cy="571500"/>
          </a:xfrm>
          <a:prstGeom prst="rect">
            <a:avLst/>
          </a:prstGeom>
          <a:noFill/>
          <a:ln w="0">
            <a:noFill/>
            <a:prstDash val="solid"/>
          </a:ln>
        </p:spPr>
        <p:txBody>
          <a:bodyPr wrap="square" lIns="0" tIns="0" rIns="0" bIns="0" anchor="t">
            <a:normAutofit fontScale="100000"/>
          </a:bodyPr>
          <a:lstStyle/>
          <a:p>
            <a:pPr algn="l">
              <a:defRPr sz="1650" b="1">
                <a:solidFill>
                  <a:srgbClr val="B94D45"/>
                </a:solidFill>
                <a:latin typeface="Noto Sans KR"/>
                <a:ea typeface="Noto Sans KR"/>
                <a:cs typeface="Noto Sans KR"/>
              </a:defRPr>
            </a:pPr>
            <a:r>
              <a:rPr sz="1650" b="1">
                <a:solidFill>
                  <a:srgbClr val="B94D45"/>
                </a:solidFill>
                <a:latin typeface="Noto Sans KR"/>
                <a:ea typeface="Noto Sans KR"/>
                <a:cs typeface="Noto Sans KR"/>
              </a:rPr>
              <a:t>단, 다른 이미지/주제 문맥 혼입과 정보 손실 관찰</a:t>
            </a:r>
          </a:p>
        </p:txBody>
      </p:sp>
      <p:sp>
        <p:nvSpPr>
          <p:cNvPr id="21" name="">
            <a:extLst>
              <a:ext uri="{FF2B5EF4-FFF2-40B4-BE49-F238E27FC236}">
                <a16:creationId id="{E4C05797-6456-4094-9CEB-A6D1B7CBCAC1}"/>
              </a:ext>
            </a:extLst>
          </p:cNvPr>
          <p:cNvSpPr>
            <a:spLocks noGrp="1"/>
          </p:cNvSpPr>
          <p:nvPr/>
        </p:nvSpPr>
        <p:spPr>
          <a:xfrm>
            <a:off x="685800" y="5724525"/>
            <a:ext cx="10477500" cy="285750"/>
          </a:xfrm>
          <a:prstGeom prst="rect">
            <a:avLst/>
          </a:prstGeom>
          <a:noFill/>
          <a:ln w="0">
            <a:noFill/>
            <a:prstDash val="solid"/>
          </a:ln>
        </p:spPr>
        <p:txBody>
          <a:bodyPr wrap="square" lIns="0" tIns="0" rIns="0" bIns="0" anchor="t">
            <a:normAutofit fontScale="100000"/>
          </a:bodyPr>
          <a:lstStyle/>
          <a:p>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실험 입력은 제한된 표본이며 production은 LLM을 사용하지 않음</a:t>
            </a:r>
          </a:p>
        </p:txBody>
      </p:sp>
    </p:spTree>
    <p:extLst>
      <p:ext uri="{BB962C8B-B14F-4D97-AF65-F5344CB8AC3E}">
        <p14:creationId val="565981719"/>
      </p:ext>
    </p:extLst>
  </p:cSld>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19" name="">
            <a:extLst>
              <a:ext uri="{FF2B5EF4-FFF2-40B4-BE49-F238E27FC236}">
                <a16:creationId id="{15BB271F-A746-4265-AC39-6BBA933A1C26}"/>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A67D36CA-C361-42E7-A793-3C555DD63E3C}"/>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PDF 레이아웃이 이미지의 검색 문맥을 제공했다</a:t>
            </a:r>
          </a:p>
        </p:txBody>
      </p:sp>
      <p:sp>
        <p:nvSpPr>
          <p:cNvPr id="3" name="">
            <a:extLst>
              <a:ext uri="{FF2B5EF4-FFF2-40B4-BE49-F238E27FC236}">
                <a16:creationId id="{D3CA97ED-44D6-45E2-BC85-C0F86D920249}"/>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B6B00173-4569-4368-B90F-20030E58CAC5}"/>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5F3C9E06-A034-4362-915D-FA2FBF2EAE68}"/>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09</a:t>
            </a:r>
          </a:p>
        </p:txBody>
      </p:sp>
      <p:sp>
        <p:nvSpPr>
          <p:cNvPr id="6" name="">
            <a:extLst>
              <a:ext uri="{FF2B5EF4-FFF2-40B4-BE49-F238E27FC236}">
                <a16:creationId id="{DCA43E59-0952-4632-9BC3-9BBC408E8597}"/>
              </a:ext>
            </a:extLst>
          </p:cNvPr>
          <p:cNvSpPr>
            <a:spLocks noGrp="1"/>
          </p:cNvSpPr>
          <p:nvPr/>
        </p:nvSpPr>
        <p:spPr>
          <a:xfrm>
            <a:off x="685800" y="1504950"/>
            <a:ext cx="6048375" cy="295275"/>
          </a:xfrm>
          <a:prstGeom prst="rect">
            <a:avLst/>
          </a:prstGeom>
          <a:noFill/>
          <a:ln w="0">
            <a:noFill/>
            <a:prstDash val="solid"/>
          </a:ln>
        </p:spPr>
        <p:txBody>
          <a:bodyPr wrap="square" lIns="0" tIns="0" rIns="0" bIns="0" anchor="t">
            <a:normAutofit fontScale="100000"/>
          </a:bodyPr>
          <a:lstStyle/>
          <a:p>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이미지 설명 생성이 아닌 PDF text extraction</a:t>
            </a:r>
          </a:p>
        </p:txBody>
      </p:sp>
      <p:sp>
        <p:nvSpPr>
          <p:cNvPr id="7" name="">
            <a:extLst>
              <a:ext uri="{FF2B5EF4-FFF2-40B4-BE49-F238E27FC236}">
                <a16:creationId id="{407E1413-E903-42C9-B7F6-77D27C976BCF}"/>
              </a:ext>
            </a:extLst>
          </p:cNvPr>
          <p:cNvSpPr>
            <a:spLocks noGrp="1"/>
          </p:cNvSpPr>
          <p:nvPr/>
        </p:nvSpPr>
        <p:spPr>
          <a:xfrm>
            <a:off x="781050" y="2152650"/>
            <a:ext cx="1476375" cy="266700"/>
          </a:xfrm>
          <a:prstGeom prst="rect">
            <a:avLst/>
          </a:prstGeom>
          <a:noFill/>
          <a:ln w="0">
            <a:noFill/>
            <a:prstDash val="solid"/>
          </a:ln>
        </p:spPr>
        <p:txBody>
          <a:bodyPr wrap="square" lIns="0" tIns="0" rIns="0" bIns="0" anchor="t">
            <a:normAutofit fontScale="100000"/>
          </a:bodyPr>
          <a:lstStyle/>
          <a:p>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상위 제목</a:t>
            </a:r>
          </a:p>
        </p:txBody>
      </p:sp>
      <p:sp>
        <p:nvSpPr>
          <p:cNvPr id="8" name="">
            <a:extLst>
              <a:ext uri="{FF2B5EF4-FFF2-40B4-BE49-F238E27FC236}">
                <a16:creationId id="{F0EF8243-B4FC-419A-94A9-C24A4A518879}"/>
              </a:ext>
            </a:extLst>
          </p:cNvPr>
          <p:cNvSpPr>
            <a:spLocks noGrp="1"/>
          </p:cNvSpPr>
          <p:nvPr/>
        </p:nvSpPr>
        <p:spPr>
          <a:xfrm>
            <a:off x="2362200" y="2124075"/>
            <a:ext cx="4429125" cy="381000"/>
          </a:xfrm>
          <a:prstGeom prst="rect">
            <a:avLst/>
          </a:prstGeom>
          <a:noFill/>
          <a:ln w="0">
            <a:noFill/>
            <a:prstDash val="solid"/>
          </a:ln>
        </p:spPr>
        <p:txBody>
          <a:bodyPr wrap="square" lIns="0" tIns="0" rIns="0" bIns="0" anchor="t">
            <a:normAutofit fontScale="100000"/>
          </a:bodyPr>
          <a:lstStyle/>
          <a:p>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엔진 오일량 점검 및 보충</a:t>
            </a:r>
          </a:p>
        </p:txBody>
      </p:sp>
      <p:sp>
        <p:nvSpPr>
          <p:cNvPr id="9" name="">
            <a:extLst>
              <a:ext uri="{FF2B5EF4-FFF2-40B4-BE49-F238E27FC236}">
                <a16:creationId id="{2D500A8B-116F-428B-A939-D48E49C606BF}"/>
              </a:ext>
            </a:extLst>
          </p:cNvPr>
          <p:cNvSpPr>
            <a:spLocks noGrp="1"/>
          </p:cNvSpPr>
          <p:nvPr/>
        </p:nvSpPr>
        <p:spPr>
          <a:xfrm>
            <a:off x="1028700" y="2790825"/>
            <a:ext cx="19050" cy="400050"/>
          </a:xfrm>
          <a:prstGeom prst="rect">
            <a:avLst/>
          </a:prstGeom>
          <a:solidFill>
            <a:srgbClr val="D9E1EC"/>
          </a:solidFill>
          <a:ln w="0">
            <a:noFill/>
            <a:prstDash val="solid"/>
          </a:ln>
        </p:spPr>
      </p:sp>
      <p:sp>
        <p:nvSpPr>
          <p:cNvPr id="10" name="">
            <a:extLst>
              <a:ext uri="{FF2B5EF4-FFF2-40B4-BE49-F238E27FC236}">
                <a16:creationId id="{56D40B94-8B81-4D7A-9631-F3ADF2F7106D}"/>
              </a:ext>
            </a:extLst>
          </p:cNvPr>
          <p:cNvSpPr>
            <a:spLocks noGrp="1"/>
          </p:cNvSpPr>
          <p:nvPr/>
        </p:nvSpPr>
        <p:spPr>
          <a:xfrm>
            <a:off x="904875" y="2752725"/>
            <a:ext cx="247650" cy="228600"/>
          </a:xfrm>
          <a:prstGeom prst="rect">
            <a:avLst/>
          </a:prstGeom>
          <a:noFill/>
          <a:ln w="0">
            <a:noFill/>
            <a:prstDash val="solid"/>
          </a:ln>
        </p:spPr>
        <p:txBody>
          <a:bodyPr wrap="square" lIns="0" tIns="0" rIns="0" bIns="0" anchor="t">
            <a:normAutofit fontScale="100000"/>
          </a:bodyPr>
          <a:lstStyle/>
          <a:p>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1" name="">
            <a:extLst>
              <a:ext uri="{FF2B5EF4-FFF2-40B4-BE49-F238E27FC236}">
                <a16:creationId id="{57F88646-4027-4AA9-93D3-0B54E3F83C7D}"/>
              </a:ext>
            </a:extLst>
          </p:cNvPr>
          <p:cNvSpPr>
            <a:spLocks noGrp="1"/>
          </p:cNvSpPr>
          <p:nvPr/>
        </p:nvSpPr>
        <p:spPr>
          <a:xfrm>
            <a:off x="781050" y="3267075"/>
            <a:ext cx="1476375" cy="266700"/>
          </a:xfrm>
          <a:prstGeom prst="rect">
            <a:avLst/>
          </a:prstGeom>
          <a:noFill/>
          <a:ln w="0">
            <a:noFill/>
            <a:prstDash val="solid"/>
          </a:ln>
        </p:spPr>
        <p:txBody>
          <a:bodyPr wrap="square" lIns="0" tIns="0" rIns="0" bIns="0" anchor="t">
            <a:normAutofit fontScale="100000"/>
          </a:bodyPr>
          <a:lstStyle/>
          <a:p>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직전 설명</a:t>
            </a:r>
          </a:p>
        </p:txBody>
      </p:sp>
      <p:sp>
        <p:nvSpPr>
          <p:cNvPr id="12" name="">
            <a:extLst>
              <a:ext uri="{FF2B5EF4-FFF2-40B4-BE49-F238E27FC236}">
                <a16:creationId id="{073E593C-483F-42DB-8B16-B1FBC4DA7A2B}"/>
              </a:ext>
            </a:extLst>
          </p:cNvPr>
          <p:cNvSpPr>
            <a:spLocks noGrp="1"/>
          </p:cNvSpPr>
          <p:nvPr/>
        </p:nvSpPr>
        <p:spPr>
          <a:xfrm>
            <a:off x="2362200" y="3238500"/>
            <a:ext cx="4429125" cy="381000"/>
          </a:xfrm>
          <a:prstGeom prst="rect">
            <a:avLst/>
          </a:prstGeom>
          <a:noFill/>
          <a:ln w="0">
            <a:noFill/>
            <a:prstDash val="solid"/>
          </a:ln>
        </p:spPr>
        <p:txBody>
          <a:bodyPr wrap="square" lIns="0" tIns="0" rIns="0" bIns="0" anchor="t">
            <a:normAutofit fontScale="100000"/>
          </a:bodyPr>
          <a:lstStyle/>
          <a:p>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레벨 게이지의 F-L 사이 확인</a:t>
            </a:r>
          </a:p>
        </p:txBody>
      </p:sp>
      <p:sp>
        <p:nvSpPr>
          <p:cNvPr id="13" name="">
            <a:extLst>
              <a:ext uri="{FF2B5EF4-FFF2-40B4-BE49-F238E27FC236}">
                <a16:creationId id="{942D8532-41F9-4FD6-9082-088F54CA6A15}"/>
              </a:ext>
            </a:extLst>
          </p:cNvPr>
          <p:cNvSpPr>
            <a:spLocks noGrp="1"/>
          </p:cNvSpPr>
          <p:nvPr/>
        </p:nvSpPr>
        <p:spPr>
          <a:xfrm>
            <a:off x="1028700" y="3905250"/>
            <a:ext cx="19050" cy="400050"/>
          </a:xfrm>
          <a:prstGeom prst="rect">
            <a:avLst/>
          </a:prstGeom>
          <a:solidFill>
            <a:srgbClr val="D9E1EC"/>
          </a:solidFill>
          <a:ln w="0">
            <a:noFill/>
            <a:prstDash val="solid"/>
          </a:ln>
        </p:spPr>
      </p:sp>
      <p:sp>
        <p:nvSpPr>
          <p:cNvPr id="14" name="">
            <a:extLst>
              <a:ext uri="{FF2B5EF4-FFF2-40B4-BE49-F238E27FC236}">
                <a16:creationId id="{E86C47BF-7751-4157-86DE-165EE7944E18}"/>
              </a:ext>
            </a:extLst>
          </p:cNvPr>
          <p:cNvSpPr>
            <a:spLocks noGrp="1"/>
          </p:cNvSpPr>
          <p:nvPr/>
        </p:nvSpPr>
        <p:spPr>
          <a:xfrm>
            <a:off x="904875" y="3867150"/>
            <a:ext cx="247650" cy="228600"/>
          </a:xfrm>
          <a:prstGeom prst="rect">
            <a:avLst/>
          </a:prstGeom>
          <a:noFill/>
          <a:ln w="0">
            <a:noFill/>
            <a:prstDash val="solid"/>
          </a:ln>
        </p:spPr>
        <p:txBody>
          <a:bodyPr wrap="square" lIns="0" tIns="0" rIns="0" bIns="0" anchor="t">
            <a:normAutofit fontScale="100000"/>
          </a:bodyPr>
          <a:lstStyle/>
          <a:p>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5" name="">
            <a:extLst>
              <a:ext uri="{FF2B5EF4-FFF2-40B4-BE49-F238E27FC236}">
                <a16:creationId id="{7372E249-1410-4090-91F5-57AF376B6B11}"/>
              </a:ext>
            </a:extLst>
          </p:cNvPr>
          <p:cNvSpPr>
            <a:spLocks noGrp="1"/>
          </p:cNvSpPr>
          <p:nvPr/>
        </p:nvSpPr>
        <p:spPr>
          <a:xfrm>
            <a:off x="781050" y="4381500"/>
            <a:ext cx="1476375" cy="266700"/>
          </a:xfrm>
          <a:prstGeom prst="rect">
            <a:avLst/>
          </a:prstGeom>
          <a:noFill/>
          <a:ln w="0">
            <a:noFill/>
            <a:prstDash val="solid"/>
          </a:ln>
        </p:spPr>
        <p:txBody>
          <a:bodyPr wrap="square" lIns="0" tIns="0" rIns="0" bIns="0" anchor="t">
            <a:normAutofit fontScale="100000"/>
          </a:bodyPr>
          <a:lstStyle/>
          <a:p>
            <a:pPr algn="l">
              <a:defRPr sz="1350" b="1">
                <a:solidFill>
                  <a:srgbClr val="008A91"/>
                </a:solidFill>
                <a:latin typeface="Noto Sans KR"/>
                <a:ea typeface="Noto Sans KR"/>
                <a:cs typeface="Noto Sans KR"/>
              </a:defRPr>
            </a:pPr>
            <a:r>
              <a:rPr sz="1350" b="1">
                <a:solidFill>
                  <a:srgbClr val="008A91"/>
                </a:solidFill>
                <a:latin typeface="Noto Sans KR"/>
                <a:ea typeface="Noto Sans KR"/>
                <a:cs typeface="Noto Sans KR"/>
              </a:rPr>
              <a:t>이미지 위치</a:t>
            </a:r>
          </a:p>
        </p:txBody>
      </p:sp>
      <p:sp>
        <p:nvSpPr>
          <p:cNvPr id="16" name="">
            <a:extLst>
              <a:ext uri="{FF2B5EF4-FFF2-40B4-BE49-F238E27FC236}">
                <a16:creationId id="{D0E7AC8D-EF52-4925-A046-F78B5B22D945}"/>
              </a:ext>
            </a:extLst>
          </p:cNvPr>
          <p:cNvSpPr>
            <a:spLocks noGrp="1"/>
          </p:cNvSpPr>
          <p:nvPr/>
        </p:nvSpPr>
        <p:spPr>
          <a:xfrm>
            <a:off x="2362200" y="4352925"/>
            <a:ext cx="4429125" cy="381000"/>
          </a:xfrm>
          <a:prstGeom prst="rect">
            <a:avLst/>
          </a:prstGeom>
          <a:noFill/>
          <a:ln w="0">
            <a:noFill/>
            <a:prstDash val="solid"/>
          </a:ln>
        </p:spPr>
        <p:txBody>
          <a:bodyPr wrap="square" lIns="0" tIns="0" rIns="0" bIns="0" anchor="t">
            <a:normAutofit fontScale="100000"/>
          </a:bodyPr>
          <a:lstStyle/>
          <a:p>
            <a:pPr algn="l">
              <a:defRPr sz="1875" b="0">
                <a:solidFill>
                  <a:srgbClr val="12233F"/>
                </a:solidFill>
                <a:latin typeface="Noto Sans KR"/>
                <a:ea typeface="Noto Sans KR"/>
                <a:cs typeface="Noto Sans KR"/>
              </a:defRPr>
            </a:pPr>
            <a:r>
              <a:rPr sz="1875" b="0">
                <a:solidFill>
                  <a:srgbClr val="12233F"/>
                </a:solidFill>
                <a:latin typeface="Noto Sans KR"/>
                <a:ea typeface="Noto Sans KR"/>
                <a:cs typeface="Noto Sans KR"/>
              </a:rPr>
              <a:t>페이지 내 같은 column의 그림</a:t>
            </a:r>
          </a:p>
        </p:txBody>
      </p:sp>
      <p:pic>
        <p:nvPicPr>
          <p:cNvPr id="35" name=""/>
          <p:cNvPicPr>
            <a:picLocks noChangeAspect="1"/>
          </p:cNvPicPr>
          <p:nvPr/>
        </p:nvPicPr>
        <p:blipFill>
          <a:blip r:embed="R0b86fe4dfd8745e0"/>
          <a:stretch/>
        </p:blipFill>
        <p:spPr>
          <a:xfrm>
            <a:off x="7572375" y="1485791"/>
            <a:ext cx="3190875" cy="4476968"/>
          </a:xfrm>
          <a:prstGeom prst="rect">
            <a:avLst/>
          </a:prstGeom>
        </p:spPr>
      </p:pic>
      <p:sp>
        <p:nvSpPr>
          <p:cNvPr id="18" name="">
            <a:extLst>
              <a:ext uri="{FF2B5EF4-FFF2-40B4-BE49-F238E27FC236}">
                <a16:creationId id="{4599AA92-BCD0-40D0-9CDC-BF28AABC2336}"/>
              </a:ext>
            </a:extLst>
          </p:cNvPr>
          <p:cNvSpPr>
            <a:spLocks noGrp="1"/>
          </p:cNvSpPr>
          <p:nvPr/>
        </p:nvSpPr>
        <p:spPr>
          <a:xfrm>
            <a:off x="7477125" y="6105525"/>
            <a:ext cx="3381375" cy="228600"/>
          </a:xfrm>
          <a:prstGeom prst="rect">
            <a:avLst/>
          </a:prstGeom>
          <a:noFill/>
          <a:ln w="0">
            <a:noFill/>
            <a:prstDash val="solid"/>
          </a:ln>
        </p:spPr>
        <p:txBody>
          <a:bodyPr wrap="square" lIns="0" tIns="0" rIns="0" bIns="0" anchor="t">
            <a:normAutofit fontScale="100000"/>
          </a:bodyPr>
          <a:lstStyle/>
          <a:p>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PDF p.463 · 인쇄 페이지 9-17</a:t>
            </a:r>
          </a:p>
        </p:txBody>
      </p:sp>
    </p:spTree>
    <p:extLst>
      <p:ext uri="{BB962C8B-B14F-4D97-AF65-F5344CB8AC3E}">
        <p14:creationId val="615325794"/>
      </p:ext>
    </p:extLst>
  </p:cSld>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
            <a:extLst>
              <a:ext uri="{FF2B5EF4-FFF2-40B4-BE49-F238E27FC236}">
                <a16:creationId id="{DAC3AD21-7596-4A00-9B19-1E754CA4C3BB}"/>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FD352CEE-DF30-442C-A986-F4E14868F280}"/>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최종 규칙형 image_desc coverage는 93.2%</a:t>
            </a:r>
          </a:p>
        </p:txBody>
      </p:sp>
      <p:sp>
        <p:nvSpPr>
          <p:cNvPr id="3" name="">
            <a:extLst>
              <a:ext uri="{FF2B5EF4-FFF2-40B4-BE49-F238E27FC236}">
                <a16:creationId id="{88759CC2-DE97-4C6A-B97E-9CD1B843D6EA}"/>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25CED1F5-173E-4269-B33E-29194C795238}"/>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F04C7F47-F32C-4BD4-A47E-DD8B369BEDB5}"/>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10</a:t>
            </a:r>
          </a:p>
        </p:txBody>
      </p:sp>
      <p:sp>
        <p:nvSpPr>
          <p:cNvPr id="6" name="">
            <a:extLst>
              <a:ext uri="{FF2B5EF4-FFF2-40B4-BE49-F238E27FC236}">
                <a16:creationId id="{394707C8-F083-4FEB-82FB-12F0721006FF}"/>
              </a:ext>
            </a:extLst>
          </p:cNvPr>
          <p:cNvSpPr>
            <a:spLocks noGrp="1"/>
          </p:cNvSpPr>
          <p:nvPr/>
        </p:nvSpPr>
        <p:spPr>
          <a:xfrm>
            <a:off x="685800" y="1581150"/>
            <a:ext cx="3810000" cy="333375"/>
          </a:xfrm>
          <a:prstGeom prst="rect">
            <a:avLst/>
          </a:prstGeom>
          <a:noFill/>
          <a:ln w="0">
            <a:noFill/>
            <a:prstDash val="solid"/>
          </a:ln>
        </p:spPr>
        <p:txBody>
          <a:bodyPr wrap="square" lIns="0" tIns="0" rIns="0" bIns="0" anchor="t">
            <a:normAutofit fontScale="100000"/>
          </a:bodyPr>
          <a:lstStyle/>
          <a:p>
            <a:pPr algn="l">
              <a:defRPr sz="1800" b="1">
                <a:solidFill>
                  <a:srgbClr val="5E6E83"/>
                </a:solidFill>
                <a:latin typeface="Noto Sans KR"/>
                <a:ea typeface="Noto Sans KR"/>
                <a:cs typeface="Noto Sans KR"/>
              </a:defRPr>
            </a:pPr>
            <a:r>
              <a:rPr sz="1800" b="1">
                <a:solidFill>
                  <a:srgbClr val="5E6E83"/>
                </a:solidFill>
                <a:latin typeface="Noto Sans KR"/>
                <a:ea typeface="Noto Sans KR"/>
                <a:cs typeface="Noto Sans KR"/>
              </a:rPr>
              <a:t>image_desc coverage</a:t>
            </a:r>
          </a:p>
        </p:txBody>
      </p:sp>
      <p:sp>
        <p:nvSpPr>
          <p:cNvPr id="7" name="">
            <a:extLst>
              <a:ext uri="{FF2B5EF4-FFF2-40B4-BE49-F238E27FC236}">
                <a16:creationId id="{2863C72F-B235-4508-94CA-E1FEAB864FB3}"/>
              </a:ext>
            </a:extLst>
          </p:cNvPr>
          <p:cNvSpPr>
            <a:spLocks noGrp="1"/>
          </p:cNvSpPr>
          <p:nvPr/>
        </p:nvSpPr>
        <p:spPr>
          <a:xfrm>
            <a:off x="685800" y="2266950"/>
            <a:ext cx="1809750" cy="1047750"/>
          </a:xfrm>
          <a:prstGeom prst="rect">
            <a:avLst/>
          </a:prstGeom>
          <a:noFill/>
          <a:ln w="0">
            <a:noFill/>
            <a:prstDash val="solid"/>
          </a:ln>
        </p:spPr>
        <p:txBody>
          <a:bodyPr wrap="square" lIns="0" tIns="0" rIns="0" bIns="0" anchor="t">
            <a:normAutofit fontScale="100000"/>
          </a:bodyPr>
          <a:lstStyle/>
          <a:p>
            <a:pPr algn="l">
              <a:defRPr sz="6600" b="1">
                <a:solidFill>
                  <a:srgbClr val="5E6E83"/>
                </a:solidFill>
                <a:latin typeface="Noto Sans KR"/>
                <a:ea typeface="Noto Sans KR"/>
                <a:cs typeface="Noto Sans KR"/>
              </a:defRPr>
            </a:pPr>
            <a:r>
              <a:rPr sz="6600" b="1">
                <a:solidFill>
                  <a:srgbClr val="5E6E83"/>
                </a:solidFill>
                <a:latin typeface="Noto Sans KR"/>
                <a:ea typeface="Noto Sans KR"/>
                <a:cs typeface="Noto Sans KR"/>
              </a:rPr>
              <a:t>0%</a:t>
            </a:r>
          </a:p>
        </p:txBody>
      </p:sp>
      <p:sp>
        <p:nvSpPr>
          <p:cNvPr id="8" name="">
            <a:extLst>
              <a:ext uri="{FF2B5EF4-FFF2-40B4-BE49-F238E27FC236}">
                <a16:creationId id="{9A9FB6C7-A91E-417A-BDB0-B2B358DFF540}"/>
              </a:ext>
            </a:extLst>
          </p:cNvPr>
          <p:cNvSpPr>
            <a:spLocks noGrp="1"/>
          </p:cNvSpPr>
          <p:nvPr/>
        </p:nvSpPr>
        <p:spPr>
          <a:xfrm>
            <a:off x="2514600" y="2400300"/>
            <a:ext cx="809625" cy="704850"/>
          </a:xfrm>
          <a:prstGeom prst="rect">
            <a:avLst/>
          </a:prstGeom>
          <a:noFill/>
          <a:ln w="0">
            <a:noFill/>
            <a:prstDash val="solid"/>
          </a:ln>
        </p:spPr>
        <p:txBody>
          <a:bodyPr wrap="square" lIns="0" tIns="0" rIns="0" bIns="0" anchor="t">
            <a:normAutofit fontScale="100000"/>
          </a:bodyPr>
          <a:lstStyle/>
          <a:p>
            <a:pPr algn="ctr">
              <a:defRPr sz="4350" b="1">
                <a:solidFill>
                  <a:srgbClr val="2357D8"/>
                </a:solidFill>
                <a:latin typeface="Noto Sans KR"/>
                <a:ea typeface="Noto Sans KR"/>
                <a:cs typeface="Noto Sans KR"/>
              </a:defRPr>
            </a:pPr>
            <a:r>
              <a:rPr sz="4350" b="1">
                <a:solidFill>
                  <a:srgbClr val="2357D8"/>
                </a:solidFill>
                <a:latin typeface="Noto Sans KR"/>
                <a:ea typeface="Noto Sans KR"/>
                <a:cs typeface="Noto Sans KR"/>
              </a:rPr>
              <a:t>→</a:t>
            </a:r>
          </a:p>
        </p:txBody>
      </p:sp>
      <p:sp>
        <p:nvSpPr>
          <p:cNvPr id="9" name="">
            <a:extLst>
              <a:ext uri="{FF2B5EF4-FFF2-40B4-BE49-F238E27FC236}">
                <a16:creationId id="{420BDA78-2D7A-4A50-8AFC-ABEFE11B7D54}"/>
              </a:ext>
            </a:extLst>
          </p:cNvPr>
          <p:cNvSpPr>
            <a:spLocks noGrp="1"/>
          </p:cNvSpPr>
          <p:nvPr/>
        </p:nvSpPr>
        <p:spPr>
          <a:xfrm>
            <a:off x="3429000" y="2152650"/>
            <a:ext cx="4953000" cy="1143000"/>
          </a:xfrm>
          <a:prstGeom prst="rect">
            <a:avLst/>
          </a:prstGeom>
          <a:noFill/>
          <a:ln w="0">
            <a:noFill/>
            <a:prstDash val="solid"/>
          </a:ln>
        </p:spPr>
        <p:txBody>
          <a:bodyPr wrap="square" lIns="0" tIns="0" rIns="0" bIns="0" anchor="t">
            <a:normAutofit fontScale="100000"/>
          </a:bodyPr>
          <a:lstStyle/>
          <a:p>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93.2%</a:t>
            </a:r>
          </a:p>
        </p:txBody>
      </p:sp>
      <p:sp>
        <p:nvSpPr>
          <p:cNvPr id="10" name="">
            <a:extLst>
              <a:ext uri="{FF2B5EF4-FFF2-40B4-BE49-F238E27FC236}">
                <a16:creationId id="{64975867-8306-49A6-B7A3-FFE0413B51E0}"/>
              </a:ext>
            </a:extLst>
          </p:cNvPr>
          <p:cNvSpPr>
            <a:spLocks noGrp="1"/>
          </p:cNvSpPr>
          <p:nvPr/>
        </p:nvSpPr>
        <p:spPr>
          <a:xfrm>
            <a:off x="3505200" y="3228975"/>
            <a:ext cx="2857500" cy="333375"/>
          </a:xfrm>
          <a:prstGeom prst="rect">
            <a:avLst/>
          </a:prstGeom>
          <a:noFill/>
          <a:ln w="0">
            <a:noFill/>
            <a:prstDash val="solid"/>
          </a:ln>
        </p:spPr>
        <p:txBody>
          <a:bodyPr wrap="square" lIns="0" tIns="0" rIns="0" bIns="0" anchor="t">
            <a:normAutofit fontScale="100000"/>
          </a:bodyPr>
          <a:lstStyle/>
          <a:p>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890 / 955</a:t>
            </a:r>
          </a:p>
        </p:txBody>
      </p:sp>
      <p:sp>
        <p:nvSpPr>
          <p:cNvPr id="11" name="">
            <a:extLst>
              <a:ext uri="{FF2B5EF4-FFF2-40B4-BE49-F238E27FC236}">
                <a16:creationId id="{2EF1FBD5-FA52-4DF6-B115-BB7351F5959F}"/>
              </a:ext>
            </a:extLst>
          </p:cNvPr>
          <p:cNvSpPr>
            <a:spLocks noGrp="1"/>
          </p:cNvSpPr>
          <p:nvPr/>
        </p:nvSpPr>
        <p:spPr>
          <a:xfrm>
            <a:off x="685800" y="4067175"/>
            <a:ext cx="3238500" cy="276225"/>
          </a:xfrm>
          <a:prstGeom prst="rect">
            <a:avLst/>
          </a:prstGeom>
          <a:noFill/>
          <a:ln w="0">
            <a:noFill/>
            <a:prstDash val="solid"/>
          </a:ln>
        </p:spPr>
        <p:txBody>
          <a:bodyPr wrap="square" lIns="0" tIns="0" rIns="0" bIns="0" anchor="t">
            <a:normAutofit fontScale="100000"/>
          </a:bodyPr>
          <a:lstStyle/>
          <a:p>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저장된 metadata 구성</a:t>
            </a:r>
          </a:p>
        </p:txBody>
      </p:sp>
      <p:sp>
        <p:nvSpPr>
          <p:cNvPr id="12" name="">
            <a:extLst>
              <a:ext uri="{FF2B5EF4-FFF2-40B4-BE49-F238E27FC236}">
                <a16:creationId id="{82F7B302-A8A8-4A49-9425-BE797958630C}"/>
              </a:ext>
            </a:extLst>
          </p:cNvPr>
          <p:cNvSpPr>
            <a:spLocks noGrp="1"/>
          </p:cNvSpPr>
          <p:nvPr/>
        </p:nvSpPr>
        <p:spPr>
          <a:xfrm>
            <a:off x="685800" y="4600575"/>
            <a:ext cx="9906000" cy="533400"/>
          </a:xfrm>
          <a:prstGeom prst="roundRect">
            <a:avLst>
              <a:gd name="adj" fmla="val 14286"/>
            </a:avLst>
          </a:prstGeom>
          <a:solidFill>
            <a:srgbClr val="F3F6FA"/>
          </a:solidFill>
          <a:ln w="9525">
            <a:solidFill>
              <a:srgbClr val="D9E1EC"/>
            </a:solidFill>
            <a:prstDash val="solid"/>
          </a:ln>
        </p:spPr>
      </p:sp>
      <p:sp>
        <p:nvSpPr>
          <p:cNvPr id="13" name="">
            <a:extLst>
              <a:ext uri="{FF2B5EF4-FFF2-40B4-BE49-F238E27FC236}">
                <a16:creationId id="{16269301-1832-43B5-870D-1AD0693A6E6D}"/>
              </a:ext>
            </a:extLst>
          </p:cNvPr>
          <p:cNvSpPr>
            <a:spLocks noGrp="1"/>
          </p:cNvSpPr>
          <p:nvPr/>
        </p:nvSpPr>
        <p:spPr>
          <a:xfrm>
            <a:off x="685800" y="4600575"/>
            <a:ext cx="4149110" cy="533400"/>
          </a:xfrm>
          <a:prstGeom prst="roundRect">
            <a:avLst>
              <a:gd name="adj" fmla="val 14286"/>
            </a:avLst>
          </a:prstGeom>
          <a:solidFill>
            <a:srgbClr val="2357D8"/>
          </a:solidFill>
          <a:ln w="0">
            <a:noFill/>
            <a:prstDash val="solid"/>
          </a:ln>
        </p:spPr>
      </p:sp>
      <p:sp>
        <p:nvSpPr>
          <p:cNvPr id="14" name="">
            <a:extLst>
              <a:ext uri="{FF2B5EF4-FFF2-40B4-BE49-F238E27FC236}">
                <a16:creationId id="{E297B97A-B59B-48AD-AED6-408DB1A7CC34}"/>
              </a:ext>
            </a:extLst>
          </p:cNvPr>
          <p:cNvSpPr>
            <a:spLocks noGrp="1"/>
          </p:cNvSpPr>
          <p:nvPr/>
        </p:nvSpPr>
        <p:spPr>
          <a:xfrm>
            <a:off x="4834910" y="4600575"/>
            <a:ext cx="5082660" cy="533400"/>
          </a:xfrm>
          <a:prstGeom prst="rect">
            <a:avLst/>
          </a:prstGeom>
          <a:solidFill>
            <a:srgbClr val="008A91"/>
          </a:solidFill>
          <a:ln w="0">
            <a:noFill/>
            <a:prstDash val="solid"/>
          </a:ln>
        </p:spPr>
      </p:sp>
      <p:sp>
        <p:nvSpPr>
          <p:cNvPr id="15" name="">
            <a:extLst>
              <a:ext uri="{FF2B5EF4-FFF2-40B4-BE49-F238E27FC236}">
                <a16:creationId id="{311B4FA8-5C1F-42B2-9D33-5D3C94B0443B}"/>
              </a:ext>
            </a:extLst>
          </p:cNvPr>
          <p:cNvSpPr>
            <a:spLocks noGrp="1"/>
          </p:cNvSpPr>
          <p:nvPr/>
        </p:nvSpPr>
        <p:spPr>
          <a:xfrm>
            <a:off x="9917570" y="4600575"/>
            <a:ext cx="674230" cy="533400"/>
          </a:xfrm>
          <a:prstGeom prst="roundRect">
            <a:avLst>
              <a:gd name="adj" fmla="val 14286"/>
            </a:avLst>
          </a:prstGeom>
          <a:solidFill>
            <a:srgbClr val="C9D2DF"/>
          </a:solidFill>
          <a:ln w="0">
            <a:noFill/>
            <a:prstDash val="solid"/>
          </a:ln>
        </p:spPr>
      </p:sp>
      <p:sp>
        <p:nvSpPr>
          <p:cNvPr id="16" name="">
            <a:extLst>
              <a:ext uri="{FF2B5EF4-FFF2-40B4-BE49-F238E27FC236}">
                <a16:creationId id="{336752F9-4E8E-44C9-BB9A-A8CBDB87C991}"/>
              </a:ext>
            </a:extLst>
          </p:cNvPr>
          <p:cNvSpPr>
            <a:spLocks noGrp="1"/>
          </p:cNvSpPr>
          <p:nvPr/>
        </p:nvSpPr>
        <p:spPr>
          <a:xfrm>
            <a:off x="800100" y="5267325"/>
            <a:ext cx="3238500" cy="295275"/>
          </a:xfrm>
          <a:prstGeom prst="rect">
            <a:avLst/>
          </a:prstGeom>
          <a:noFill/>
          <a:ln w="0">
            <a:noFill/>
            <a:prstDash val="solid"/>
          </a:ln>
        </p:spPr>
        <p:txBody>
          <a:bodyPr wrap="square" lIns="0" tIns="0" rIns="0" bIns="0" anchor="t">
            <a:normAutofit fontScale="100000"/>
          </a:bodyPr>
          <a:lstStyle/>
          <a:p>
            <a:pPr algn="l">
              <a:defRPr sz="1650" b="1">
                <a:solidFill>
                  <a:srgbClr val="2357D8"/>
                </a:solidFill>
                <a:latin typeface="Noto Sans KR"/>
                <a:ea typeface="Noto Sans KR"/>
                <a:cs typeface="Noto Sans KR"/>
              </a:defRPr>
            </a:pPr>
            <a:r>
              <a:rPr sz="1650" b="1">
                <a:solidFill>
                  <a:srgbClr val="2357D8"/>
                </a:solidFill>
                <a:latin typeface="Noto Sans KR"/>
                <a:ea typeface="Noto Sans KR"/>
                <a:cs typeface="Noto Sans KR"/>
              </a:rPr>
              <a:t>heading only 400</a:t>
            </a:r>
          </a:p>
        </p:txBody>
      </p:sp>
      <p:sp>
        <p:nvSpPr>
          <p:cNvPr id="17" name="">
            <a:extLst>
              <a:ext uri="{FF2B5EF4-FFF2-40B4-BE49-F238E27FC236}">
                <a16:creationId id="{E910398B-CDFA-4141-AC23-F087A32E813C}"/>
              </a:ext>
            </a:extLst>
          </p:cNvPr>
          <p:cNvSpPr>
            <a:spLocks noGrp="1"/>
          </p:cNvSpPr>
          <p:nvPr/>
        </p:nvSpPr>
        <p:spPr>
          <a:xfrm>
            <a:off x="4095750" y="5267325"/>
            <a:ext cx="3810000" cy="295275"/>
          </a:xfrm>
          <a:prstGeom prst="rect">
            <a:avLst/>
          </a:prstGeom>
          <a:noFill/>
          <a:ln w="0">
            <a:noFill/>
            <a:prstDash val="solid"/>
          </a:ln>
        </p:spPr>
        <p:txBody>
          <a:bodyPr wrap="square" lIns="0" tIns="0" rIns="0" bIns="0" anchor="t">
            <a:normAutofit fontScale="100000"/>
          </a:bodyPr>
          <a:lstStyle/>
          <a:p>
            <a:pPr algn="l">
              <a:defRPr sz="1650" b="1">
                <a:solidFill>
                  <a:srgbClr val="008A91"/>
                </a:solidFill>
                <a:latin typeface="Noto Sans KR"/>
                <a:ea typeface="Noto Sans KR"/>
                <a:cs typeface="Noto Sans KR"/>
              </a:defRPr>
            </a:pPr>
            <a:r>
              <a:rPr sz="1650" b="1">
                <a:solidFill>
                  <a:srgbClr val="008A91"/>
                </a:solidFill>
                <a:latin typeface="Noto Sans KR"/>
                <a:ea typeface="Noto Sans KR"/>
                <a:cs typeface="Noto Sans KR"/>
              </a:rPr>
              <a:t>heading + label 490</a:t>
            </a:r>
          </a:p>
        </p:txBody>
      </p:sp>
      <p:sp>
        <p:nvSpPr>
          <p:cNvPr id="18" name="">
            <a:extLst>
              <a:ext uri="{FF2B5EF4-FFF2-40B4-BE49-F238E27FC236}">
                <a16:creationId id="{A5ABCBE6-5169-4551-9B8A-C4AF628E6940}"/>
              </a:ext>
            </a:extLst>
          </p:cNvPr>
          <p:cNvSpPr>
            <a:spLocks noGrp="1"/>
          </p:cNvSpPr>
          <p:nvPr/>
        </p:nvSpPr>
        <p:spPr>
          <a:xfrm>
            <a:off x="8153400" y="5267325"/>
            <a:ext cx="2238375" cy="295275"/>
          </a:xfrm>
          <a:prstGeom prst="rect">
            <a:avLst/>
          </a:prstGeom>
          <a:noFill/>
          <a:ln w="0">
            <a:noFill/>
            <a:prstDash val="solid"/>
          </a:ln>
        </p:spPr>
        <p:txBody>
          <a:bodyPr wrap="square" lIns="0" tIns="0" rIns="0" bIns="0" anchor="t">
            <a:normAutofit fontScale="100000"/>
          </a:bodyPr>
          <a:lstStyle/>
          <a:p>
            <a:pPr algn="r">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NULL 65</a:t>
            </a:r>
          </a:p>
        </p:txBody>
      </p:sp>
      <p:sp>
        <p:nvSpPr>
          <p:cNvPr id="19" name="">
            <a:extLst>
              <a:ext uri="{FF2B5EF4-FFF2-40B4-BE49-F238E27FC236}">
                <a16:creationId id="{88599E93-E66E-4CD6-A446-E07050AED259}"/>
              </a:ext>
            </a:extLst>
          </p:cNvPr>
          <p:cNvSpPr>
            <a:spLocks noGrp="1"/>
          </p:cNvSpPr>
          <p:nvPr/>
        </p:nvSpPr>
        <p:spPr>
          <a:xfrm>
            <a:off x="685800" y="5886450"/>
            <a:ext cx="10287000" cy="285750"/>
          </a:xfrm>
          <a:prstGeom prst="rect">
            <a:avLst/>
          </a:prstGeom>
          <a:noFill/>
          <a:ln w="0">
            <a:noFill/>
            <a:prstDash val="solid"/>
          </a:ln>
        </p:spPr>
        <p:txBody>
          <a:bodyPr wrap="square" lIns="0" tIns="0" rIns="0" bIns="0" anchor="t">
            <a:normAutofit fontScale="100000"/>
          </a:bodyPr>
          <a:lstStyle/>
          <a:p>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93.2%는 caption 정확도나 이미지 relevance 지표가 아님</a:t>
            </a:r>
          </a:p>
        </p:txBody>
      </p:sp>
    </p:spTree>
    <p:extLst>
      <p:ext uri="{BB962C8B-B14F-4D97-AF65-F5344CB8AC3E}">
        <p14:creationId val="24216584"/>
      </p:ext>
    </p:extLst>
  </p:cSld>
</p:sld>
</file>

<file path=ppt/slides/slide10.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1" name="">
            <a:extLst>
              <a:ext uri="{FF2B5EF4-FFF2-40B4-BE49-F238E27FC236}">
                <a16:creationId id="{13D4AFAE-B896-4C29-A23B-5D7AFB04AF9B}"/>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B0DF45CA-67C1-408D-ACB8-DDFF34BE922C}"/>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M7은 이미지 선택을 바꾸고 텍스트 Retrieval 점수는 유지</a:t>
            </a:r>
          </a:p>
        </p:txBody>
      </p:sp>
      <p:sp>
        <p:nvSpPr>
          <p:cNvPr id="3" name="">
            <a:extLst>
              <a:ext uri="{FF2B5EF4-FFF2-40B4-BE49-F238E27FC236}">
                <a16:creationId id="{016DC671-9A3D-4A6D-9A58-215E2672390F}"/>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A24346CB-E8EC-4D7B-94AD-99F5A82DDE1F}"/>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D24881EB-F965-43C1-8D76-B433FED26B56}"/>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11</a:t>
            </a:r>
          </a:p>
        </p:txBody>
      </p:sp>
      <p:sp>
        <p:nvSpPr>
          <p:cNvPr id="6" name="">
            <a:extLst>
              <a:ext uri="{FF2B5EF4-FFF2-40B4-BE49-F238E27FC236}">
                <a16:creationId id="{3C060EC5-ECBE-4EE8-B76D-259AEF3CEBB8}"/>
              </a:ext>
            </a:extLst>
          </p:cNvPr>
          <p:cNvSpPr>
            <a:spLocks noGrp="1"/>
          </p:cNvSpPr>
          <p:nvPr/>
        </p:nvSpPr>
        <p:spPr>
          <a:xfrm>
            <a:off x="952500" y="1647825"/>
            <a:ext cx="3714750" cy="361950"/>
          </a:xfrm>
          <a:prstGeom prst="rect">
            <a:avLst/>
          </a:prstGeom>
          <a:noFill/>
          <a:ln w="0">
            <a:noFill/>
            <a:prstDash val="solid"/>
          </a:ln>
        </p:spPr>
        <p:txBody>
          <a:bodyPr wrap="square" lIns="0" tIns="0" rIns="0" bIns="0" anchor="t">
            <a:normAutofit fontScale="100000"/>
          </a:bodyPr>
          <a:lstStyle/>
          <a:p>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M6 Before</a:t>
            </a:r>
          </a:p>
        </p:txBody>
      </p:sp>
      <p:sp>
        <p:nvSpPr>
          <p:cNvPr id="7" name="">
            <a:extLst>
              <a:ext uri="{FF2B5EF4-FFF2-40B4-BE49-F238E27FC236}">
                <a16:creationId id="{BCEB65A7-DC15-4D1F-9E48-6615AC4C136E}"/>
              </a:ext>
            </a:extLst>
          </p:cNvPr>
          <p:cNvSpPr>
            <a:spLocks noGrp="1"/>
          </p:cNvSpPr>
          <p:nvPr/>
        </p:nvSpPr>
        <p:spPr>
          <a:xfrm>
            <a:off x="7524750" y="1647825"/>
            <a:ext cx="3714750" cy="361950"/>
          </a:xfrm>
          <a:prstGeom prst="rect">
            <a:avLst/>
          </a:prstGeom>
          <a:noFill/>
          <a:ln w="0">
            <a:noFill/>
            <a:prstDash val="solid"/>
          </a:ln>
        </p:spPr>
        <p:txBody>
          <a:bodyPr wrap="square" lIns="0" tIns="0" rIns="0" bIns="0" anchor="t">
            <a:normAutofit fontScale="100000"/>
          </a:bodyPr>
          <a:lstStyle/>
          <a:p>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M7 After</a:t>
            </a:r>
          </a:p>
        </p:txBody>
      </p:sp>
      <p:sp>
        <p:nvSpPr>
          <p:cNvPr id="8" name="">
            <a:extLst>
              <a:ext uri="{FF2B5EF4-FFF2-40B4-BE49-F238E27FC236}">
                <a16:creationId id="{E3504125-B34C-4318-95A6-E8A59783E50D}"/>
              </a:ext>
            </a:extLst>
          </p:cNvPr>
          <p:cNvSpPr>
            <a:spLocks noGrp="1"/>
          </p:cNvSpPr>
          <p:nvPr/>
        </p:nvSpPr>
        <p:spPr>
          <a:xfrm>
            <a:off x="5619750" y="2647950"/>
            <a:ext cx="952500" cy="666750"/>
          </a:xfrm>
          <a:prstGeom prst="rect">
            <a:avLst/>
          </a:prstGeom>
          <a:noFill/>
          <a:ln w="0">
            <a:noFill/>
            <a:prstDash val="solid"/>
          </a:ln>
        </p:spPr>
        <p:txBody>
          <a:bodyPr wrap="square" lIns="0" tIns="0" rIns="0" bIns="0" anchor="t">
            <a:normAutofit fontScale="94086"/>
          </a:bodyPr>
          <a:lstStyle/>
          <a:p>
            <a:pPr algn="ctr">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a:t>
            </a:r>
          </a:p>
        </p:txBody>
      </p:sp>
      <p:sp>
        <p:nvSpPr>
          <p:cNvPr id="9" name="">
            <a:extLst>
              <a:ext uri="{FF2B5EF4-FFF2-40B4-BE49-F238E27FC236}">
                <a16:creationId id="{791AE809-D8BB-4CE8-B482-DDBDDC2C36A3}"/>
              </a:ext>
            </a:extLst>
          </p:cNvPr>
          <p:cNvSpPr>
            <a:spLocks noGrp="1"/>
          </p:cNvSpPr>
          <p:nvPr/>
        </p:nvSpPr>
        <p:spPr>
          <a:xfrm>
            <a:off x="6019800" y="2114550"/>
            <a:ext cx="19050" cy="2857500"/>
          </a:xfrm>
          <a:prstGeom prst="rect">
            <a:avLst/>
          </a:prstGeom>
          <a:solidFill>
            <a:srgbClr val="D9E1EC"/>
          </a:solidFill>
          <a:ln w="0">
            <a:noFill/>
            <a:prstDash val="solid"/>
          </a:ln>
        </p:spPr>
      </p:sp>
      <p:sp>
        <p:nvSpPr>
          <p:cNvPr id="10" name="">
            <a:extLst>
              <a:ext uri="{FF2B5EF4-FFF2-40B4-BE49-F238E27FC236}">
                <a16:creationId id="{800F219F-EE1A-4AB7-9E9D-39E2083CBA14}"/>
              </a:ext>
            </a:extLst>
          </p:cNvPr>
          <p:cNvSpPr>
            <a:spLocks noGrp="1"/>
          </p:cNvSpPr>
          <p:nvPr/>
        </p:nvSpPr>
        <p:spPr>
          <a:xfrm>
            <a:off x="952500" y="2190750"/>
            <a:ext cx="3714750" cy="781050"/>
          </a:xfrm>
          <a:prstGeom prst="rect">
            <a:avLst/>
          </a:prstGeom>
          <a:noFill/>
          <a:ln w="0">
            <a:noFill/>
            <a:prstDash val="solid"/>
          </a:ln>
        </p:spPr>
        <p:txBody>
          <a:bodyPr wrap="square" lIns="0" tIns="0" rIns="0" bIns="0" anchor="t">
            <a:normAutofit fontScale="97619"/>
          </a:bodyPr>
          <a:lstStyle/>
          <a:p>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1" name="">
            <a:extLst>
              <a:ext uri="{FF2B5EF4-FFF2-40B4-BE49-F238E27FC236}">
                <a16:creationId id="{FB9EACD3-C815-4A46-A780-B17F9F29E076}"/>
              </a:ext>
            </a:extLst>
          </p:cNvPr>
          <p:cNvSpPr>
            <a:spLocks noGrp="1"/>
          </p:cNvSpPr>
          <p:nvPr/>
        </p:nvSpPr>
        <p:spPr>
          <a:xfrm>
            <a:off x="7524750" y="2190750"/>
            <a:ext cx="3714750" cy="781050"/>
          </a:xfrm>
          <a:prstGeom prst="rect">
            <a:avLst/>
          </a:prstGeom>
          <a:noFill/>
          <a:ln w="0">
            <a:noFill/>
            <a:prstDash val="solid"/>
          </a:ln>
        </p:spPr>
        <p:txBody>
          <a:bodyPr wrap="square" lIns="0" tIns="0" rIns="0" bIns="0" anchor="t">
            <a:normAutofit fontScale="97619"/>
          </a:bodyPr>
          <a:lstStyle/>
          <a:p>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2" name="">
            <a:extLst>
              <a:ext uri="{FF2B5EF4-FFF2-40B4-BE49-F238E27FC236}">
                <a16:creationId id="{F2916FBB-ECF7-4569-8E3C-067B7FDE6BF8}"/>
              </a:ext>
            </a:extLst>
          </p:cNvPr>
          <p:cNvSpPr>
            <a:spLocks noGrp="1"/>
          </p:cNvSpPr>
          <p:nvPr/>
        </p:nvSpPr>
        <p:spPr>
          <a:xfrm>
            <a:off x="952500" y="3086100"/>
            <a:ext cx="3714750" cy="323850"/>
          </a:xfrm>
          <a:prstGeom prst="rect">
            <a:avLst/>
          </a:prstGeom>
          <a:noFill/>
          <a:ln w="0">
            <a:noFill/>
            <a:prstDash val="solid"/>
          </a:ln>
        </p:spPr>
        <p:txBody>
          <a:bodyPr wrap="square" lIns="0" tIns="0" rIns="0" bIns="0" anchor="t">
            <a:normAutofit fontScale="100000"/>
          </a:bodyPr>
          <a:lstStyle/>
          <a:p>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3" name="">
            <a:extLst>
              <a:ext uri="{FF2B5EF4-FFF2-40B4-BE49-F238E27FC236}">
                <a16:creationId id="{6D115E26-6B1C-42C3-8AB1-93B62668A68C}"/>
              </a:ext>
            </a:extLst>
          </p:cNvPr>
          <p:cNvSpPr>
            <a:spLocks noGrp="1"/>
          </p:cNvSpPr>
          <p:nvPr/>
        </p:nvSpPr>
        <p:spPr>
          <a:xfrm>
            <a:off x="7524750" y="3086100"/>
            <a:ext cx="3714750" cy="323850"/>
          </a:xfrm>
          <a:prstGeom prst="rect">
            <a:avLst/>
          </a:prstGeom>
          <a:noFill/>
          <a:ln w="0">
            <a:noFill/>
            <a:prstDash val="solid"/>
          </a:ln>
        </p:spPr>
        <p:txBody>
          <a:bodyPr wrap="square" lIns="0" tIns="0" rIns="0" bIns="0" anchor="t">
            <a:normAutofit fontScale="100000"/>
          </a:bodyPr>
          <a:lstStyle/>
          <a:p>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4" name="">
            <a:extLst>
              <a:ext uri="{FF2B5EF4-FFF2-40B4-BE49-F238E27FC236}">
                <a16:creationId id="{D2E5C0AD-0EF7-4A9B-A996-25552B42F9C4}"/>
              </a:ext>
            </a:extLst>
          </p:cNvPr>
          <p:cNvSpPr>
            <a:spLocks noGrp="1"/>
          </p:cNvSpPr>
          <p:nvPr/>
        </p:nvSpPr>
        <p:spPr>
          <a:xfrm>
            <a:off x="952500" y="3590925"/>
            <a:ext cx="3714750" cy="323850"/>
          </a:xfrm>
          <a:prstGeom prst="rect">
            <a:avLst/>
          </a:prstGeom>
          <a:noFill/>
          <a:ln w="0">
            <a:noFill/>
            <a:prstDash val="solid"/>
          </a:ln>
        </p:spPr>
        <p:txBody>
          <a:bodyPr wrap="square" lIns="0" tIns="0" rIns="0" bIns="0" anchor="t">
            <a:normAutofit fontScale="100000"/>
          </a:bodyPr>
          <a:lstStyle/>
          <a:p>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5" name="">
            <a:extLst>
              <a:ext uri="{FF2B5EF4-FFF2-40B4-BE49-F238E27FC236}">
                <a16:creationId id="{7E7EEA79-0E1B-4933-A1A6-539C8327AEFF}"/>
              </a:ext>
            </a:extLst>
          </p:cNvPr>
          <p:cNvSpPr>
            <a:spLocks noGrp="1"/>
          </p:cNvSpPr>
          <p:nvPr/>
        </p:nvSpPr>
        <p:spPr>
          <a:xfrm>
            <a:off x="7524750" y="3590925"/>
            <a:ext cx="3714750" cy="323850"/>
          </a:xfrm>
          <a:prstGeom prst="rect">
            <a:avLst/>
          </a:prstGeom>
          <a:noFill/>
          <a:ln w="0">
            <a:noFill/>
            <a:prstDash val="solid"/>
          </a:ln>
        </p:spPr>
        <p:txBody>
          <a:bodyPr wrap="square" lIns="0" tIns="0" rIns="0" bIns="0" anchor="t">
            <a:normAutofit fontScale="100000"/>
          </a:bodyPr>
          <a:lstStyle/>
          <a:p>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6" name="">
            <a:extLst>
              <a:ext uri="{FF2B5EF4-FFF2-40B4-BE49-F238E27FC236}">
                <a16:creationId id="{578B97B6-C9AE-46F3-8875-355CC3D79E92}"/>
              </a:ext>
            </a:extLst>
          </p:cNvPr>
          <p:cNvSpPr>
            <a:spLocks noGrp="1"/>
          </p:cNvSpPr>
          <p:nvPr/>
        </p:nvSpPr>
        <p:spPr>
          <a:xfrm>
            <a:off x="685800" y="4572000"/>
            <a:ext cx="10820400" cy="19050"/>
          </a:xfrm>
          <a:prstGeom prst="rect">
            <a:avLst/>
          </a:prstGeom>
          <a:solidFill>
            <a:srgbClr val="D9E1EC"/>
          </a:solidFill>
          <a:ln w="0">
            <a:noFill/>
            <a:prstDash val="solid"/>
          </a:ln>
        </p:spPr>
      </p:sp>
      <p:sp>
        <p:nvSpPr>
          <p:cNvPr id="17" name="">
            <a:extLst>
              <a:ext uri="{FF2B5EF4-FFF2-40B4-BE49-F238E27FC236}">
                <a16:creationId id="{B1F2D88C-A0CF-4076-B50C-BD398BE815E1}"/>
              </a:ext>
            </a:extLst>
          </p:cNvPr>
          <p:cNvSpPr>
            <a:spLocks noGrp="1"/>
          </p:cNvSpPr>
          <p:nvPr/>
        </p:nvSpPr>
        <p:spPr>
          <a:xfrm>
            <a:off x="685800" y="4972050"/>
            <a:ext cx="1905000" cy="276225"/>
          </a:xfrm>
          <a:prstGeom prst="rect">
            <a:avLst/>
          </a:prstGeom>
          <a:noFill/>
          <a:ln w="0">
            <a:noFill/>
            <a:prstDash val="solid"/>
          </a:ln>
        </p:spPr>
        <p:txBody>
          <a:bodyPr wrap="square" lIns="0" tIns="0" rIns="0" bIns="0" anchor="t">
            <a:normAutofit fontScale="100000"/>
          </a:bodyPr>
          <a:lstStyle/>
          <a:p>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M7 변경 범위</a:t>
            </a:r>
          </a:p>
        </p:txBody>
      </p:sp>
      <p:sp>
        <p:nvSpPr>
          <p:cNvPr id="18" name="">
            <a:extLst>
              <a:ext uri="{FF2B5EF4-FFF2-40B4-BE49-F238E27FC236}">
                <a16:creationId id="{96440CE8-D588-4020-85FD-3CF862BA8CD5}"/>
              </a:ext>
            </a:extLst>
          </p:cNvPr>
          <p:cNvSpPr>
            <a:spLocks noGrp="1"/>
          </p:cNvSpPr>
          <p:nvPr/>
        </p:nvSpPr>
        <p:spPr>
          <a:xfrm>
            <a:off x="2714625" y="4972050"/>
            <a:ext cx="3429000" cy="32385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Top-K 텍스트 순위 유지</a:t>
            </a:r>
          </a:p>
        </p:txBody>
      </p:sp>
      <p:sp>
        <p:nvSpPr>
          <p:cNvPr id="19" name="">
            <a:extLst>
              <a:ext uri="{FF2B5EF4-FFF2-40B4-BE49-F238E27FC236}">
                <a16:creationId id="{461AD766-AF14-4469-B6DB-5C55B1F83544}"/>
              </a:ext>
            </a:extLst>
          </p:cNvPr>
          <p:cNvSpPr>
            <a:spLocks noGrp="1"/>
          </p:cNvSpPr>
          <p:nvPr/>
        </p:nvSpPr>
        <p:spPr>
          <a:xfrm>
            <a:off x="6667500" y="4972050"/>
            <a:ext cx="4476750" cy="32385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검색 결과 이미지 선택 조정</a:t>
            </a:r>
          </a:p>
        </p:txBody>
      </p:sp>
      <p:sp>
        <p:nvSpPr>
          <p:cNvPr id="20" name="">
            <a:extLst>
              <a:ext uri="{FF2B5EF4-FFF2-40B4-BE49-F238E27FC236}">
                <a16:creationId id="{EA9863F6-0ADA-4EB8-A9B0-CFF9CB9F2DDE}"/>
              </a:ext>
            </a:extLst>
          </p:cNvPr>
          <p:cNvSpPr>
            <a:spLocks noGrp="1"/>
          </p:cNvSpPr>
          <p:nvPr/>
        </p:nvSpPr>
        <p:spPr>
          <a:xfrm>
            <a:off x="685800" y="5667375"/>
            <a:ext cx="10001250" cy="295275"/>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이미지 관련성과 텍스트 Retrieval 지표는 별도로 평가</a:t>
            </a:r>
          </a:p>
        </p:txBody>
      </p:sp>
    </p:spTree>
    <p:extLst>
      <p:ext uri="{BB962C8B-B14F-4D97-AF65-F5344CB8AC3E}">
        <p14:creationId val="1320355798"/>
      </p:ext>
    </p:extLst>
  </p:cSld>
</p:sld>
</file>

<file path=ppt/slides/slide11.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
            <a:extLst>
              <a:ext uri="{FF2B5EF4-FFF2-40B4-BE49-F238E27FC236}">
                <a16:creationId id="{16C7CF65-9932-48FD-815F-37793E759F15}"/>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00901401-4922-4A7A-97D4-5DEF682C00A0}"/>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91619"/>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실제 Streamlit에서 관련 이미지 노출은 나아졌지만 남은 사례가 있다</a:t>
            </a:r>
          </a:p>
        </p:txBody>
      </p:sp>
      <p:sp>
        <p:nvSpPr>
          <p:cNvPr id="3" name="">
            <a:extLst>
              <a:ext uri="{FF2B5EF4-FFF2-40B4-BE49-F238E27FC236}">
                <a16:creationId id="{92392E3F-721C-4095-856D-CC22BEB2103C}"/>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FD025635-1BF3-49AD-9A3A-A13A3AEB6C44}"/>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7D21AB45-53E0-474B-8EF5-78F069168A80}"/>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12</a:t>
            </a:r>
          </a:p>
        </p:txBody>
      </p:sp>
      <p:sp>
        <p:nvSpPr>
          <p:cNvPr id="6" name="">
            <a:extLst>
              <a:ext uri="{FF2B5EF4-FFF2-40B4-BE49-F238E27FC236}">
                <a16:creationId id="{84489FF7-B8FC-4CBA-9AF5-CFEAF2A9A93D}"/>
              </a:ext>
            </a:extLst>
          </p:cNvPr>
          <p:cNvSpPr>
            <a:spLocks noGrp="1"/>
          </p:cNvSpPr>
          <p:nvPr/>
        </p:nvSpPr>
        <p:spPr>
          <a:xfrm>
            <a:off x="685800" y="1562100"/>
            <a:ext cx="7620000" cy="304800"/>
          </a:xfrm>
          <a:prstGeom prst="rect">
            <a:avLst/>
          </a:prstGeom>
          <a:noFill/>
          <a:ln w="0">
            <a:noFill/>
            <a:prstDash val="solid"/>
          </a:ln>
        </p:spPr>
        <p:txBody>
          <a:bodyPr wrap="square" lIns="0" tIns="0" rIns="0" bIns="0" anchor="t">
            <a:normAutofit fontScale="100000"/>
          </a:bodyPr>
          <a:lstStyle/>
          <a:p>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localhost:8501 실제 브라우저 · M6 질문 UI 관찰</a:t>
            </a:r>
          </a:p>
        </p:txBody>
      </p:sp>
      <p:sp>
        <p:nvSpPr>
          <p:cNvPr id="7" name="">
            <a:extLst>
              <a:ext uri="{FF2B5EF4-FFF2-40B4-BE49-F238E27FC236}">
                <a16:creationId id="{23CE8E32-E4DE-466F-9B93-9C5E19FAFE7C}"/>
              </a:ext>
            </a:extLst>
          </p:cNvPr>
          <p:cNvSpPr>
            <a:spLocks noGrp="1"/>
          </p:cNvSpPr>
          <p:nvPr/>
        </p:nvSpPr>
        <p:spPr>
          <a:xfrm>
            <a:off x="685800" y="2124075"/>
            <a:ext cx="10820400" cy="19050"/>
          </a:xfrm>
          <a:prstGeom prst="rect">
            <a:avLst/>
          </a:prstGeom>
          <a:solidFill>
            <a:srgbClr val="D9E1EC"/>
          </a:solidFill>
          <a:ln w="0">
            <a:noFill/>
            <a:prstDash val="solid"/>
          </a:ln>
        </p:spPr>
      </p:sp>
      <p:sp>
        <p:nvSpPr>
          <p:cNvPr id="8" name="">
            <a:extLst>
              <a:ext uri="{FF2B5EF4-FFF2-40B4-BE49-F238E27FC236}">
                <a16:creationId id="{7D864AED-7CD0-423F-9235-8D6C684355CB}"/>
              </a:ext>
            </a:extLst>
          </p:cNvPr>
          <p:cNvSpPr>
            <a:spLocks noGrp="1"/>
          </p:cNvSpPr>
          <p:nvPr/>
        </p:nvSpPr>
        <p:spPr>
          <a:xfrm>
            <a:off x="704850" y="2447925"/>
            <a:ext cx="2476500" cy="323850"/>
          </a:xfrm>
          <a:prstGeom prst="rect">
            <a:avLst/>
          </a:prstGeom>
          <a:noFill/>
          <a:ln w="0">
            <a:noFill/>
            <a:prstDash val="solid"/>
          </a:ln>
        </p:spPr>
        <p:txBody>
          <a:bodyPr wrap="square" lIns="0" tIns="0" rIns="0" bIns="0" anchor="t">
            <a:normAutofit fontScale="100000"/>
          </a:bodyPr>
          <a:lstStyle/>
          <a:p>
            <a:pPr algn="l">
              <a:defRPr sz="1725" b="1">
                <a:solidFill>
                  <a:srgbClr val="167B63"/>
                </a:solidFill>
                <a:latin typeface="Noto Sans KR"/>
                <a:ea typeface="Noto Sans KR"/>
                <a:cs typeface="Noto Sans KR"/>
              </a:defRPr>
            </a:pPr>
            <a:r>
              <a:rPr sz="1725" b="1">
                <a:solidFill>
                  <a:srgbClr val="167B63"/>
                </a:solidFill>
                <a:latin typeface="Noto Sans KR"/>
                <a:ea typeface="Noto Sans KR"/>
                <a:cs typeface="Noto Sans KR"/>
              </a:rPr>
              <a:t>직접 적합</a:t>
            </a:r>
          </a:p>
        </p:txBody>
      </p:sp>
      <p:sp>
        <p:nvSpPr>
          <p:cNvPr id="9" name="">
            <a:extLst>
              <a:ext uri="{FF2B5EF4-FFF2-40B4-BE49-F238E27FC236}">
                <a16:creationId id="{6144D2CA-6DEF-41C0-B595-C8282EF9580A}"/>
              </a:ext>
            </a:extLst>
          </p:cNvPr>
          <p:cNvSpPr>
            <a:spLocks noGrp="1"/>
          </p:cNvSpPr>
          <p:nvPr/>
        </p:nvSpPr>
        <p:spPr>
          <a:xfrm>
            <a:off x="704850" y="2867025"/>
            <a:ext cx="2762250" cy="628650"/>
          </a:xfrm>
          <a:prstGeom prst="rect">
            <a:avLst/>
          </a:prstGeom>
          <a:noFill/>
          <a:ln w="0">
            <a:noFill/>
            <a:prstDash val="solid"/>
          </a:ln>
        </p:spPr>
        <p:txBody>
          <a:bodyPr wrap="square" lIns="0" tIns="0" rIns="0" bIns="0" anchor="t">
            <a:normAutofit fontScale="100000"/>
          </a:bodyPr>
          <a:lstStyle/>
          <a:p>
            <a:pPr algn="l">
              <a:defRPr sz="3600" b="1">
                <a:solidFill>
                  <a:srgbClr val="167B63"/>
                </a:solidFill>
                <a:latin typeface="Noto Sans KR"/>
                <a:ea typeface="Noto Sans KR"/>
                <a:cs typeface="Noto Sans KR"/>
              </a:defRPr>
            </a:pPr>
            <a:r>
              <a:rPr sz="3600" b="1">
                <a:solidFill>
                  <a:srgbClr val="167B63"/>
                </a:solidFill>
                <a:latin typeface="Noto Sans KR"/>
                <a:ea typeface="Noto Sans KR"/>
                <a:cs typeface="Noto Sans KR"/>
              </a:rPr>
              <a:t>4개 관찰 사례</a:t>
            </a:r>
          </a:p>
        </p:txBody>
      </p:sp>
      <p:sp>
        <p:nvSpPr>
          <p:cNvPr id="10" name="">
            <a:extLst>
              <a:ext uri="{FF2B5EF4-FFF2-40B4-BE49-F238E27FC236}">
                <a16:creationId id="{0987099C-3EE1-4AD2-944F-74D073E597A3}"/>
              </a:ext>
            </a:extLst>
          </p:cNvPr>
          <p:cNvSpPr>
            <a:spLocks noGrp="1"/>
          </p:cNvSpPr>
          <p:nvPr/>
        </p:nvSpPr>
        <p:spPr>
          <a:xfrm>
            <a:off x="704850" y="3562350"/>
            <a:ext cx="5000625" cy="314325"/>
          </a:xfrm>
          <a:prstGeom prst="rect">
            <a:avLst/>
          </a:prstGeom>
          <a:noFill/>
          <a:ln w="0">
            <a:noFill/>
            <a:prstDash val="solid"/>
          </a:ln>
        </p:spPr>
        <p:txBody>
          <a:bodyPr wrap="square" lIns="0" tIns="0" rIns="0" bIns="0" anchor="t">
            <a:normAutofit fontScale="100000"/>
          </a:bodyPr>
          <a:lstStyle/>
          <a:p>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M6-01  ·  M6-04  ·  M6-07  ·  M6-11</a:t>
            </a:r>
          </a:p>
        </p:txBody>
      </p:sp>
      <p:sp>
        <p:nvSpPr>
          <p:cNvPr id="11" name="">
            <a:extLst>
              <a:ext uri="{FF2B5EF4-FFF2-40B4-BE49-F238E27FC236}">
                <a16:creationId id="{494C5D25-B874-4F72-B15F-A5C83BA57BF8}"/>
              </a:ext>
            </a:extLst>
          </p:cNvPr>
          <p:cNvSpPr>
            <a:spLocks noGrp="1"/>
          </p:cNvSpPr>
          <p:nvPr/>
        </p:nvSpPr>
        <p:spPr>
          <a:xfrm>
            <a:off x="685800" y="4114800"/>
            <a:ext cx="5238750" cy="19050"/>
          </a:xfrm>
          <a:prstGeom prst="rect">
            <a:avLst/>
          </a:prstGeom>
          <a:solidFill>
            <a:srgbClr val="D9E1EC"/>
          </a:solidFill>
          <a:ln w="0">
            <a:noFill/>
            <a:prstDash val="solid"/>
          </a:ln>
        </p:spPr>
      </p:sp>
      <p:sp>
        <p:nvSpPr>
          <p:cNvPr id="12" name="">
            <a:extLst>
              <a:ext uri="{FF2B5EF4-FFF2-40B4-BE49-F238E27FC236}">
                <a16:creationId id="{A82ECBD7-84B3-47D1-A45E-BFEA816A8D03}"/>
              </a:ext>
            </a:extLst>
          </p:cNvPr>
          <p:cNvSpPr>
            <a:spLocks noGrp="1"/>
          </p:cNvSpPr>
          <p:nvPr/>
        </p:nvSpPr>
        <p:spPr>
          <a:xfrm>
            <a:off x="704850" y="4391025"/>
            <a:ext cx="2476500" cy="323850"/>
          </a:xfrm>
          <a:prstGeom prst="rect">
            <a:avLst/>
          </a:prstGeom>
          <a:noFill/>
          <a:ln w="0">
            <a:noFill/>
            <a:prstDash val="solid"/>
          </a:ln>
        </p:spPr>
        <p:txBody>
          <a:bodyPr wrap="square" lIns="0" tIns="0" rIns="0" bIns="0" anchor="t">
            <a:normAutofit fontScale="100000"/>
          </a:bodyPr>
          <a:lstStyle/>
          <a:p>
            <a:pPr algn="l">
              <a:defRPr sz="1725" b="1">
                <a:solidFill>
                  <a:srgbClr val="D87527"/>
                </a:solidFill>
                <a:latin typeface="Noto Sans KR"/>
                <a:ea typeface="Noto Sans KR"/>
                <a:cs typeface="Noto Sans KR"/>
              </a:defRPr>
            </a:pPr>
            <a:r>
              <a:rPr sz="1725" b="1">
                <a:solidFill>
                  <a:srgbClr val="D87527"/>
                </a:solidFill>
                <a:latin typeface="Noto Sans KR"/>
                <a:ea typeface="Noto Sans KR"/>
                <a:cs typeface="Noto Sans KR"/>
              </a:rPr>
              <a:t>부분 적합</a:t>
            </a:r>
          </a:p>
        </p:txBody>
      </p:sp>
      <p:sp>
        <p:nvSpPr>
          <p:cNvPr id="13" name="">
            <a:extLst>
              <a:ext uri="{FF2B5EF4-FFF2-40B4-BE49-F238E27FC236}">
                <a16:creationId id="{95320E60-938A-449D-BED5-4DF5EDBB5F22}"/>
              </a:ext>
            </a:extLst>
          </p:cNvPr>
          <p:cNvSpPr>
            <a:spLocks noGrp="1"/>
          </p:cNvSpPr>
          <p:nvPr/>
        </p:nvSpPr>
        <p:spPr>
          <a:xfrm>
            <a:off x="704850" y="4800600"/>
            <a:ext cx="2762250" cy="571500"/>
          </a:xfrm>
          <a:prstGeom prst="rect">
            <a:avLst/>
          </a:prstGeom>
          <a:noFill/>
          <a:ln w="0">
            <a:noFill/>
            <a:prstDash val="solid"/>
          </a:ln>
        </p:spPr>
        <p:txBody>
          <a:bodyPr wrap="square" lIns="0" tIns="0" rIns="0" bIns="0" anchor="t">
            <a:normAutofit fontScale="100000"/>
          </a:bodyPr>
          <a:lstStyle/>
          <a:p>
            <a:pPr algn="l">
              <a:defRPr sz="3300" b="1">
                <a:solidFill>
                  <a:srgbClr val="D87527"/>
                </a:solidFill>
                <a:latin typeface="Noto Sans KR"/>
                <a:ea typeface="Noto Sans KR"/>
                <a:cs typeface="Noto Sans KR"/>
              </a:defRPr>
            </a:pPr>
            <a:r>
              <a:rPr sz="3300" b="1">
                <a:solidFill>
                  <a:srgbClr val="D87527"/>
                </a:solidFill>
                <a:latin typeface="Noto Sans KR"/>
                <a:ea typeface="Noto Sans KR"/>
                <a:cs typeface="Noto Sans KR"/>
              </a:rPr>
              <a:t>3개 관찰 사례</a:t>
            </a:r>
          </a:p>
        </p:txBody>
      </p:sp>
      <p:sp>
        <p:nvSpPr>
          <p:cNvPr id="14" name="">
            <a:extLst>
              <a:ext uri="{FF2B5EF4-FFF2-40B4-BE49-F238E27FC236}">
                <a16:creationId id="{170BFE86-3123-4BEF-B615-21BDAFA4EC24}"/>
              </a:ext>
            </a:extLst>
          </p:cNvPr>
          <p:cNvSpPr>
            <a:spLocks noGrp="1"/>
          </p:cNvSpPr>
          <p:nvPr/>
        </p:nvSpPr>
        <p:spPr>
          <a:xfrm>
            <a:off x="704850" y="5438775"/>
            <a:ext cx="4476750" cy="295275"/>
          </a:xfrm>
          <a:prstGeom prst="rect">
            <a:avLst/>
          </a:prstGeom>
          <a:noFill/>
          <a:ln w="0">
            <a:noFill/>
            <a:prstDash val="solid"/>
          </a:ln>
        </p:spPr>
        <p:txBody>
          <a:bodyPr wrap="square" lIns="0" tIns="0" rIns="0" bIns="0" anchor="t">
            <a:normAutofit fontScale="100000"/>
          </a:bodyPr>
          <a:lstStyle/>
          <a:p>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M6-06  ·  M6-08  ·  M6-09</a:t>
            </a:r>
          </a:p>
        </p:txBody>
      </p:sp>
      <p:sp>
        <p:nvSpPr>
          <p:cNvPr id="15" name="">
            <a:extLst>
              <a:ext uri="{FF2B5EF4-FFF2-40B4-BE49-F238E27FC236}">
                <a16:creationId id="{F78F59EB-D166-4829-BF6A-05D71CEB1A4B}"/>
              </a:ext>
            </a:extLst>
          </p:cNvPr>
          <p:cNvSpPr>
            <a:spLocks noGrp="1"/>
          </p:cNvSpPr>
          <p:nvPr/>
        </p:nvSpPr>
        <p:spPr>
          <a:xfrm>
            <a:off x="6238875" y="2286000"/>
            <a:ext cx="19050" cy="3429000"/>
          </a:xfrm>
          <a:prstGeom prst="rect">
            <a:avLst/>
          </a:prstGeom>
          <a:solidFill>
            <a:srgbClr val="D9E1EC"/>
          </a:solidFill>
          <a:ln w="0">
            <a:noFill/>
            <a:prstDash val="solid"/>
          </a:ln>
        </p:spPr>
      </p:sp>
      <p:sp>
        <p:nvSpPr>
          <p:cNvPr id="16" name="">
            <a:extLst>
              <a:ext uri="{FF2B5EF4-FFF2-40B4-BE49-F238E27FC236}">
                <a16:creationId id="{937BA458-5F07-4414-BBF4-BB86DCFBFF1F}"/>
              </a:ext>
            </a:extLst>
          </p:cNvPr>
          <p:cNvSpPr>
            <a:spLocks noGrp="1"/>
          </p:cNvSpPr>
          <p:nvPr/>
        </p:nvSpPr>
        <p:spPr>
          <a:xfrm>
            <a:off x="6743700" y="2628900"/>
            <a:ext cx="4000500" cy="323850"/>
          </a:xfrm>
          <a:prstGeom prst="rect">
            <a:avLst/>
          </a:prstGeom>
          <a:noFill/>
          <a:ln w="0">
            <a:noFill/>
            <a:prstDash val="solid"/>
          </a:ln>
        </p:spPr>
        <p:txBody>
          <a:bodyPr wrap="square" lIns="0" tIns="0" rIns="0" bIns="0" anchor="t">
            <a:normAutofit fontScale="100000"/>
          </a:bodyPr>
          <a:lstStyle/>
          <a:p>
            <a:pPr algn="l">
              <a:defRPr sz="1725" b="1">
                <a:solidFill>
                  <a:srgbClr val="B94D45"/>
                </a:solidFill>
                <a:latin typeface="Noto Sans KR"/>
                <a:ea typeface="Noto Sans KR"/>
                <a:cs typeface="Noto Sans KR"/>
              </a:defRPr>
            </a:pPr>
            <a:r>
              <a:rPr sz="1725" b="1">
                <a:solidFill>
                  <a:srgbClr val="B94D45"/>
                </a:solidFill>
                <a:latin typeface="Noto Sans KR"/>
                <a:ea typeface="Noto Sans KR"/>
                <a:cs typeface="Noto Sans KR"/>
              </a:rPr>
              <a:t>무관 이미지 일부</a:t>
            </a:r>
          </a:p>
        </p:txBody>
      </p:sp>
      <p:sp>
        <p:nvSpPr>
          <p:cNvPr id="17" name="">
            <a:extLst>
              <a:ext uri="{FF2B5EF4-FFF2-40B4-BE49-F238E27FC236}">
                <a16:creationId id="{05B94730-88F1-4CC6-BE12-AD6D27361BE0}"/>
              </a:ext>
            </a:extLst>
          </p:cNvPr>
          <p:cNvSpPr>
            <a:spLocks noGrp="1"/>
          </p:cNvSpPr>
          <p:nvPr/>
        </p:nvSpPr>
        <p:spPr>
          <a:xfrm>
            <a:off x="6743700" y="3171825"/>
            <a:ext cx="4000500" cy="476250"/>
          </a:xfrm>
          <a:prstGeom prst="rect">
            <a:avLst/>
          </a:prstGeom>
          <a:noFill/>
          <a:ln w="0">
            <a:noFill/>
            <a:prstDash val="solid"/>
          </a:ln>
        </p:spPr>
        <p:txBody>
          <a:bodyPr wrap="square" lIns="0" tIns="0" rIns="0" bIns="0" anchor="t">
            <a:normAutofit fontScale="100000"/>
          </a:bodyPr>
          <a:lstStyle/>
          <a:p>
            <a:pPr algn="l">
              <a:defRPr sz="2625" b="1">
                <a:solidFill>
                  <a:srgbClr val="B94D45"/>
                </a:solidFill>
                <a:latin typeface="Noto Sans KR"/>
                <a:ea typeface="Noto Sans KR"/>
                <a:cs typeface="Noto Sans KR"/>
              </a:defRPr>
            </a:pPr>
            <a:r>
              <a:rPr sz="2625" b="1">
                <a:solidFill>
                  <a:srgbClr val="B94D45"/>
                </a:solidFill>
                <a:latin typeface="Noto Sans KR"/>
                <a:ea typeface="Noto Sans KR"/>
                <a:cs typeface="Noto Sans KR"/>
              </a:rPr>
              <a:t>M6-03  ·  M6-05</a:t>
            </a:r>
          </a:p>
        </p:txBody>
      </p:sp>
      <p:sp>
        <p:nvSpPr>
          <p:cNvPr id="18" name="">
            <a:extLst>
              <a:ext uri="{FF2B5EF4-FFF2-40B4-BE49-F238E27FC236}">
                <a16:creationId id="{AD4FD94C-2A17-44BA-A6D2-E3E8C1F61E71}"/>
              </a:ext>
            </a:extLst>
          </p:cNvPr>
          <p:cNvSpPr>
            <a:spLocks noGrp="1"/>
          </p:cNvSpPr>
          <p:nvPr/>
        </p:nvSpPr>
        <p:spPr>
          <a:xfrm>
            <a:off x="6743700" y="4029075"/>
            <a:ext cx="4210050" cy="857250"/>
          </a:xfrm>
          <a:prstGeom prst="rect">
            <a:avLst/>
          </a:prstGeom>
          <a:noFill/>
          <a:ln w="0">
            <a:noFill/>
            <a:prstDash val="solid"/>
          </a:ln>
        </p:spPr>
        <p:txBody>
          <a:bodyPr wrap="square" lIns="0" tIns="0" rIns="0" bIns="0" anchor="t">
            <a:normAutofit fontScale="100000"/>
          </a:bodyPr>
          <a:lstStyle/>
          <a:p>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완전 해결이 아니라</a:t>
            </a:r>
          </a:p>
          <a:p>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질문과 관련된 이미지가 더 잘 노출되는 방향</a:t>
            </a:r>
          </a:p>
        </p:txBody>
      </p:sp>
      <p:sp>
        <p:nvSpPr>
          <p:cNvPr id="19" name="">
            <a:extLst>
              <a:ext uri="{FF2B5EF4-FFF2-40B4-BE49-F238E27FC236}">
                <a16:creationId id="{33543D2E-B355-4960-839D-8D3F60766DE8}"/>
              </a:ext>
            </a:extLst>
          </p:cNvPr>
          <p:cNvSpPr>
            <a:spLocks noGrp="1"/>
          </p:cNvSpPr>
          <p:nvPr/>
        </p:nvSpPr>
        <p:spPr>
          <a:xfrm>
            <a:off x="6743700" y="5276850"/>
            <a:ext cx="4095750" cy="304800"/>
          </a:xfrm>
          <a:prstGeom prst="rect">
            <a:avLst/>
          </a:prstGeom>
          <a:noFill/>
          <a:ln w="0">
            <a:noFill/>
            <a:prstDash val="solid"/>
          </a:ln>
        </p:spPr>
        <p:txBody>
          <a:bodyPr wrap="square" lIns="0" tIns="0" rIns="0" bIns="0" anchor="t">
            <a:normAutofit fontScale="100000"/>
          </a:bodyPr>
          <a:lstStyle/>
          <a:p>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정성 관찰 · 공식 Hit@5/MRR와 별도</a:t>
            </a:r>
          </a:p>
        </p:txBody>
      </p:sp>
    </p:spTree>
    <p:extLst>
      <p:ext uri="{BB962C8B-B14F-4D97-AF65-F5344CB8AC3E}">
        <p14:creationId val="1875618367"/>
      </p:ext>
    </p:extLst>
  </p:cSld>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
            <a:extLst>
              <a:ext uri="{FF2B5EF4-FFF2-40B4-BE49-F238E27FC236}">
                <a16:creationId id="{A7E46A9F-9B21-4B4B-ACA1-C39A6AB7824C}"/>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BF8BC0D9-B7C9-46DE-AA1A-68D2918C176D}"/>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품질 개선은 데이터와 문서 구조를 이해하는 데서 시작</a:t>
            </a:r>
          </a:p>
        </p:txBody>
      </p:sp>
      <p:sp>
        <p:nvSpPr>
          <p:cNvPr id="3" name="">
            <a:extLst>
              <a:ext uri="{FF2B5EF4-FFF2-40B4-BE49-F238E27FC236}">
                <a16:creationId id="{150E6B77-546D-48DD-A16A-6E9E8C908683}"/>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7A68042D-845F-4799-A0A8-9C6C183442E5}"/>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3CC8B808-A76F-4DD2-A881-C13FF7B23D45}"/>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15</a:t>
            </a:r>
          </a:p>
        </p:txBody>
      </p:sp>
      <p:sp>
        <p:nvSpPr>
          <p:cNvPr id="6" name="">
            <a:extLst>
              <a:ext uri="{FF2B5EF4-FFF2-40B4-BE49-F238E27FC236}">
                <a16:creationId id="{7FD101F9-5365-4F35-BF78-87F5E3112A1A}"/>
              </a:ext>
            </a:extLst>
          </p:cNvPr>
          <p:cNvSpPr>
            <a:spLocks noGrp="1"/>
          </p:cNvSpPr>
          <p:nvPr/>
        </p:nvSpPr>
        <p:spPr>
          <a:xfrm>
            <a:off x="6858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데이터</a:t>
            </a:r>
          </a:p>
        </p:txBody>
      </p:sp>
      <p:sp>
        <p:nvSpPr>
          <p:cNvPr id="7" name="">
            <a:extLst>
              <a:ext uri="{FF2B5EF4-FFF2-40B4-BE49-F238E27FC236}">
                <a16:creationId id="{81A6321A-295A-4367-86DB-8EF10A7E480D}"/>
              </a:ext>
            </a:extLst>
          </p:cNvPr>
          <p:cNvSpPr>
            <a:spLocks noGrp="1"/>
          </p:cNvSpPr>
          <p:nvPr/>
        </p:nvSpPr>
        <p:spPr>
          <a:xfrm>
            <a:off x="666750" y="2447925"/>
            <a:ext cx="1809750" cy="552450"/>
          </a:xfrm>
          <a:prstGeom prst="rect">
            <a:avLst/>
          </a:prstGeom>
          <a:noFill/>
          <a:ln w="0">
            <a:noFill/>
            <a:prstDash val="solid"/>
          </a:ln>
        </p:spPr>
        <p:txBody>
          <a:bodyPr wrap="square" lIns="0" tIns="0" rIns="0" bIns="0" anchor="t">
            <a:normAutofit fontScale="96667"/>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508p / 947 chunks</a:t>
            </a:r>
          </a:p>
        </p:txBody>
      </p:sp>
      <p:sp>
        <p:nvSpPr>
          <p:cNvPr id="8" name="">
            <a:extLst>
              <a:ext uri="{FF2B5EF4-FFF2-40B4-BE49-F238E27FC236}">
                <a16:creationId id="{85B8B9F4-1393-486C-83C9-5E91267E0CE8}"/>
              </a:ext>
            </a:extLst>
          </p:cNvPr>
          <p:cNvSpPr>
            <a:spLocks noGrp="1"/>
          </p:cNvSpPr>
          <p:nvPr/>
        </p:nvSpPr>
        <p:spPr>
          <a:xfrm>
            <a:off x="2495550" y="2552700"/>
            <a:ext cx="285750" cy="247650"/>
          </a:xfrm>
          <a:prstGeom prst="rightArrow">
            <a:avLst/>
          </a:prstGeom>
          <a:solidFill>
            <a:srgbClr val="2357D8"/>
          </a:solidFill>
          <a:ln w="0">
            <a:noFill/>
            <a:prstDash val="solid"/>
          </a:ln>
        </p:spPr>
      </p:sp>
      <p:sp>
        <p:nvSpPr>
          <p:cNvPr id="9" name="">
            <a:extLst>
              <a:ext uri="{FF2B5EF4-FFF2-40B4-BE49-F238E27FC236}">
                <a16:creationId id="{53F68C46-85F8-46EB-B2A6-9CA4C864A791}"/>
              </a:ext>
            </a:extLst>
          </p:cNvPr>
          <p:cNvSpPr>
            <a:spLocks noGrp="1"/>
          </p:cNvSpPr>
          <p:nvPr/>
        </p:nvSpPr>
        <p:spPr>
          <a:xfrm>
            <a:off x="28575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평가</a:t>
            </a:r>
          </a:p>
        </p:txBody>
      </p:sp>
      <p:sp>
        <p:nvSpPr>
          <p:cNvPr id="10" name="">
            <a:extLst>
              <a:ext uri="{FF2B5EF4-FFF2-40B4-BE49-F238E27FC236}">
                <a16:creationId id="{C1793693-21F1-4165-AFB4-FF4E5FA73D8B}"/>
              </a:ext>
            </a:extLst>
          </p:cNvPr>
          <p:cNvSpPr>
            <a:spLocks noGrp="1"/>
          </p:cNvSpPr>
          <p:nvPr/>
        </p:nvSpPr>
        <p:spPr>
          <a:xfrm>
            <a:off x="2838450" y="2447925"/>
            <a:ext cx="1809750" cy="552450"/>
          </a:xfrm>
          <a:prstGeom prst="rect">
            <a:avLst/>
          </a:prstGeom>
          <a:noFill/>
          <a:ln w="0">
            <a:noFill/>
            <a:prstDash val="solid"/>
          </a:ln>
        </p:spPr>
        <p:txBody>
          <a:bodyPr wrap="square" lIns="0" tIns="0" rIns="0" bIns="0" anchor="t">
            <a:normAutofit fontScale="100000"/>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M6 baseline</a:t>
            </a:r>
          </a:p>
        </p:txBody>
      </p:sp>
      <p:sp>
        <p:nvSpPr>
          <p:cNvPr id="11" name="">
            <a:extLst>
              <a:ext uri="{FF2B5EF4-FFF2-40B4-BE49-F238E27FC236}">
                <a16:creationId id="{7C99DE5F-FA97-46BB-B559-B25D3562F913}"/>
              </a:ext>
            </a:extLst>
          </p:cNvPr>
          <p:cNvSpPr>
            <a:spLocks noGrp="1"/>
          </p:cNvSpPr>
          <p:nvPr/>
        </p:nvSpPr>
        <p:spPr>
          <a:xfrm>
            <a:off x="4667250" y="2552700"/>
            <a:ext cx="285750" cy="247650"/>
          </a:xfrm>
          <a:prstGeom prst="rightArrow">
            <a:avLst/>
          </a:prstGeom>
          <a:solidFill>
            <a:srgbClr val="2357D8"/>
          </a:solidFill>
          <a:ln w="0">
            <a:noFill/>
            <a:prstDash val="solid"/>
          </a:ln>
        </p:spPr>
      </p:sp>
      <p:sp>
        <p:nvSpPr>
          <p:cNvPr id="12" name="">
            <a:extLst>
              <a:ext uri="{FF2B5EF4-FFF2-40B4-BE49-F238E27FC236}">
                <a16:creationId id="{9FAF0BA4-4E2E-4A46-A733-2E203D845065}"/>
              </a:ext>
            </a:extLst>
          </p:cNvPr>
          <p:cNvSpPr>
            <a:spLocks noGrp="1"/>
          </p:cNvSpPr>
          <p:nvPr/>
        </p:nvSpPr>
        <p:spPr>
          <a:xfrm>
            <a:off x="50292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실패 발견</a:t>
            </a:r>
          </a:p>
        </p:txBody>
      </p:sp>
      <p:sp>
        <p:nvSpPr>
          <p:cNvPr id="13" name="">
            <a:extLst>
              <a:ext uri="{FF2B5EF4-FFF2-40B4-BE49-F238E27FC236}">
                <a16:creationId id="{E8E15389-B553-4CB1-BE03-67C668BF5C71}"/>
              </a:ext>
            </a:extLst>
          </p:cNvPr>
          <p:cNvSpPr>
            <a:spLocks noGrp="1"/>
          </p:cNvSpPr>
          <p:nvPr/>
        </p:nvSpPr>
        <p:spPr>
          <a:xfrm>
            <a:off x="5010150" y="2447925"/>
            <a:ext cx="1809750" cy="552450"/>
          </a:xfrm>
          <a:prstGeom prst="rect">
            <a:avLst/>
          </a:prstGeom>
          <a:noFill/>
          <a:ln w="0">
            <a:noFill/>
            <a:prstDash val="solid"/>
          </a:ln>
        </p:spPr>
        <p:txBody>
          <a:bodyPr wrap="square" lIns="0" tIns="0" rIns="0" bIns="0" anchor="t">
            <a:normAutofit fontScale="96667"/>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image relevance</a:t>
            </a:r>
          </a:p>
        </p:txBody>
      </p:sp>
      <p:sp>
        <p:nvSpPr>
          <p:cNvPr id="14" name="">
            <a:extLst>
              <a:ext uri="{FF2B5EF4-FFF2-40B4-BE49-F238E27FC236}">
                <a16:creationId id="{E6CF465D-D96E-453D-97DC-12685C2B68CB}"/>
              </a:ext>
            </a:extLst>
          </p:cNvPr>
          <p:cNvSpPr>
            <a:spLocks noGrp="1"/>
          </p:cNvSpPr>
          <p:nvPr/>
        </p:nvSpPr>
        <p:spPr>
          <a:xfrm>
            <a:off x="6838950" y="2552700"/>
            <a:ext cx="285750" cy="247650"/>
          </a:xfrm>
          <a:prstGeom prst="rightArrow">
            <a:avLst/>
          </a:prstGeom>
          <a:solidFill>
            <a:srgbClr val="2357D8"/>
          </a:solidFill>
          <a:ln w="0">
            <a:noFill/>
            <a:prstDash val="solid"/>
          </a:ln>
        </p:spPr>
      </p:sp>
      <p:sp>
        <p:nvSpPr>
          <p:cNvPr id="15" name="">
            <a:extLst>
              <a:ext uri="{FF2B5EF4-FFF2-40B4-BE49-F238E27FC236}">
                <a16:creationId id="{895FE2A7-2AB2-4773-BBDC-CF77D76BECC4}"/>
              </a:ext>
            </a:extLst>
          </p:cNvPr>
          <p:cNvSpPr>
            <a:spLocks noGrp="1"/>
          </p:cNvSpPr>
          <p:nvPr/>
        </p:nvSpPr>
        <p:spPr>
          <a:xfrm>
            <a:off x="72009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레이아웃 분석</a:t>
            </a:r>
          </a:p>
        </p:txBody>
      </p:sp>
      <p:sp>
        <p:nvSpPr>
          <p:cNvPr id="16" name="">
            <a:extLst>
              <a:ext uri="{FF2B5EF4-FFF2-40B4-BE49-F238E27FC236}">
                <a16:creationId id="{54F6644D-669B-43A6-9303-C31C446452A4}"/>
              </a:ext>
            </a:extLst>
          </p:cNvPr>
          <p:cNvSpPr>
            <a:spLocks noGrp="1"/>
          </p:cNvSpPr>
          <p:nvPr/>
        </p:nvSpPr>
        <p:spPr>
          <a:xfrm>
            <a:off x="7181850" y="2447925"/>
            <a:ext cx="1809750" cy="552450"/>
          </a:xfrm>
          <a:prstGeom prst="rect">
            <a:avLst/>
          </a:prstGeom>
          <a:noFill/>
          <a:ln w="0">
            <a:noFill/>
            <a:prstDash val="solid"/>
          </a:ln>
        </p:spPr>
        <p:txBody>
          <a:bodyPr wrap="square" lIns="0" tIns="0" rIns="0" bIns="0" anchor="t">
            <a:normAutofit fontScale="96667"/>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PDF text geometry</a:t>
            </a:r>
          </a:p>
        </p:txBody>
      </p:sp>
      <p:sp>
        <p:nvSpPr>
          <p:cNvPr id="17" name="">
            <a:extLst>
              <a:ext uri="{FF2B5EF4-FFF2-40B4-BE49-F238E27FC236}">
                <a16:creationId id="{CEB42841-CF95-4332-93F5-EDDDAB23D2DA}"/>
              </a:ext>
            </a:extLst>
          </p:cNvPr>
          <p:cNvSpPr>
            <a:spLocks noGrp="1"/>
          </p:cNvSpPr>
          <p:nvPr/>
        </p:nvSpPr>
        <p:spPr>
          <a:xfrm>
            <a:off x="9010650" y="2552700"/>
            <a:ext cx="285750" cy="247650"/>
          </a:xfrm>
          <a:prstGeom prst="rightArrow">
            <a:avLst/>
          </a:prstGeom>
          <a:solidFill>
            <a:srgbClr val="2357D8"/>
          </a:solidFill>
          <a:ln w="0">
            <a:noFill/>
            <a:prstDash val="solid"/>
          </a:ln>
        </p:spPr>
      </p:sp>
      <p:sp>
        <p:nvSpPr>
          <p:cNvPr id="18" name="">
            <a:extLst>
              <a:ext uri="{FF2B5EF4-FFF2-40B4-BE49-F238E27FC236}">
                <a16:creationId id="{144B511A-D757-40FE-AABA-D33ED041CE8A}"/>
              </a:ext>
            </a:extLst>
          </p:cNvPr>
          <p:cNvSpPr>
            <a:spLocks noGrp="1"/>
          </p:cNvSpPr>
          <p:nvPr/>
        </p:nvSpPr>
        <p:spPr>
          <a:xfrm>
            <a:off x="93726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결과</a:t>
            </a:r>
          </a:p>
        </p:txBody>
      </p:sp>
      <p:sp>
        <p:nvSpPr>
          <p:cNvPr id="19" name="">
            <a:extLst>
              <a:ext uri="{FF2B5EF4-FFF2-40B4-BE49-F238E27FC236}">
                <a16:creationId id="{511A4A97-4129-472B-AF79-120DF388F0A6}"/>
              </a:ext>
            </a:extLst>
          </p:cNvPr>
          <p:cNvSpPr>
            <a:spLocks noGrp="1"/>
          </p:cNvSpPr>
          <p:nvPr/>
        </p:nvSpPr>
        <p:spPr>
          <a:xfrm>
            <a:off x="9353550" y="2447925"/>
            <a:ext cx="1809750" cy="552450"/>
          </a:xfrm>
          <a:prstGeom prst="rect">
            <a:avLst/>
          </a:prstGeom>
          <a:noFill/>
          <a:ln w="0">
            <a:noFill/>
            <a:prstDash val="solid"/>
          </a:ln>
        </p:spPr>
        <p:txBody>
          <a:bodyPr wrap="square" lIns="0" tIns="0" rIns="0" bIns="0" anchor="t">
            <a:normAutofit fontScale="98898"/>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93.2% coverage</a:t>
            </a:r>
          </a:p>
        </p:txBody>
      </p:sp>
      <p:sp>
        <p:nvSpPr>
          <p:cNvPr id="20" name="">
            <a:extLst>
              <a:ext uri="{FF2B5EF4-FFF2-40B4-BE49-F238E27FC236}">
                <a16:creationId id="{74641B88-EDA4-4931-98C9-5C19BF2481D3}"/>
              </a:ext>
            </a:extLst>
          </p:cNvPr>
          <p:cNvSpPr>
            <a:spLocks noGrp="1"/>
          </p:cNvSpPr>
          <p:nvPr/>
        </p:nvSpPr>
        <p:spPr>
          <a:xfrm>
            <a:off x="685800" y="3467100"/>
            <a:ext cx="10820400" cy="19050"/>
          </a:xfrm>
          <a:prstGeom prst="rect">
            <a:avLst/>
          </a:prstGeom>
          <a:solidFill>
            <a:srgbClr val="D9E1EC"/>
          </a:solidFill>
          <a:ln w="0">
            <a:noFill/>
            <a:prstDash val="solid"/>
          </a:ln>
        </p:spPr>
      </p:sp>
      <p:sp>
        <p:nvSpPr>
          <p:cNvPr id="21" name="">
            <a:extLst>
              <a:ext uri="{FF2B5EF4-FFF2-40B4-BE49-F238E27FC236}">
                <a16:creationId id="{ACCF2C3C-BC3C-41A2-8AB7-44B05DD1E193}"/>
              </a:ext>
            </a:extLst>
          </p:cNvPr>
          <p:cNvSpPr>
            <a:spLocks noGrp="1"/>
          </p:cNvSpPr>
          <p:nvPr/>
        </p:nvSpPr>
        <p:spPr>
          <a:xfrm>
            <a:off x="685800" y="3857625"/>
            <a:ext cx="3810000" cy="295275"/>
          </a:xfrm>
          <a:prstGeom prst="rect">
            <a:avLst/>
          </a:prstGeom>
          <a:noFill/>
          <a:ln w="0">
            <a:noFill/>
            <a:prstDash val="solid"/>
          </a:ln>
        </p:spPr>
        <p:txBody>
          <a:bodyPr wrap="square" lIns="0" tIns="0" rIns="0" bIns="0" anchor="t">
            <a:normAutofit fontScale="100000"/>
          </a:bodyPr>
          <a:lstStyle/>
          <a:p>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이번 결과가 말해주는 것</a:t>
            </a:r>
          </a:p>
        </p:txBody>
      </p:sp>
      <p:sp>
        <p:nvSpPr>
          <p:cNvPr id="22" name="">
            <a:extLst>
              <a:ext uri="{FF2B5EF4-FFF2-40B4-BE49-F238E27FC236}">
                <a16:creationId id="{2157D559-ABB4-4585-B63B-FBEC959F1DE1}"/>
              </a:ext>
            </a:extLst>
          </p:cNvPr>
          <p:cNvSpPr>
            <a:spLocks noGrp="1"/>
          </p:cNvSpPr>
          <p:nvPr/>
        </p:nvSpPr>
        <p:spPr>
          <a:xfrm>
            <a:off x="685800" y="4410075"/>
            <a:ext cx="4762500" cy="428625"/>
          </a:xfrm>
          <a:prstGeom prst="rect">
            <a:avLst/>
          </a:prstGeom>
          <a:noFill/>
          <a:ln w="0">
            <a:noFill/>
            <a:prstDash val="solid"/>
          </a:ln>
        </p:spPr>
        <p:txBody>
          <a:bodyPr wrap="square" lIns="0" tIns="0" rIns="0" bIns="0" anchor="t">
            <a:normAutofit fontScale="100000"/>
          </a:bodyPr>
          <a:lstStyle/>
          <a:p>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강한 모델 ≠ 자동 품질 개선</a:t>
            </a:r>
          </a:p>
        </p:txBody>
      </p:sp>
      <p:sp>
        <p:nvSpPr>
          <p:cNvPr id="23" name="">
            <a:extLst>
              <a:ext uri="{FF2B5EF4-FFF2-40B4-BE49-F238E27FC236}">
                <a16:creationId id="{B33ED91F-0F77-49EF-A137-195256BA003F}"/>
              </a:ext>
            </a:extLst>
          </p:cNvPr>
          <p:cNvSpPr>
            <a:spLocks noGrp="1"/>
          </p:cNvSpPr>
          <p:nvPr/>
        </p:nvSpPr>
        <p:spPr>
          <a:xfrm>
            <a:off x="5810250" y="4410075"/>
            <a:ext cx="5619750" cy="619125"/>
          </a:xfrm>
          <a:prstGeom prst="rect">
            <a:avLst/>
          </a:prstGeom>
          <a:noFill/>
          <a:ln w="0">
            <a:noFill/>
            <a:prstDash val="solid"/>
          </a:ln>
        </p:spPr>
        <p:txBody>
          <a:bodyPr wrap="square" lIns="0" tIns="0" rIns="0" bIns="0" anchor="t">
            <a:normAutofit fontScale="96726"/>
          </a:bodyPr>
          <a:lstStyle/>
          <a:p>
            <a:pPr algn="l">
              <a:defRPr sz="2100" b="1">
                <a:solidFill>
                  <a:srgbClr val="2357D8"/>
                </a:solidFill>
                <a:latin typeface="Noto Sans KR"/>
                <a:ea typeface="Noto Sans KR"/>
                <a:cs typeface="Noto Sans KR"/>
              </a:defRPr>
            </a:pPr>
            <a:r>
              <a:rPr sz="2100" b="1">
                <a:solidFill>
                  <a:srgbClr val="2357D8"/>
                </a:solidFill>
                <a:latin typeface="Noto Sans KR"/>
                <a:ea typeface="Noto Sans KR"/>
                <a:cs typeface="Noto Sans KR"/>
              </a:rPr>
              <a:t>PDF 구조와 검색 metadata가 UI 품질을 좌우할 수 있다</a:t>
            </a:r>
          </a:p>
        </p:txBody>
      </p:sp>
      <p:sp>
        <p:nvSpPr>
          <p:cNvPr id="24" name="">
            <a:extLst>
              <a:ext uri="{FF2B5EF4-FFF2-40B4-BE49-F238E27FC236}">
                <a16:creationId id="{1BAD41E7-F2CE-409E-A513-CB2F12272244}"/>
              </a:ext>
            </a:extLst>
          </p:cNvPr>
          <p:cNvSpPr>
            <a:spLocks noGrp="1"/>
          </p:cNvSpPr>
          <p:nvPr/>
        </p:nvSpPr>
        <p:spPr>
          <a:xfrm>
            <a:off x="685800" y="5505450"/>
            <a:ext cx="10477500" cy="323850"/>
          </a:xfrm>
          <a:prstGeom prst="rect">
            <a:avLst/>
          </a:prstGeom>
          <a:noFill/>
          <a:ln w="0">
            <a:noFill/>
            <a:prstDash val="solid"/>
          </a:ln>
        </p:spPr>
        <p:txBody>
          <a:bodyPr wrap="square" lIns="0" tIns="0" rIns="0" bIns="0" anchor="t">
            <a:normAutofit fontScale="100000"/>
          </a:bodyPr>
          <a:lstStyle/>
          <a:p>
            <a:pPr algn="l">
              <a:defRPr sz="1575" b="1">
                <a:solidFill>
                  <a:srgbClr val="B94D45"/>
                </a:solidFill>
                <a:latin typeface="Noto Sans KR"/>
                <a:ea typeface="Noto Sans KR"/>
                <a:cs typeface="Noto Sans KR"/>
              </a:defRPr>
            </a:pPr>
            <a:r>
              <a:rPr sz="1575" b="1">
                <a:solidFill>
                  <a:srgbClr val="B94D45"/>
                </a:solidFill>
                <a:latin typeface="Noto Sans KR"/>
                <a:ea typeface="Noto Sans KR"/>
                <a:cs typeface="Noto Sans KR"/>
              </a:rPr>
              <a:t>남은 검증: 일부 무관 이미지 사례 · M6-05 / M6-11 Top-5 밖</a:t>
            </a:r>
          </a:p>
        </p:txBody>
      </p:sp>
    </p:spTree>
    <p:extLst>
      <p:ext uri="{BB962C8B-B14F-4D97-AF65-F5344CB8AC3E}">
        <p14:creationId val="787708702"/>
      </p:ext>
    </p:extLst>
  </p:cSld>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1" name="">
            <a:extLst>
              <a:ext uri="{FF2B5EF4-FFF2-40B4-BE49-F238E27FC236}">
                <a16:creationId id="{CE4FBC39-DAB8-49F1-ADEA-02D4BB8A08B4}"/>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6578BEB8-EB84-4B73-B47D-1E8BE282D24B}"/>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Vector miss? ???? Hybrid Search</a:t>
            </a:r>
          </a:p>
        </p:txBody>
      </p:sp>
      <p:sp>
        <p:nvSpPr>
          <p:cNvPr id="3" name="">
            <a:extLst>
              <a:ext uri="{FF2B5EF4-FFF2-40B4-BE49-F238E27FC236}">
                <a16:creationId id="{1D7BC4FE-3325-468A-9788-D7EC794F84CC}"/>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85446912-BE91-466A-8B82-6B239C03CB0C}"/>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5DBDD219-2D03-441E-A2EE-5C2AEF96E3DA}"/>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06</a:t>
            </a:r>
          </a:p>
        </p:txBody>
      </p:sp>
      <p:sp>
        <p:nvSpPr>
          <p:cNvPr id="6" name="">
            <a:extLst>
              <a:ext uri="{FF2B5EF4-FFF2-40B4-BE49-F238E27FC236}">
                <a16:creationId id="{1D5507F6-BA7B-46ED-B4C3-A76ACE4D4CD0}"/>
              </a:ext>
            </a:extLst>
          </p:cNvPr>
          <p:cNvSpPr>
            <a:spLocks noGrp="1"/>
          </p:cNvSpPr>
          <p:nvPr/>
        </p:nvSpPr>
        <p:spPr>
          <a:xfrm>
            <a:off x="685800" y="1485900"/>
            <a:ext cx="1143000" cy="266700"/>
          </a:xfrm>
          <a:prstGeom prst="rect">
            <a:avLst/>
          </a:prstGeom>
          <a:noFill/>
          <a:ln w="0">
            <a:noFill/>
            <a:prstDash val="solid"/>
          </a:ln>
        </p:spPr>
        <p:txBody>
          <a:bodyPr wrap="square" lIns="0" tIns="0" rIns="0" bIns="0" anchor="t">
            <a:normAutofit fontScale="100000"/>
          </a:bodyPr>
          <a:lstStyle/>
          <a:p>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 retrieval</a:t>
            </a:r>
          </a:p>
        </p:txBody>
      </p:sp>
      <p:sp>
        <p:nvSpPr>
          <p:cNvPr id="7" name="">
            <a:extLst>
              <a:ext uri="{FF2B5EF4-FFF2-40B4-BE49-F238E27FC236}">
                <a16:creationId id="{C6CCA6C4-9C6F-41D0-81C3-FC61477ED1B4}"/>
              </a:ext>
            </a:extLst>
          </p:cNvPr>
          <p:cNvSpPr>
            <a:spLocks noGrp="1"/>
          </p:cNvSpPr>
          <p:nvPr/>
        </p:nvSpPr>
        <p:spPr>
          <a:xfrm>
            <a:off x="685800" y="1838325"/>
            <a:ext cx="10839450" cy="38100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Vector Search + Keyword LIKE  ?  ?? ??  ?  LLM rerank</a:t>
            </a:r>
          </a:p>
        </p:txBody>
      </p:sp>
      <p:sp>
        <p:nvSpPr>
          <p:cNvPr id="8" name="">
            <a:extLst>
              <a:ext uri="{FF2B5EF4-FFF2-40B4-BE49-F238E27FC236}">
                <a16:creationId id="{E7B4DA24-DA47-43BE-B012-ACA408762DD9}"/>
              </a:ext>
            </a:extLst>
          </p:cNvPr>
          <p:cNvSpPr>
            <a:spLocks noGrp="1"/>
          </p:cNvSpPr>
          <p:nvPr/>
        </p:nvSpPr>
        <p:spPr>
          <a:xfrm>
            <a:off x="685800" y="2390775"/>
            <a:ext cx="10820400" cy="19050"/>
          </a:xfrm>
          <a:prstGeom prst="rect">
            <a:avLst/>
          </a:prstGeom>
          <a:solidFill>
            <a:srgbClr val="D9E1EC"/>
          </a:solidFill>
          <a:ln w="0">
            <a:noFill/>
            <a:prstDash val="solid"/>
          </a:ln>
        </p:spPr>
      </p:sp>
      <p:sp>
        <p:nvSpPr>
          <p:cNvPr id="9" name="">
            <a:extLst>
              <a:ext uri="{FF2B5EF4-FFF2-40B4-BE49-F238E27FC236}">
                <a16:creationId id="{FB85D580-C10B-4DD5-BBC4-ABC8E7F1389D}"/>
              </a:ext>
            </a:extLst>
          </p:cNvPr>
          <p:cNvSpPr>
            <a:spLocks noGrp="1"/>
          </p:cNvSpPr>
          <p:nvPr/>
        </p:nvSpPr>
        <p:spPr>
          <a:xfrm>
            <a:off x="685800" y="2647950"/>
            <a:ext cx="1619250" cy="266700"/>
          </a:xfrm>
          <a:prstGeom prst="rect">
            <a:avLst/>
          </a:prstGeom>
          <a:noFill/>
          <a:ln w="0">
            <a:noFill/>
            <a:prstDash val="solid"/>
          </a:ln>
        </p:spPr>
        <p:txBody>
          <a:bodyPr wrap="square" lIns="0" tIns="0" rIns="0" bIns="0" anchor="t">
            <a:normAutofit fontScale="100000"/>
          </a:bodyPr>
          <a:lstStyle/>
          <a:p>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a:t>
            </a:r>
          </a:p>
        </p:txBody>
      </p:sp>
      <p:sp>
        <p:nvSpPr>
          <p:cNvPr id="10" name="">
            <a:extLst>
              <a:ext uri="{FF2B5EF4-FFF2-40B4-BE49-F238E27FC236}">
                <a16:creationId id="{2AC799EA-3891-4A58-B431-3384C9DFC51B}"/>
              </a:ext>
            </a:extLst>
          </p:cNvPr>
          <p:cNvSpPr>
            <a:spLocks noGrp="1"/>
          </p:cNvSpPr>
          <p:nvPr/>
        </p:nvSpPr>
        <p:spPr>
          <a:xfrm>
            <a:off x="666750" y="3333750"/>
            <a:ext cx="1476375" cy="1200150"/>
          </a:xfrm>
          <a:prstGeom prst="roundRect">
            <a:avLst>
              <a:gd name="adj" fmla="val 12698"/>
            </a:avLst>
          </a:prstGeom>
          <a:solidFill>
            <a:srgbClr val="FFFFFF"/>
          </a:solidFill>
          <a:ln w="9525">
            <a:solidFill>
              <a:srgbClr val="D9E1EC"/>
            </a:solidFill>
            <a:prstDash val="solid"/>
          </a:ln>
        </p:spPr>
      </p:sp>
      <p:sp>
        <p:nvSpPr>
          <p:cNvPr id="11" name="">
            <a:extLst>
              <a:ext uri="{FF2B5EF4-FFF2-40B4-BE49-F238E27FC236}">
                <a16:creationId id="{A37FC83B-AB8E-4068-800D-66229226CBBC}"/>
              </a:ext>
            </a:extLst>
          </p:cNvPr>
          <p:cNvSpPr>
            <a:spLocks noGrp="1"/>
          </p:cNvSpPr>
          <p:nvPr/>
        </p:nvSpPr>
        <p:spPr>
          <a:xfrm>
            <a:off x="666750" y="3333750"/>
            <a:ext cx="66675" cy="1200150"/>
          </a:xfrm>
          <a:prstGeom prst="rect">
            <a:avLst/>
          </a:prstGeom>
          <a:solidFill>
            <a:srgbClr val="2357D8"/>
          </a:solidFill>
          <a:ln w="0">
            <a:noFill/>
            <a:prstDash val="solid"/>
          </a:ln>
        </p:spPr>
      </p:sp>
      <p:sp>
        <p:nvSpPr>
          <p:cNvPr id="12" name="">
            <a:extLst>
              <a:ext uri="{FF2B5EF4-FFF2-40B4-BE49-F238E27FC236}">
                <a16:creationId id="{6194A200-8B19-4E85-8AD3-D071466F77E8}"/>
              </a:ext>
            </a:extLst>
          </p:cNvPr>
          <p:cNvSpPr>
            <a:spLocks noGrp="1"/>
          </p:cNvSpPr>
          <p:nvPr/>
        </p:nvSpPr>
        <p:spPr>
          <a:xfrm>
            <a:off x="83820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a:t>
            </a:r>
          </a:p>
        </p:txBody>
      </p:sp>
      <p:sp>
        <p:nvSpPr>
          <p:cNvPr id="13" name="">
            <a:extLst>
              <a:ext uri="{FF2B5EF4-FFF2-40B4-BE49-F238E27FC236}">
                <a16:creationId id="{BF1B8382-271F-45C5-AA7E-82710441F674}"/>
              </a:ext>
            </a:extLst>
          </p:cNvPr>
          <p:cNvSpPr>
            <a:spLocks noGrp="1"/>
          </p:cNvSpPr>
          <p:nvPr/>
        </p:nvSpPr>
        <p:spPr>
          <a:xfrm>
            <a:off x="83820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phrase / term</a:t>
            </a:r>
          </a:p>
        </p:txBody>
      </p:sp>
      <p:sp>
        <p:nvSpPr>
          <p:cNvPr id="14" name="">
            <a:extLst>
              <a:ext uri="{FF2B5EF4-FFF2-40B4-BE49-F238E27FC236}">
                <a16:creationId id="{72BA6EB8-957B-40E8-99D2-85E6E495901D}"/>
              </a:ext>
            </a:extLst>
          </p:cNvPr>
          <p:cNvSpPr>
            <a:spLocks noGrp="1"/>
          </p:cNvSpPr>
          <p:nvPr/>
        </p:nvSpPr>
        <p:spPr>
          <a:xfrm>
            <a:off x="2200275" y="3800475"/>
            <a:ext cx="285750" cy="247650"/>
          </a:xfrm>
          <a:prstGeom prst="rightArrow">
            <a:avLst/>
          </a:prstGeom>
          <a:solidFill>
            <a:srgbClr val="2357D8"/>
          </a:solidFill>
          <a:ln w="0">
            <a:noFill/>
            <a:prstDash val="solid"/>
          </a:ln>
        </p:spPr>
      </p:sp>
      <p:sp>
        <p:nvSpPr>
          <p:cNvPr id="15" name="">
            <a:extLst>
              <a:ext uri="{FF2B5EF4-FFF2-40B4-BE49-F238E27FC236}">
                <a16:creationId id="{8D4E9DD7-1DE3-4391-BC9B-E3708FD3BC7F}"/>
              </a:ext>
            </a:extLst>
          </p:cNvPr>
          <p:cNvSpPr>
            <a:spLocks noGrp="1"/>
          </p:cNvSpPr>
          <p:nvPr/>
        </p:nvSpPr>
        <p:spPr>
          <a:xfrm>
            <a:off x="2552700" y="3333750"/>
            <a:ext cx="1476375" cy="1200150"/>
          </a:xfrm>
          <a:prstGeom prst="roundRect">
            <a:avLst>
              <a:gd name="adj" fmla="val 12698"/>
            </a:avLst>
          </a:prstGeom>
          <a:solidFill>
            <a:srgbClr val="FFFFFF"/>
          </a:solidFill>
          <a:ln w="9525">
            <a:solidFill>
              <a:srgbClr val="D9E1EC"/>
            </a:solidFill>
            <a:prstDash val="solid"/>
          </a:ln>
        </p:spPr>
      </p:sp>
      <p:sp>
        <p:nvSpPr>
          <p:cNvPr id="16" name="">
            <a:extLst>
              <a:ext uri="{FF2B5EF4-FFF2-40B4-BE49-F238E27FC236}">
                <a16:creationId id="{702E7782-92B3-48E1-BEFC-56E9F374AF7A}"/>
              </a:ext>
            </a:extLst>
          </p:cNvPr>
          <p:cNvSpPr>
            <a:spLocks noGrp="1"/>
          </p:cNvSpPr>
          <p:nvPr/>
        </p:nvSpPr>
        <p:spPr>
          <a:xfrm>
            <a:off x="2552700" y="3333750"/>
            <a:ext cx="66675" cy="1200150"/>
          </a:xfrm>
          <a:prstGeom prst="rect">
            <a:avLst/>
          </a:prstGeom>
          <a:solidFill>
            <a:srgbClr val="2357D8"/>
          </a:solidFill>
          <a:ln w="0">
            <a:noFill/>
            <a:prstDash val="solid"/>
          </a:ln>
        </p:spPr>
      </p:sp>
      <p:sp>
        <p:nvSpPr>
          <p:cNvPr id="17" name="">
            <a:extLst>
              <a:ext uri="{FF2B5EF4-FFF2-40B4-BE49-F238E27FC236}">
                <a16:creationId id="{85D26269-6305-4B82-8C66-1D757BFB2DD7}"/>
              </a:ext>
            </a:extLst>
          </p:cNvPr>
          <p:cNvSpPr>
            <a:spLocks noGrp="1"/>
          </p:cNvSpPr>
          <p:nvPr/>
        </p:nvSpPr>
        <p:spPr>
          <a:xfrm>
            <a:off x="272415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Embedding</a:t>
            </a:r>
          </a:p>
        </p:txBody>
      </p:sp>
      <p:sp>
        <p:nvSpPr>
          <p:cNvPr id="18" name="">
            <a:extLst>
              <a:ext uri="{FF2B5EF4-FFF2-40B4-BE49-F238E27FC236}">
                <a16:creationId id="{999DEC0E-4BAE-4F72-8FAB-CEC14920915B}"/>
              </a:ext>
            </a:extLst>
          </p:cNvPr>
          <p:cNvSpPr>
            <a:spLocks noGrp="1"/>
          </p:cNvSpPr>
          <p:nvPr/>
        </p:nvSpPr>
        <p:spPr>
          <a:xfrm>
            <a:off x="272415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Vector Top-K</a:t>
            </a:r>
          </a:p>
        </p:txBody>
      </p:sp>
      <p:sp>
        <p:nvSpPr>
          <p:cNvPr id="19" name="">
            <a:extLst>
              <a:ext uri="{FF2B5EF4-FFF2-40B4-BE49-F238E27FC236}">
                <a16:creationId id="{A3A826B6-7372-4ACB-80C1-A4D9CD94E6C4}"/>
              </a:ext>
            </a:extLst>
          </p:cNvPr>
          <p:cNvSpPr>
            <a:spLocks noGrp="1"/>
          </p:cNvSpPr>
          <p:nvPr/>
        </p:nvSpPr>
        <p:spPr>
          <a:xfrm>
            <a:off x="4086225" y="3800475"/>
            <a:ext cx="285750" cy="247650"/>
          </a:xfrm>
          <a:prstGeom prst="rightArrow">
            <a:avLst/>
          </a:prstGeom>
          <a:solidFill>
            <a:srgbClr val="2357D8"/>
          </a:solidFill>
          <a:ln w="0">
            <a:noFill/>
            <a:prstDash val="solid"/>
          </a:ln>
        </p:spPr>
      </p:sp>
      <p:sp>
        <p:nvSpPr>
          <p:cNvPr id="20" name="">
            <a:extLst>
              <a:ext uri="{FF2B5EF4-FFF2-40B4-BE49-F238E27FC236}">
                <a16:creationId id="{DB0F48D2-A9AD-47BF-8148-F62841682C59}"/>
              </a:ext>
            </a:extLst>
          </p:cNvPr>
          <p:cNvSpPr>
            <a:spLocks noGrp="1"/>
          </p:cNvSpPr>
          <p:nvPr/>
        </p:nvSpPr>
        <p:spPr>
          <a:xfrm>
            <a:off x="4438650" y="3333750"/>
            <a:ext cx="1476375" cy="1200150"/>
          </a:xfrm>
          <a:prstGeom prst="roundRect">
            <a:avLst>
              <a:gd name="adj" fmla="val 12698"/>
            </a:avLst>
          </a:prstGeom>
          <a:solidFill>
            <a:srgbClr val="FFFFFF"/>
          </a:solidFill>
          <a:ln w="9525">
            <a:solidFill>
              <a:srgbClr val="D9E1EC"/>
            </a:solidFill>
            <a:prstDash val="solid"/>
          </a:ln>
        </p:spPr>
      </p:sp>
      <p:sp>
        <p:nvSpPr>
          <p:cNvPr id="21" name="">
            <a:extLst>
              <a:ext uri="{FF2B5EF4-FFF2-40B4-BE49-F238E27FC236}">
                <a16:creationId id="{8808B679-C8F7-4A89-9137-F80059A5B795}"/>
              </a:ext>
            </a:extLst>
          </p:cNvPr>
          <p:cNvSpPr>
            <a:spLocks noGrp="1"/>
          </p:cNvSpPr>
          <p:nvPr/>
        </p:nvSpPr>
        <p:spPr>
          <a:xfrm>
            <a:off x="4438650" y="3333750"/>
            <a:ext cx="66675" cy="1200150"/>
          </a:xfrm>
          <a:prstGeom prst="rect">
            <a:avLst/>
          </a:prstGeom>
          <a:solidFill>
            <a:srgbClr val="008A91"/>
          </a:solidFill>
          <a:ln w="0">
            <a:noFill/>
            <a:prstDash val="solid"/>
          </a:ln>
        </p:spPr>
      </p:sp>
      <p:sp>
        <p:nvSpPr>
          <p:cNvPr id="22" name="">
            <a:extLst>
              <a:ext uri="{FF2B5EF4-FFF2-40B4-BE49-F238E27FC236}">
                <a16:creationId id="{770FC91B-6D09-406E-B62B-CD20F9FA4BE3}"/>
              </a:ext>
            </a:extLst>
          </p:cNvPr>
          <p:cNvSpPr>
            <a:spLocks noGrp="1"/>
          </p:cNvSpPr>
          <p:nvPr/>
        </p:nvSpPr>
        <p:spPr>
          <a:xfrm>
            <a:off x="461010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Keyword ??</a:t>
            </a:r>
          </a:p>
        </p:txBody>
      </p:sp>
      <p:sp>
        <p:nvSpPr>
          <p:cNvPr id="23" name="">
            <a:extLst>
              <a:ext uri="{FF2B5EF4-FFF2-40B4-BE49-F238E27FC236}">
                <a16:creationId id="{3E7C01E2-C336-42DD-8E90-76E69E458C64}"/>
              </a:ext>
            </a:extLst>
          </p:cNvPr>
          <p:cNvSpPr>
            <a:spLocks noGrp="1"/>
          </p:cNvSpPr>
          <p:nvPr/>
        </p:nvSpPr>
        <p:spPr>
          <a:xfrm>
            <a:off x="461010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LIKE OR</a:t>
            </a:r>
          </a:p>
        </p:txBody>
      </p:sp>
      <p:sp>
        <p:nvSpPr>
          <p:cNvPr id="24" name="">
            <a:extLst>
              <a:ext uri="{FF2B5EF4-FFF2-40B4-BE49-F238E27FC236}">
                <a16:creationId id="{6A04006C-A8C2-45C3-8A37-16D6DDDDBFE1}"/>
              </a:ext>
            </a:extLst>
          </p:cNvPr>
          <p:cNvSpPr>
            <a:spLocks noGrp="1"/>
          </p:cNvSpPr>
          <p:nvPr/>
        </p:nvSpPr>
        <p:spPr>
          <a:xfrm>
            <a:off x="5972175" y="3800475"/>
            <a:ext cx="285750" cy="247650"/>
          </a:xfrm>
          <a:prstGeom prst="rightArrow">
            <a:avLst/>
          </a:prstGeom>
          <a:solidFill>
            <a:srgbClr val="2357D8"/>
          </a:solidFill>
          <a:ln w="0">
            <a:noFill/>
            <a:prstDash val="solid"/>
          </a:ln>
        </p:spPr>
      </p:sp>
      <p:sp>
        <p:nvSpPr>
          <p:cNvPr id="25" name="">
            <a:extLst>
              <a:ext uri="{FF2B5EF4-FFF2-40B4-BE49-F238E27FC236}">
                <a16:creationId id="{11E43AC3-85C0-4C6B-81B9-981E7DA984A1}"/>
              </a:ext>
            </a:extLst>
          </p:cNvPr>
          <p:cNvSpPr>
            <a:spLocks noGrp="1"/>
          </p:cNvSpPr>
          <p:nvPr/>
        </p:nvSpPr>
        <p:spPr>
          <a:xfrm>
            <a:off x="6324600" y="3333750"/>
            <a:ext cx="1476375" cy="1200150"/>
          </a:xfrm>
          <a:prstGeom prst="roundRect">
            <a:avLst>
              <a:gd name="adj" fmla="val 12698"/>
            </a:avLst>
          </a:prstGeom>
          <a:solidFill>
            <a:srgbClr val="FFFFFF"/>
          </a:solidFill>
          <a:ln w="9525">
            <a:solidFill>
              <a:srgbClr val="D9E1EC"/>
            </a:solidFill>
            <a:prstDash val="solid"/>
          </a:ln>
        </p:spPr>
      </p:sp>
      <p:sp>
        <p:nvSpPr>
          <p:cNvPr id="26" name="">
            <a:extLst>
              <a:ext uri="{FF2B5EF4-FFF2-40B4-BE49-F238E27FC236}">
                <a16:creationId id="{3CB56940-8FBD-484D-93C4-31164FA00FB5}"/>
              </a:ext>
            </a:extLst>
          </p:cNvPr>
          <p:cNvSpPr>
            <a:spLocks noGrp="1"/>
          </p:cNvSpPr>
          <p:nvPr/>
        </p:nvSpPr>
        <p:spPr>
          <a:xfrm>
            <a:off x="6324600" y="3333750"/>
            <a:ext cx="66675" cy="1200150"/>
          </a:xfrm>
          <a:prstGeom prst="rect">
            <a:avLst/>
          </a:prstGeom>
          <a:solidFill>
            <a:srgbClr val="2357D8"/>
          </a:solidFill>
          <a:ln w="0">
            <a:noFill/>
            <a:prstDash val="solid"/>
          </a:ln>
        </p:spPr>
      </p:sp>
      <p:sp>
        <p:nvSpPr>
          <p:cNvPr id="27" name="">
            <a:extLst>
              <a:ext uri="{FF2B5EF4-FFF2-40B4-BE49-F238E27FC236}">
                <a16:creationId id="{F3093CAD-D6CD-470E-8341-98F0FF878546}"/>
              </a:ext>
            </a:extLst>
          </p:cNvPr>
          <p:cNvSpPr>
            <a:spLocks noGrp="1"/>
          </p:cNvSpPr>
          <p:nvPr/>
        </p:nvSpPr>
        <p:spPr>
          <a:xfrm>
            <a:off x="649605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 ??</a:t>
            </a:r>
          </a:p>
        </p:txBody>
      </p:sp>
      <p:sp>
        <p:nvSpPr>
          <p:cNvPr id="28" name="">
            <a:extLst>
              <a:ext uri="{FF2B5EF4-FFF2-40B4-BE49-F238E27FC236}">
                <a16:creationId id="{74221C71-501E-469F-B419-C16FC4198545}"/>
              </a:ext>
            </a:extLst>
          </p:cNvPr>
          <p:cNvSpPr>
            <a:spLocks noGrp="1"/>
          </p:cNvSpPr>
          <p:nvPr/>
        </p:nvSpPr>
        <p:spPr>
          <a:xfrm>
            <a:off x="649605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phrase +3 / term +1</a:t>
            </a:r>
          </a:p>
        </p:txBody>
      </p:sp>
      <p:sp>
        <p:nvSpPr>
          <p:cNvPr id="29" name="">
            <a:extLst>
              <a:ext uri="{FF2B5EF4-FFF2-40B4-BE49-F238E27FC236}">
                <a16:creationId id="{E2CAAE08-548F-4C70-BEBA-563BBB255508}"/>
              </a:ext>
            </a:extLst>
          </p:cNvPr>
          <p:cNvSpPr>
            <a:spLocks noGrp="1"/>
          </p:cNvSpPr>
          <p:nvPr/>
        </p:nvSpPr>
        <p:spPr>
          <a:xfrm>
            <a:off x="7858125" y="3800475"/>
            <a:ext cx="285750" cy="247650"/>
          </a:xfrm>
          <a:prstGeom prst="rightArrow">
            <a:avLst/>
          </a:prstGeom>
          <a:solidFill>
            <a:srgbClr val="2357D8"/>
          </a:solidFill>
          <a:ln w="0">
            <a:noFill/>
            <a:prstDash val="solid"/>
          </a:ln>
        </p:spPr>
      </p:sp>
      <p:sp>
        <p:nvSpPr>
          <p:cNvPr id="30" name="">
            <a:extLst>
              <a:ext uri="{FF2B5EF4-FFF2-40B4-BE49-F238E27FC236}">
                <a16:creationId id="{21AAF541-B6F9-4C9C-8C2C-452AC108D027}"/>
              </a:ext>
            </a:extLst>
          </p:cNvPr>
          <p:cNvSpPr>
            <a:spLocks noGrp="1"/>
          </p:cNvSpPr>
          <p:nvPr/>
        </p:nvSpPr>
        <p:spPr>
          <a:xfrm>
            <a:off x="8210550" y="3333750"/>
            <a:ext cx="1476375" cy="1200150"/>
          </a:xfrm>
          <a:prstGeom prst="roundRect">
            <a:avLst>
              <a:gd name="adj" fmla="val 12698"/>
            </a:avLst>
          </a:prstGeom>
          <a:solidFill>
            <a:srgbClr val="FFFFFF"/>
          </a:solidFill>
          <a:ln w="9525">
            <a:solidFill>
              <a:srgbClr val="D9E1EC"/>
            </a:solidFill>
            <a:prstDash val="solid"/>
          </a:ln>
        </p:spPr>
      </p:sp>
      <p:sp>
        <p:nvSpPr>
          <p:cNvPr id="31" name="">
            <a:extLst>
              <a:ext uri="{FF2B5EF4-FFF2-40B4-BE49-F238E27FC236}">
                <a16:creationId id="{4D875D09-78BF-4A3F-88F1-97708928D714}"/>
              </a:ext>
            </a:extLst>
          </p:cNvPr>
          <p:cNvSpPr>
            <a:spLocks noGrp="1"/>
          </p:cNvSpPr>
          <p:nvPr/>
        </p:nvSpPr>
        <p:spPr>
          <a:xfrm>
            <a:off x="8210550" y="3333750"/>
            <a:ext cx="66675" cy="1200150"/>
          </a:xfrm>
          <a:prstGeom prst="rect">
            <a:avLst/>
          </a:prstGeom>
          <a:solidFill>
            <a:srgbClr val="2357D8"/>
          </a:solidFill>
          <a:ln w="0">
            <a:noFill/>
            <a:prstDash val="solid"/>
          </a:ln>
        </p:spPr>
      </p:sp>
      <p:sp>
        <p:nvSpPr>
          <p:cNvPr id="32" name="">
            <a:extLst>
              <a:ext uri="{FF2B5EF4-FFF2-40B4-BE49-F238E27FC236}">
                <a16:creationId id="{AA67CC2F-D677-4AB3-97CC-EBF4AA1C1282}"/>
              </a:ext>
            </a:extLst>
          </p:cNvPr>
          <p:cNvSpPr>
            <a:spLocks noGrp="1"/>
          </p:cNvSpPr>
          <p:nvPr/>
        </p:nvSpPr>
        <p:spPr>
          <a:xfrm>
            <a:off x="838200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LLM rerank</a:t>
            </a:r>
          </a:p>
        </p:txBody>
      </p:sp>
      <p:sp>
        <p:nvSpPr>
          <p:cNvPr id="33" name="">
            <a:extLst>
              <a:ext uri="{FF2B5EF4-FFF2-40B4-BE49-F238E27FC236}">
                <a16:creationId id="{A0BA0C20-15D4-4B25-87F1-43918CB5FBC4}"/>
              </a:ext>
            </a:extLst>
          </p:cNvPr>
          <p:cNvSpPr>
            <a:spLocks noGrp="1"/>
          </p:cNvSpPr>
          <p:nvPr/>
        </p:nvSpPr>
        <p:spPr>
          <a:xfrm>
            <a:off x="838200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a:t>
            </a:r>
          </a:p>
        </p:txBody>
      </p:sp>
      <p:sp>
        <p:nvSpPr>
          <p:cNvPr id="34" name="">
            <a:extLst>
              <a:ext uri="{FF2B5EF4-FFF2-40B4-BE49-F238E27FC236}">
                <a16:creationId id="{7F745D15-0F41-4295-A74D-58D68F8DA064}"/>
              </a:ext>
            </a:extLst>
          </p:cNvPr>
          <p:cNvSpPr>
            <a:spLocks noGrp="1"/>
          </p:cNvSpPr>
          <p:nvPr/>
        </p:nvSpPr>
        <p:spPr>
          <a:xfrm>
            <a:off x="9744075" y="3800475"/>
            <a:ext cx="285750" cy="247650"/>
          </a:xfrm>
          <a:prstGeom prst="rightArrow">
            <a:avLst/>
          </a:prstGeom>
          <a:solidFill>
            <a:srgbClr val="2357D8"/>
          </a:solidFill>
          <a:ln w="0">
            <a:noFill/>
            <a:prstDash val="solid"/>
          </a:ln>
        </p:spPr>
      </p:sp>
      <p:sp>
        <p:nvSpPr>
          <p:cNvPr id="35" name="">
            <a:extLst>
              <a:ext uri="{FF2B5EF4-FFF2-40B4-BE49-F238E27FC236}">
                <a16:creationId id="{BFC8A2CA-7022-4D0F-A6E0-F9DE4387E30A}"/>
              </a:ext>
            </a:extLst>
          </p:cNvPr>
          <p:cNvSpPr>
            <a:spLocks noGrp="1"/>
          </p:cNvSpPr>
          <p:nvPr/>
        </p:nvSpPr>
        <p:spPr>
          <a:xfrm>
            <a:off x="10096500" y="3333750"/>
            <a:ext cx="1476375" cy="1200150"/>
          </a:xfrm>
          <a:prstGeom prst="roundRect">
            <a:avLst>
              <a:gd name="adj" fmla="val 12698"/>
            </a:avLst>
          </a:prstGeom>
          <a:solidFill>
            <a:srgbClr val="FFFFFF"/>
          </a:solidFill>
          <a:ln w="9525">
            <a:solidFill>
              <a:srgbClr val="D9E1EC"/>
            </a:solidFill>
            <a:prstDash val="solid"/>
          </a:ln>
        </p:spPr>
      </p:sp>
      <p:sp>
        <p:nvSpPr>
          <p:cNvPr id="36" name="">
            <a:extLst>
              <a:ext uri="{FF2B5EF4-FFF2-40B4-BE49-F238E27FC236}">
                <a16:creationId id="{F8656E6B-898C-46C1-AF78-8C320153E9EE}"/>
              </a:ext>
            </a:extLst>
          </p:cNvPr>
          <p:cNvSpPr>
            <a:spLocks noGrp="1"/>
          </p:cNvSpPr>
          <p:nvPr/>
        </p:nvSpPr>
        <p:spPr>
          <a:xfrm>
            <a:off x="10096500" y="3333750"/>
            <a:ext cx="66675" cy="1200150"/>
          </a:xfrm>
          <a:prstGeom prst="rect">
            <a:avLst/>
          </a:prstGeom>
          <a:solidFill>
            <a:srgbClr val="2357D8"/>
          </a:solidFill>
          <a:ln w="0">
            <a:noFill/>
            <a:prstDash val="solid"/>
          </a:ln>
        </p:spPr>
      </p:sp>
      <p:sp>
        <p:nvSpPr>
          <p:cNvPr id="37" name="">
            <a:extLst>
              <a:ext uri="{FF2B5EF4-FFF2-40B4-BE49-F238E27FC236}">
                <a16:creationId id="{072368EF-83DC-4E84-9C75-3F6466223830}"/>
              </a:ext>
            </a:extLst>
          </p:cNvPr>
          <p:cNvSpPr>
            <a:spLocks noGrp="1"/>
          </p:cNvSpPr>
          <p:nvPr/>
        </p:nvSpPr>
        <p:spPr>
          <a:xfrm>
            <a:off x="10267950" y="3505200"/>
            <a:ext cx="1171575" cy="219075"/>
          </a:xfrm>
          <a:prstGeom prst="rect">
            <a:avLst/>
          </a:prstGeom>
          <a:noFill/>
          <a:ln w="0">
            <a:noFill/>
            <a:prstDash val="solid"/>
          </a:ln>
        </p:spPr>
        <p:txBody>
          <a:bodyPr wrap="square" lIns="0" tIns="0" rIns="0" bIns="0" anchor="t">
            <a:normAutofit fontScale="100000"/>
          </a:bodyPr>
          <a:lstStyle/>
          <a:p>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 ??</a:t>
            </a:r>
          </a:p>
        </p:txBody>
      </p:sp>
      <p:sp>
        <p:nvSpPr>
          <p:cNvPr id="38" name="">
            <a:extLst>
              <a:ext uri="{FF2B5EF4-FFF2-40B4-BE49-F238E27FC236}">
                <a16:creationId id="{E33BEFB9-BF3A-4DFC-99A9-95F04E7F696F}"/>
              </a:ext>
            </a:extLst>
          </p:cNvPr>
          <p:cNvSpPr>
            <a:spLocks noGrp="1"/>
          </p:cNvSpPr>
          <p:nvPr/>
        </p:nvSpPr>
        <p:spPr>
          <a:xfrm>
            <a:off x="10267950" y="3829050"/>
            <a:ext cx="1171575" cy="609600"/>
          </a:xfrm>
          <a:prstGeom prst="rect">
            <a:avLst/>
          </a:prstGeom>
          <a:noFill/>
          <a:ln w="0">
            <a:noFill/>
            <a:prstDash val="solid"/>
          </a:ln>
        </p:spPr>
        <p:txBody>
          <a:bodyPr wrap="square" lIns="0" tIns="0" rIns="0" bIns="0" anchor="t">
            <a:normAutofit fontScale="100000"/>
          </a:bodyPr>
          <a:lstStyle/>
          <a:p>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 ??</a:t>
            </a:r>
          </a:p>
        </p:txBody>
      </p:sp>
      <p:sp>
        <p:nvSpPr>
          <p:cNvPr id="39" name="">
            <a:extLst>
              <a:ext uri="{FF2B5EF4-FFF2-40B4-BE49-F238E27FC236}">
                <a16:creationId id="{9E5AE7BC-456A-40A2-BBBE-9C01EE2064E2}"/>
              </a:ext>
            </a:extLst>
          </p:cNvPr>
          <p:cNvSpPr>
            <a:spLocks noGrp="1"/>
          </p:cNvSpPr>
          <p:nvPr/>
        </p:nvSpPr>
        <p:spPr>
          <a:xfrm>
            <a:off x="685800" y="5238750"/>
            <a:ext cx="10668000" cy="30480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Vector ? Keyword branch? ?? session?? ?? ??</a:t>
            </a:r>
          </a:p>
        </p:txBody>
      </p:sp>
      <p:sp>
        <p:nvSpPr>
          <p:cNvPr id="40" name="">
            <a:extLst>
              <a:ext uri="{FF2B5EF4-FFF2-40B4-BE49-F238E27FC236}">
                <a16:creationId id="{0B951415-37D1-4388-A1A0-E26D93D4C859}"/>
              </a:ext>
            </a:extLst>
          </p:cNvPr>
          <p:cNvSpPr>
            <a:spLocks noGrp="1"/>
          </p:cNvSpPr>
          <p:nvPr/>
        </p:nvSpPr>
        <p:spPr>
          <a:xfrm>
            <a:off x="685800" y="5638800"/>
            <a:ext cx="4762500" cy="266700"/>
          </a:xfrm>
          <a:prstGeom prst="rect">
            <a:avLst/>
          </a:prstGeom>
          <a:noFill/>
          <a:ln w="0">
            <a:noFill/>
            <a:prstDash val="solid"/>
          </a:ln>
        </p:spPr>
        <p:txBody>
          <a:bodyPr wrap="square" lIns="0" tIns="0" rIns="0" bIns="0" anchor="t">
            <a:normAutofit fontScale="100000"/>
          </a:bodyPr>
          <a:lstStyle/>
          <a:p>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 ?? ?? ?? ? Hybrid? 94%? ?? ???? ??? ?? ??</a:t>
            </a:r>
          </a:p>
        </p:txBody>
      </p:sp>
    </p:spTree>
    <p:extLst>
      <p:ext uri="{BB962C8B-B14F-4D97-AF65-F5344CB8AC3E}">
        <p14:creationId val="1894248681"/>
      </p:ext>
    </p:extLst>
  </p:cSld>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
            <a:extLst>
              <a:ext uri="{FF2B5EF4-FFF2-40B4-BE49-F238E27FC236}">
                <a16:creationId id="{A7E46A9F-9B21-4B4B-ACA1-C39A6AB7824C}"/>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BF8BC0D9-B7C9-46DE-AA1A-68D2918C176D}"/>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 ?? ??? ?? latency? ??</a:t>
            </a:r>
          </a:p>
        </p:txBody>
      </p:sp>
      <p:sp>
        <p:nvSpPr>
          <p:cNvPr id="3" name="">
            <a:extLst>
              <a:ext uri="{FF2B5EF4-FFF2-40B4-BE49-F238E27FC236}">
                <a16:creationId id="{150E6B77-546D-48DD-A16A-6E9E8C908683}"/>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7A68042D-845F-4799-A0A8-9C6C183442E5}"/>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3CC8B808-A76F-4DD2-A881-C13FF7B23D45}"/>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13</a:t>
            </a:r>
          </a:p>
        </p:txBody>
      </p:sp>
      <p:sp>
        <p:nvSpPr>
          <p:cNvPr id="6" name="">
            <a:extLst>
              <a:ext uri="{FF2B5EF4-FFF2-40B4-BE49-F238E27FC236}">
                <a16:creationId id="{7FD101F9-5365-4F35-BF78-87F5E3112A1A}"/>
              </a:ext>
            </a:extLst>
          </p:cNvPr>
          <p:cNvSpPr>
            <a:spLocks noGrp="1"/>
          </p:cNvSpPr>
          <p:nvPr/>
        </p:nvSpPr>
        <p:spPr>
          <a:xfrm>
            <a:off x="6858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Streaming</a:t>
            </a:r>
          </a:p>
        </p:txBody>
      </p:sp>
      <p:sp>
        <p:nvSpPr>
          <p:cNvPr id="7" name="">
            <a:extLst>
              <a:ext uri="{FF2B5EF4-FFF2-40B4-BE49-F238E27FC236}">
                <a16:creationId id="{81A6321A-295A-4367-86DB-8EF10A7E480D}"/>
              </a:ext>
            </a:extLst>
          </p:cNvPr>
          <p:cNvSpPr>
            <a:spLocks noGrp="1"/>
          </p:cNvSpPr>
          <p:nvPr/>
        </p:nvSpPr>
        <p:spPr>
          <a:xfrm>
            <a:off x="666750" y="2447925"/>
            <a:ext cx="1809750" cy="552450"/>
          </a:xfrm>
          <a:prstGeom prst="rect">
            <a:avLst/>
          </a:prstGeom>
          <a:noFill/>
          <a:ln w="0">
            <a:noFill/>
            <a:prstDash val="solid"/>
          </a:ln>
        </p:spPr>
        <p:txBody>
          <a:bodyPr wrap="square" lIns="0" tIns="0" rIns="0" bIns="0" anchor="t">
            <a:normAutofit fontScale="96667"/>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 ? ?? ??</a:t>
            </a:r>
          </a:p>
        </p:txBody>
      </p:sp>
      <p:sp>
        <p:nvSpPr>
          <p:cNvPr id="8" name="">
            <a:extLst>
              <a:ext uri="{FF2B5EF4-FFF2-40B4-BE49-F238E27FC236}">
                <a16:creationId id="{85B8B9F4-1393-486C-83C9-5E91267E0CE8}"/>
              </a:ext>
            </a:extLst>
          </p:cNvPr>
          <p:cNvSpPr>
            <a:spLocks noGrp="1"/>
          </p:cNvSpPr>
          <p:nvPr/>
        </p:nvSpPr>
        <p:spPr>
          <a:xfrm>
            <a:off x="2495550" y="2552700"/>
            <a:ext cx="285750" cy="247650"/>
          </a:xfrm>
          <a:prstGeom prst="rightArrow">
            <a:avLst/>
          </a:prstGeom>
          <a:solidFill>
            <a:srgbClr val="2357D8"/>
          </a:solidFill>
          <a:ln w="0">
            <a:noFill/>
            <a:prstDash val="solid"/>
          </a:ln>
        </p:spPr>
      </p:sp>
      <p:sp>
        <p:nvSpPr>
          <p:cNvPr id="9" name="">
            <a:extLst>
              <a:ext uri="{FF2B5EF4-FFF2-40B4-BE49-F238E27FC236}">
                <a16:creationId id="{53F68C46-85F8-46EB-B2A6-9CA4C864A791}"/>
              </a:ext>
            </a:extLst>
          </p:cNvPr>
          <p:cNvSpPr>
            <a:spLocks noGrp="1"/>
          </p:cNvSpPr>
          <p:nvPr/>
        </p:nvSpPr>
        <p:spPr>
          <a:xfrm>
            <a:off x="28575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 ??</a:t>
            </a:r>
          </a:p>
        </p:txBody>
      </p:sp>
      <p:sp>
        <p:nvSpPr>
          <p:cNvPr id="10" name="">
            <a:extLst>
              <a:ext uri="{FF2B5EF4-FFF2-40B4-BE49-F238E27FC236}">
                <a16:creationId id="{C1793693-21F1-4165-AFB4-FF4E5FA73D8B}"/>
              </a:ext>
            </a:extLst>
          </p:cNvPr>
          <p:cNvSpPr>
            <a:spLocks noGrp="1"/>
          </p:cNvSpPr>
          <p:nvPr/>
        </p:nvSpPr>
        <p:spPr>
          <a:xfrm>
            <a:off x="2838450" y="2447925"/>
            <a:ext cx="1809750" cy="552450"/>
          </a:xfrm>
          <a:prstGeom prst="rect">
            <a:avLst/>
          </a:prstGeom>
          <a:noFill/>
          <a:ln w="0">
            <a:noFill/>
            <a:prstDash val="solid"/>
          </a:ln>
        </p:spPr>
        <p:txBody>
          <a:bodyPr wrap="square" lIns="0" tIns="0" rIns="0" bIns="0" anchor="t">
            <a:normAutofit fontScale="100000"/>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width="content"</a:t>
            </a:r>
          </a:p>
        </p:txBody>
      </p:sp>
      <p:sp>
        <p:nvSpPr>
          <p:cNvPr id="11" name="">
            <a:extLst>
              <a:ext uri="{FF2B5EF4-FFF2-40B4-BE49-F238E27FC236}">
                <a16:creationId id="{7C99DE5F-FA97-46BB-B559-B25D3562F913}"/>
              </a:ext>
            </a:extLst>
          </p:cNvPr>
          <p:cNvSpPr>
            <a:spLocks noGrp="1"/>
          </p:cNvSpPr>
          <p:nvPr/>
        </p:nvSpPr>
        <p:spPr>
          <a:xfrm>
            <a:off x="4667250" y="2552700"/>
            <a:ext cx="285750" cy="247650"/>
          </a:xfrm>
          <a:prstGeom prst="rightArrow">
            <a:avLst/>
          </a:prstGeom>
          <a:solidFill>
            <a:srgbClr val="2357D8"/>
          </a:solidFill>
          <a:ln w="0">
            <a:noFill/>
            <a:prstDash val="solid"/>
          </a:ln>
        </p:spPr>
      </p:sp>
      <p:sp>
        <p:nvSpPr>
          <p:cNvPr id="12" name="">
            <a:extLst>
              <a:ext uri="{FF2B5EF4-FFF2-40B4-BE49-F238E27FC236}">
                <a16:creationId id="{9FAF0BA4-4E2E-4A46-A733-2E203D845065}"/>
              </a:ext>
            </a:extLst>
          </p:cNvPr>
          <p:cNvSpPr>
            <a:spLocks noGrp="1"/>
          </p:cNvSpPr>
          <p:nvPr/>
        </p:nvSpPr>
        <p:spPr>
          <a:xfrm>
            <a:off x="50292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 relevance</a:t>
            </a:r>
          </a:p>
        </p:txBody>
      </p:sp>
      <p:sp>
        <p:nvSpPr>
          <p:cNvPr id="13" name="">
            <a:extLst>
              <a:ext uri="{FF2B5EF4-FFF2-40B4-BE49-F238E27FC236}">
                <a16:creationId id="{E8E15389-B553-4CB1-BE03-67C668BF5C71}"/>
              </a:ext>
            </a:extLst>
          </p:cNvPr>
          <p:cNvSpPr>
            <a:spLocks noGrp="1"/>
          </p:cNvSpPr>
          <p:nvPr/>
        </p:nvSpPr>
        <p:spPr>
          <a:xfrm>
            <a:off x="5010150" y="2447925"/>
            <a:ext cx="1809750" cy="552450"/>
          </a:xfrm>
          <a:prstGeom prst="rect">
            <a:avLst/>
          </a:prstGeom>
          <a:noFill/>
          <a:ln w="0">
            <a:noFill/>
            <a:prstDash val="solid"/>
          </a:ln>
        </p:spPr>
        <p:txBody>
          <a:bodyPr wrap="square" lIns="0" tIns="0" rIns="0" bIns="0" anchor="t">
            <a:normAutofit fontScale="96667"/>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Text LLM ?? ? ????? ??</a:t>
            </a:r>
          </a:p>
        </p:txBody>
      </p:sp>
      <p:sp>
        <p:nvSpPr>
          <p:cNvPr id="14" name="">
            <a:extLst>
              <a:ext uri="{FF2B5EF4-FFF2-40B4-BE49-F238E27FC236}">
                <a16:creationId id="{E6CF465D-D96E-453D-97DC-12685C2B68CB}"/>
              </a:ext>
            </a:extLst>
          </p:cNvPr>
          <p:cNvSpPr>
            <a:spLocks noGrp="1"/>
          </p:cNvSpPr>
          <p:nvPr/>
        </p:nvSpPr>
        <p:spPr>
          <a:xfrm>
            <a:off x="6838950" y="2552700"/>
            <a:ext cx="285750" cy="247650"/>
          </a:xfrm>
          <a:prstGeom prst="rightArrow">
            <a:avLst/>
          </a:prstGeom>
          <a:solidFill>
            <a:srgbClr val="2357D8"/>
          </a:solidFill>
          <a:ln w="0">
            <a:noFill/>
            <a:prstDash val="solid"/>
          </a:ln>
        </p:spPr>
      </p:sp>
      <p:sp>
        <p:nvSpPr>
          <p:cNvPr id="15" name="">
            <a:extLst>
              <a:ext uri="{FF2B5EF4-FFF2-40B4-BE49-F238E27FC236}">
                <a16:creationId id="{895FE2A7-2AB2-4773-BBDC-CF77D76BECC4}"/>
              </a:ext>
            </a:extLst>
          </p:cNvPr>
          <p:cNvSpPr>
            <a:spLocks noGrp="1"/>
          </p:cNvSpPr>
          <p:nvPr/>
        </p:nvSpPr>
        <p:spPr>
          <a:xfrm>
            <a:off x="72009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 ??</a:t>
            </a:r>
          </a:p>
        </p:txBody>
      </p:sp>
      <p:sp>
        <p:nvSpPr>
          <p:cNvPr id="16" name="">
            <a:extLst>
              <a:ext uri="{FF2B5EF4-FFF2-40B4-BE49-F238E27FC236}">
                <a16:creationId id="{54F6644D-669B-43A6-9303-C31C446452A4}"/>
              </a:ext>
            </a:extLst>
          </p:cNvPr>
          <p:cNvSpPr>
            <a:spLocks noGrp="1"/>
          </p:cNvSpPr>
          <p:nvPr/>
        </p:nvSpPr>
        <p:spPr>
          <a:xfrm>
            <a:off x="7181850" y="2447925"/>
            <a:ext cx="1809750" cy="552450"/>
          </a:xfrm>
          <a:prstGeom prst="rect">
            <a:avLst/>
          </a:prstGeom>
          <a:noFill/>
          <a:ln w="0">
            <a:noFill/>
            <a:prstDash val="solid"/>
          </a:ln>
        </p:spPr>
        <p:txBody>
          <a:bodyPr wrap="square" lIns="0" tIns="0" rIns="0" bIns="0" anchor="t">
            <a:normAutofit fontScale="96667"/>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TTFT ? ?? latency ??</a:t>
            </a:r>
          </a:p>
        </p:txBody>
      </p:sp>
      <p:sp>
        <p:nvSpPr>
          <p:cNvPr id="17" name="">
            <a:extLst>
              <a:ext uri="{FF2B5EF4-FFF2-40B4-BE49-F238E27FC236}">
                <a16:creationId id="{CEB42841-CF95-4332-93F5-EDDDAB23D2DA}"/>
              </a:ext>
            </a:extLst>
          </p:cNvPr>
          <p:cNvSpPr>
            <a:spLocks noGrp="1"/>
          </p:cNvSpPr>
          <p:nvPr/>
        </p:nvSpPr>
        <p:spPr>
          <a:xfrm>
            <a:off x="9010650" y="2552700"/>
            <a:ext cx="285750" cy="247650"/>
          </a:xfrm>
          <a:prstGeom prst="rightArrow">
            <a:avLst/>
          </a:prstGeom>
          <a:solidFill>
            <a:srgbClr val="2357D8"/>
          </a:solidFill>
          <a:ln w="0">
            <a:noFill/>
            <a:prstDash val="solid"/>
          </a:ln>
        </p:spPr>
      </p:sp>
      <p:sp>
        <p:nvSpPr>
          <p:cNvPr id="18" name="">
            <a:extLst>
              <a:ext uri="{FF2B5EF4-FFF2-40B4-BE49-F238E27FC236}">
                <a16:creationId id="{144B511A-D757-40FE-AABA-D33ED041CE8A}"/>
              </a:ext>
            </a:extLst>
          </p:cNvPr>
          <p:cNvSpPr>
            <a:spLocks noGrp="1"/>
          </p:cNvSpPr>
          <p:nvPr/>
        </p:nvSpPr>
        <p:spPr>
          <a:xfrm>
            <a:off x="9372600" y="2009775"/>
            <a:ext cx="1790700" cy="304800"/>
          </a:xfrm>
          <a:prstGeom prst="rect">
            <a:avLst/>
          </a:prstGeom>
          <a:noFill/>
          <a:ln w="0">
            <a:noFill/>
            <a:prstDash val="solid"/>
          </a:ln>
        </p:spPr>
        <p:txBody>
          <a:bodyPr wrap="square" lIns="0" tIns="0" rIns="0" bIns="0" anchor="t">
            <a:normAutofit fontScale="100000"/>
          </a:bodyPr>
          <a:lstStyle/>
          <a:p>
            <a:pPr algn="ctr">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 ??</a:t>
            </a:r>
          </a:p>
        </p:txBody>
      </p:sp>
      <p:sp>
        <p:nvSpPr>
          <p:cNvPr id="19" name="">
            <a:extLst>
              <a:ext uri="{FF2B5EF4-FFF2-40B4-BE49-F238E27FC236}">
                <a16:creationId id="{511A4A97-4129-472B-AF79-120DF388F0A6}"/>
              </a:ext>
            </a:extLst>
          </p:cNvPr>
          <p:cNvSpPr>
            <a:spLocks noGrp="1"/>
          </p:cNvSpPr>
          <p:nvPr/>
        </p:nvSpPr>
        <p:spPr>
          <a:xfrm>
            <a:off x="9353550" y="2447925"/>
            <a:ext cx="1809750" cy="552450"/>
          </a:xfrm>
          <a:prstGeom prst="rect">
            <a:avLst/>
          </a:prstGeom>
          <a:noFill/>
          <a:ln w="0">
            <a:noFill/>
            <a:prstDash val="solid"/>
          </a:ln>
        </p:spPr>
        <p:txBody>
          <a:bodyPr wrap="square" lIns="0" tIns="0" rIns="0" bIns="0" anchor="t">
            <a:normAutofit fontScale="98898"/>
          </a:bodyPr>
          <a:lstStyle/>
          <a:p>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 UI latency 19.830?</a:t>
            </a:r>
          </a:p>
        </p:txBody>
      </p:sp>
      <p:sp>
        <p:nvSpPr>
          <p:cNvPr id="20" name="">
            <a:extLst>
              <a:ext uri="{FF2B5EF4-FFF2-40B4-BE49-F238E27FC236}">
                <a16:creationId id="{74641B88-EDA4-4931-98C9-5C19BF2481D3}"/>
              </a:ext>
            </a:extLst>
          </p:cNvPr>
          <p:cNvSpPr>
            <a:spLocks noGrp="1"/>
          </p:cNvSpPr>
          <p:nvPr/>
        </p:nvSpPr>
        <p:spPr>
          <a:xfrm>
            <a:off x="685800" y="3467100"/>
            <a:ext cx="10820400" cy="19050"/>
          </a:xfrm>
          <a:prstGeom prst="rect">
            <a:avLst/>
          </a:prstGeom>
          <a:solidFill>
            <a:srgbClr val="D9E1EC"/>
          </a:solidFill>
          <a:ln w="0">
            <a:noFill/>
            <a:prstDash val="solid"/>
          </a:ln>
        </p:spPr>
      </p:sp>
      <p:sp>
        <p:nvSpPr>
          <p:cNvPr id="21" name="">
            <a:extLst>
              <a:ext uri="{FF2B5EF4-FFF2-40B4-BE49-F238E27FC236}">
                <a16:creationId id="{ACCF2C3C-BC3C-41A2-8AB7-44B05DD1E193}"/>
              </a:ext>
            </a:extLst>
          </p:cNvPr>
          <p:cNvSpPr>
            <a:spLocks noGrp="1"/>
          </p:cNvSpPr>
          <p:nvPr/>
        </p:nvSpPr>
        <p:spPr>
          <a:xfrm>
            <a:off x="685800" y="3857625"/>
            <a:ext cx="3810000" cy="295275"/>
          </a:xfrm>
          <a:prstGeom prst="rect">
            <a:avLst/>
          </a:prstGeom>
          <a:noFill/>
          <a:ln w="0">
            <a:noFill/>
            <a:prstDash val="solid"/>
          </a:ln>
        </p:spPr>
        <p:txBody>
          <a:bodyPr wrap="square" lIns="0" tIns="0" rIns="0" bIns="0" anchor="t">
            <a:normAutofit fontScale="100000"/>
          </a:bodyPr>
          <a:lstStyle/>
          <a:p>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 ?? ??</a:t>
            </a:r>
          </a:p>
        </p:txBody>
      </p:sp>
      <p:sp>
        <p:nvSpPr>
          <p:cNvPr id="22" name="">
            <a:extLst>
              <a:ext uri="{FF2B5EF4-FFF2-40B4-BE49-F238E27FC236}">
                <a16:creationId id="{2157D559-ABB4-4585-B63B-FBEC959F1DE1}"/>
              </a:ext>
            </a:extLst>
          </p:cNvPr>
          <p:cNvSpPr>
            <a:spLocks noGrp="1"/>
          </p:cNvSpPr>
          <p:nvPr/>
        </p:nvSpPr>
        <p:spPr>
          <a:xfrm>
            <a:off x="685800" y="4410075"/>
            <a:ext cx="4762500" cy="428625"/>
          </a:xfrm>
          <a:prstGeom prst="rect">
            <a:avLst/>
          </a:prstGeom>
          <a:noFill/>
          <a:ln w="0">
            <a:noFill/>
            <a:prstDash val="solid"/>
          </a:ln>
        </p:spPr>
        <p:txBody>
          <a:bodyPr wrap="square" lIns="0" tIns="0" rIns="0" bIns="0" anchor="t">
            <a:normAutofit fontScale="100000"/>
          </a:bodyPr>
          <a:lstStyle/>
          <a:p>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 ?? ??? ?? ??? ??? ????</a:t>
            </a:r>
          </a:p>
        </p:txBody>
      </p:sp>
      <p:sp>
        <p:nvSpPr>
          <p:cNvPr id="23" name="">
            <a:extLst>
              <a:ext uri="{FF2B5EF4-FFF2-40B4-BE49-F238E27FC236}">
                <a16:creationId id="{B33ED91F-0F77-49EF-A137-195256BA003F}"/>
              </a:ext>
            </a:extLst>
          </p:cNvPr>
          <p:cNvSpPr>
            <a:spLocks noGrp="1"/>
          </p:cNvSpPr>
          <p:nvPr/>
        </p:nvSpPr>
        <p:spPr>
          <a:xfrm>
            <a:off x="5810250" y="4410075"/>
            <a:ext cx="5619750" cy="619125"/>
          </a:xfrm>
          <a:prstGeom prst="rect">
            <a:avLst/>
          </a:prstGeom>
          <a:noFill/>
          <a:ln w="0">
            <a:noFill/>
            <a:prstDash val="solid"/>
          </a:ln>
        </p:spPr>
        <p:txBody>
          <a:bodyPr wrap="square" lIns="0" tIns="0" rIns="0" bIns="0" anchor="t">
            <a:normAutofit fontScale="96726"/>
          </a:bodyPr>
          <a:lstStyle/>
          <a:p>
            <a:pPr algn="l">
              <a:defRPr sz="2100" b="1">
                <a:solidFill>
                  <a:srgbClr val="2357D8"/>
                </a:solidFill>
                <a:latin typeface="Noto Sans KR"/>
                <a:ea typeface="Noto Sans KR"/>
                <a:cs typeface="Noto Sans KR"/>
              </a:defRPr>
            </a:pPr>
            <a:r>
              <a:rPr sz="2100" b="1">
                <a:solidFill>
                  <a:srgbClr val="2357D8"/>
                </a:solidFill>
                <a:latin typeface="Noto Sans KR"/>
                <a:ea typeface="Noto Sans KR"/>
                <a:cs typeface="Noto Sans KR"/>
              </a:rPr>
              <a:t>?? ??</a:t>
            </a:r>
          </a:p>
        </p:txBody>
      </p:sp>
      <p:sp>
        <p:nvSpPr>
          <p:cNvPr id="24" name="">
            <a:extLst>
              <a:ext uri="{FF2B5EF4-FFF2-40B4-BE49-F238E27FC236}">
                <a16:creationId id="{1BAD41E7-F2CE-409E-A513-CB2F12272244}"/>
              </a:ext>
            </a:extLst>
          </p:cNvPr>
          <p:cNvSpPr>
            <a:spLocks noGrp="1"/>
          </p:cNvSpPr>
          <p:nvPr/>
        </p:nvSpPr>
        <p:spPr>
          <a:xfrm>
            <a:off x="685800" y="5505450"/>
            <a:ext cx="10477500" cy="323850"/>
          </a:xfrm>
          <a:prstGeom prst="rect">
            <a:avLst/>
          </a:prstGeom>
          <a:noFill/>
          <a:ln w="0">
            <a:noFill/>
            <a:prstDash val="solid"/>
          </a:ln>
        </p:spPr>
        <p:txBody>
          <a:bodyPr wrap="square" lIns="0" tIns="0" rIns="0" bIns="0" anchor="t">
            <a:normAutofit fontScale="100000"/>
          </a:bodyPr>
          <a:lstStyle/>
          <a:p>
            <a:pPr algn="l">
              <a:defRPr sz="1575" b="1">
                <a:solidFill>
                  <a:srgbClr val="B94D45"/>
                </a:solidFill>
                <a:latin typeface="Noto Sans KR"/>
                <a:ea typeface="Noto Sans KR"/>
                <a:cs typeface="Noto Sans KR"/>
              </a:defRPr>
            </a:pPr>
            <a:r>
              <a:rPr sz="1575" b="1">
                <a:solidFill>
                  <a:srgbClr val="B94D45"/>
                </a:solidFill>
                <a:latin typeface="Noto Sans KR"/>
                <a:ea typeface="Noto Sans KR"/>
                <a:cs typeface="Noto Sans KR"/>
              </a:rPr>
              <a:t>???reranking ?? ? token ??? ??? ??? ?? ??</a:t>
            </a:r>
          </a:p>
        </p:txBody>
      </p:sp>
    </p:spTree>
    <p:extLst>
      <p:ext uri="{BB962C8B-B14F-4D97-AF65-F5344CB8AC3E}">
        <p14:creationId val="787708702"/>
      </p:ext>
    </p:extLst>
  </p:cSld>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 name="">
            <a:extLst>
              <a:ext uri="{FF2B5EF4-FFF2-40B4-BE49-F238E27FC236}">
                <a16:creationId id="{516739E4-4923-4D40-AADE-D17002A853EB}"/>
              </a:ext>
            </a:extLst>
          </p:cNvPr>
          <p:cNvSpPr>
            <a:spLocks noGrp="1"/>
          </p:cNvSpPr>
          <p:nvPr/>
        </p:nvSpPr>
        <p:spPr>
          <a:xfrm>
            <a:off x="0" y="0"/>
            <a:ext cx="133350" cy="6858000"/>
          </a:xfrm>
          <a:prstGeom prst="rect">
            <a:avLst/>
          </a:prstGeom>
          <a:solidFill>
            <a:srgbClr val="2357D8"/>
          </a:solidFill>
          <a:ln w="0">
            <a:noFill/>
            <a:prstDash val="solid"/>
          </a:ln>
        </p:spPr>
      </p:sp>
      <p:sp>
        <p:nvSpPr>
          <p:cNvPr id="2" name="">
            <a:extLst>
              <a:ext uri="{FF2B5EF4-FFF2-40B4-BE49-F238E27FC236}">
                <a16:creationId id="{F7F1D7EE-F296-46C7-A580-FF00967A642D}"/>
              </a:ext>
            </a:extLst>
          </p:cNvPr>
          <p:cNvSpPr>
            <a:spLocks noGrp="1"/>
          </p:cNvSpPr>
          <p:nvPr/>
        </p:nvSpPr>
        <p:spPr>
          <a:xfrm>
            <a:off x="609600" y="438150"/>
            <a:ext cx="10953750" cy="590550"/>
          </a:xfrm>
          <a:prstGeom prst="rect">
            <a:avLst/>
          </a:prstGeom>
          <a:noFill/>
          <a:ln w="0">
            <a:noFill/>
            <a:prstDash val="solid"/>
          </a:ln>
        </p:spPr>
        <p:txBody>
          <a:bodyPr wrap="square" lIns="0" tIns="0" rIns="0" bIns="0" anchor="t">
            <a:normAutofit fontScale="100000"/>
          </a:bodyPr>
          <a:lstStyle/>
          <a:p>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Synthetic Holdout 50??: Retrieval? Answer ??</a:t>
            </a:r>
          </a:p>
        </p:txBody>
      </p:sp>
      <p:sp>
        <p:nvSpPr>
          <p:cNvPr id="3" name="">
            <a:extLst>
              <a:ext uri="{FF2B5EF4-FFF2-40B4-BE49-F238E27FC236}">
                <a16:creationId id="{280B1A5E-69D1-4633-962B-5B5A4D136E3F}"/>
              </a:ext>
            </a:extLst>
          </p:cNvPr>
          <p:cNvSpPr>
            <a:spLocks noGrp="1"/>
          </p:cNvSpPr>
          <p:nvPr/>
        </p:nvSpPr>
        <p:spPr>
          <a:xfrm>
            <a:off x="609600" y="1181100"/>
            <a:ext cx="10972800" cy="19050"/>
          </a:xfrm>
          <a:prstGeom prst="rect">
            <a:avLst/>
          </a:prstGeom>
          <a:solidFill>
            <a:srgbClr val="D9E1EC"/>
          </a:solidFill>
          <a:ln w="0">
            <a:noFill/>
            <a:prstDash val="solid"/>
          </a:ln>
        </p:spPr>
      </p:sp>
      <p:sp>
        <p:nvSpPr>
          <p:cNvPr id="4" name="">
            <a:extLst>
              <a:ext uri="{FF2B5EF4-FFF2-40B4-BE49-F238E27FC236}">
                <a16:creationId id="{216E7D7B-F74C-4C0B-8D26-40B24938569F}"/>
              </a:ext>
            </a:extLst>
          </p:cNvPr>
          <p:cNvSpPr>
            <a:spLocks noGrp="1"/>
          </p:cNvSpPr>
          <p:nvPr/>
        </p:nvSpPr>
        <p:spPr>
          <a:xfrm>
            <a:off x="609600" y="6505575"/>
            <a:ext cx="6667500" cy="171450"/>
          </a:xfrm>
          <a:prstGeom prst="rect">
            <a:avLst/>
          </a:prstGeom>
          <a:noFill/>
          <a:ln w="0">
            <a:noFill/>
            <a:prstDash val="solid"/>
          </a:ln>
        </p:spPr>
        <p:txBody>
          <a:bodyPr wrap="square" lIns="0" tIns="0" rIns="0" bIns="0" anchor="t">
            <a:normAutofit fontScale="100000"/>
          </a:bodyPr>
          <a:lstStyle/>
          <a:p>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a:ext uri="{FF2B5EF4-FFF2-40B4-BE49-F238E27FC236}">
                <a16:creationId id="{A08C0FA7-6C97-4C29-94AE-115333212146}"/>
              </a:ext>
            </a:extLst>
          </p:cNvPr>
          <p:cNvSpPr>
            <a:spLocks noGrp="1"/>
          </p:cNvSpPr>
          <p:nvPr/>
        </p:nvSpPr>
        <p:spPr>
          <a:xfrm>
            <a:off x="11144250" y="6477000"/>
            <a:ext cx="428625" cy="190500"/>
          </a:xfrm>
          <a:prstGeom prst="rect">
            <a:avLst/>
          </a:prstGeom>
          <a:noFill/>
          <a:ln w="0">
            <a:noFill/>
            <a:prstDash val="solid"/>
          </a:ln>
        </p:spPr>
        <p:txBody>
          <a:bodyPr wrap="square" lIns="0" tIns="0" rIns="0" bIns="0" anchor="t">
            <a:normAutofit fontScale="100000"/>
          </a:bodyPr>
          <a:lstStyle/>
          <a:p>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14</a:t>
            </a:r>
          </a:p>
        </p:txBody>
      </p:sp>
      <p:sp>
        <p:nvSpPr>
          <p:cNvPr id="6" name="">
            <a:extLst>
              <a:ext uri="{FF2B5EF4-FFF2-40B4-BE49-F238E27FC236}">
                <a16:creationId id="{CE76AB8C-4C80-4428-A862-E5D2C79B3C1B}"/>
              </a:ext>
            </a:extLst>
          </p:cNvPr>
          <p:cNvSpPr>
            <a:spLocks noGrp="1"/>
          </p:cNvSpPr>
          <p:nvPr/>
        </p:nvSpPr>
        <p:spPr>
          <a:xfrm>
            <a:off x="685800" y="1552575"/>
            <a:ext cx="4095750" cy="285750"/>
          </a:xfrm>
          <a:prstGeom prst="rect">
            <a:avLst/>
          </a:prstGeom>
          <a:noFill/>
          <a:ln w="0">
            <a:noFill/>
            <a:prstDash val="solid"/>
          </a:ln>
        </p:spPr>
        <p:txBody>
          <a:bodyPr wrap="square" lIns="0" tIns="0" rIns="0" bIns="0" anchor="t">
            <a:normAutofit fontScale="100000"/>
          </a:bodyPr>
          <a:lstStyle/>
          <a:p>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Retrieval Top-5 ? 50??</a:t>
            </a:r>
          </a:p>
        </p:txBody>
      </p:sp>
      <p:sp>
        <p:nvSpPr>
          <p:cNvPr id="7" name="">
            <a:extLst>
              <a:ext uri="{FF2B5EF4-FFF2-40B4-BE49-F238E27FC236}">
                <a16:creationId id="{53C32EF9-C38F-493C-86F9-F5CDF416A8B5}"/>
              </a:ext>
            </a:extLst>
          </p:cNvPr>
          <p:cNvSpPr>
            <a:spLocks noGrp="1"/>
          </p:cNvSpPr>
          <p:nvPr/>
        </p:nvSpPr>
        <p:spPr>
          <a:xfrm>
            <a:off x="685800" y="2047875"/>
            <a:ext cx="4953000" cy="1123950"/>
          </a:xfrm>
          <a:prstGeom prst="rect">
            <a:avLst/>
          </a:prstGeom>
          <a:noFill/>
          <a:ln w="0">
            <a:noFill/>
            <a:prstDash val="solid"/>
          </a:ln>
        </p:spPr>
        <p:txBody>
          <a:bodyPr wrap="square" lIns="0" tIns="0" rIns="0" bIns="0" anchor="t">
            <a:normAutofit fontScale="98333"/>
          </a:bodyPr>
          <a:lstStyle/>
          <a:p>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94%</a:t>
            </a:r>
          </a:p>
        </p:txBody>
      </p:sp>
      <p:sp>
        <p:nvSpPr>
          <p:cNvPr id="8" name="">
            <a:extLst>
              <a:ext uri="{FF2B5EF4-FFF2-40B4-BE49-F238E27FC236}">
                <a16:creationId id="{272272B2-404F-452B-A5C1-1BD2E1DE9D23}"/>
              </a:ext>
            </a:extLst>
          </p:cNvPr>
          <p:cNvSpPr>
            <a:spLocks noGrp="1"/>
          </p:cNvSpPr>
          <p:nvPr/>
        </p:nvSpPr>
        <p:spPr>
          <a:xfrm>
            <a:off x="742950" y="3238500"/>
            <a:ext cx="3714750" cy="361950"/>
          </a:xfrm>
          <a:prstGeom prst="rect">
            <a:avLst/>
          </a:prstGeom>
          <a:noFill/>
          <a:ln w="0">
            <a:noFill/>
            <a:prstDash val="solid"/>
          </a:ln>
        </p:spPr>
        <p:txBody>
          <a:bodyPr wrap="square" lIns="0" tIns="0" rIns="0" bIns="0" anchor="t">
            <a:normAutofit fontScale="100000"/>
          </a:bodyPr>
          <a:lstStyle/>
          <a:p>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47 / 50</a:t>
            </a:r>
          </a:p>
        </p:txBody>
      </p:sp>
      <p:sp>
        <p:nvSpPr>
          <p:cNvPr id="9" name="">
            <a:extLst>
              <a:ext uri="{FF2B5EF4-FFF2-40B4-BE49-F238E27FC236}">
                <a16:creationId id="{B960CA79-48F2-47B8-BB2C-7C4D7C86F26B}"/>
              </a:ext>
            </a:extLst>
          </p:cNvPr>
          <p:cNvSpPr>
            <a:spLocks noGrp="1"/>
          </p:cNvSpPr>
          <p:nvPr/>
        </p:nvSpPr>
        <p:spPr>
          <a:xfrm>
            <a:off x="6096000" y="1733550"/>
            <a:ext cx="19050" cy="3714750"/>
          </a:xfrm>
          <a:prstGeom prst="rect">
            <a:avLst/>
          </a:prstGeom>
          <a:solidFill>
            <a:srgbClr val="D9E1EC"/>
          </a:solidFill>
          <a:ln w="0">
            <a:noFill/>
            <a:prstDash val="solid"/>
          </a:ln>
        </p:spPr>
      </p:sp>
      <p:sp>
        <p:nvSpPr>
          <p:cNvPr id="10" name="">
            <a:extLst>
              <a:ext uri="{FF2B5EF4-FFF2-40B4-BE49-F238E27FC236}">
                <a16:creationId id="{4364758B-B97B-41C6-9D40-557336692AAB}"/>
              </a:ext>
            </a:extLst>
          </p:cNvPr>
          <p:cNvSpPr>
            <a:spLocks noGrp="1"/>
          </p:cNvSpPr>
          <p:nvPr/>
        </p:nvSpPr>
        <p:spPr>
          <a:xfrm>
            <a:off x="6686550" y="2209800"/>
            <a:ext cx="4476750" cy="838200"/>
          </a:xfrm>
          <a:prstGeom prst="rect">
            <a:avLst/>
          </a:prstGeom>
          <a:noFill/>
          <a:ln w="0">
            <a:noFill/>
            <a:prstDash val="solid"/>
          </a:ln>
        </p:spPr>
        <p:txBody>
          <a:bodyPr wrap="square" lIns="0" tIns="0" rIns="0" bIns="0" anchor="t">
            <a:normAutofit fontScale="94017"/>
          </a:bodyPr>
          <a:lstStyle/>
          <a:p>
            <a:pPr algn="l">
              <a:defRPr sz="5850" b="1">
                <a:solidFill>
                  <a:srgbClr val="008A91"/>
                </a:solidFill>
                <a:latin typeface="Noto Sans KR"/>
                <a:ea typeface="Noto Sans KR"/>
                <a:cs typeface="Noto Sans KR"/>
              </a:defRPr>
            </a:pPr>
            <a:r>
              <a:rPr sz="5850" b="1">
                <a:solidFill>
                  <a:srgbClr val="008A91"/>
                </a:solidFill>
                <a:latin typeface="Noto Sans KR"/>
                <a:ea typeface="Noto Sans KR"/>
                <a:cs typeface="Noto Sans KR"/>
              </a:rPr>
              <a:t>98%</a:t>
            </a:r>
          </a:p>
        </p:txBody>
      </p:sp>
      <p:sp>
        <p:nvSpPr>
          <p:cNvPr id="11" name="">
            <a:extLst>
              <a:ext uri="{FF2B5EF4-FFF2-40B4-BE49-F238E27FC236}">
                <a16:creationId id="{71D778AA-A533-4AA4-A90F-A1FC2AA584ED}"/>
              </a:ext>
            </a:extLst>
          </p:cNvPr>
          <p:cNvSpPr>
            <a:spLocks noGrp="1"/>
          </p:cNvSpPr>
          <p:nvPr/>
        </p:nvSpPr>
        <p:spPr>
          <a:xfrm>
            <a:off x="6762750" y="3162300"/>
            <a:ext cx="3619500" cy="342900"/>
          </a:xfrm>
          <a:prstGeom prst="rect">
            <a:avLst/>
          </a:prstGeom>
          <a:noFill/>
          <a:ln w="0">
            <a:noFill/>
            <a:prstDash val="solid"/>
          </a:ln>
        </p:spPr>
        <p:txBody>
          <a:bodyPr wrap="square" lIns="0" tIns="0" rIns="0" bIns="0" anchor="t">
            <a:normAutofit fontScale="100000"/>
          </a:bodyPr>
          <a:lstStyle/>
          <a:p>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 ?? Answer Accuracy</a:t>
            </a:r>
          </a:p>
        </p:txBody>
      </p:sp>
      <p:sp>
        <p:nvSpPr>
          <p:cNvPr id="12" name="">
            <a:extLst>
              <a:ext uri="{FF2B5EF4-FFF2-40B4-BE49-F238E27FC236}">
                <a16:creationId id="{F5B89352-8E81-45ED-9C21-3521CC94C9D1}"/>
              </a:ext>
            </a:extLst>
          </p:cNvPr>
          <p:cNvSpPr>
            <a:spLocks noGrp="1"/>
          </p:cNvSpPr>
          <p:nvPr/>
        </p:nvSpPr>
        <p:spPr>
          <a:xfrm>
            <a:off x="685800" y="4524375"/>
            <a:ext cx="4476750" cy="342900"/>
          </a:xfrm>
          <a:prstGeom prst="rect">
            <a:avLst/>
          </a:prstGeom>
          <a:noFill/>
          <a:ln w="0">
            <a:noFill/>
            <a:prstDash val="solid"/>
          </a:ln>
        </p:spPr>
        <p:txBody>
          <a:bodyPr wrap="square" lIns="0" tIns="0" rIns="0" bIns="0" anchor="t">
            <a:normAutofit fontScale="100000"/>
          </a:bodyPr>
          <a:lstStyle/>
          <a:p>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 49 ? ?? ?? 1 ? ?? 0</a:t>
            </a:r>
          </a:p>
        </p:txBody>
      </p:sp>
      <p:sp>
        <p:nvSpPr>
          <p:cNvPr id="13" name="">
            <a:extLst>
              <a:ext uri="{FF2B5EF4-FFF2-40B4-BE49-F238E27FC236}">
                <a16:creationId id="{ABED0CA1-C71F-452C-BAC0-54B30EBA068C}"/>
              </a:ext>
            </a:extLst>
          </p:cNvPr>
          <p:cNvSpPr>
            <a:spLocks noGrp="1"/>
          </p:cNvSpPr>
          <p:nvPr/>
        </p:nvSpPr>
        <p:spPr>
          <a:xfrm>
            <a:off x="685800" y="5086350"/>
            <a:ext cx="10287000" cy="381000"/>
          </a:xfrm>
          <a:prstGeom prst="rect">
            <a:avLst/>
          </a:prstGeom>
          <a:noFill/>
          <a:ln w="0">
            <a:noFill/>
            <a:prstDash val="solid"/>
          </a:ln>
        </p:spPr>
        <p:txBody>
          <a:bodyPr wrap="square" lIns="0" tIns="0" rIns="0" bIns="0" anchor="t">
            <a:normAutofit fontScale="100000"/>
          </a:bodyPr>
          <a:lstStyle/>
          <a:p>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10/04 ??: Top-5 90% ? MRR@5 0.8033</a:t>
            </a:r>
          </a:p>
        </p:txBody>
      </p:sp>
      <p:sp>
        <p:nvSpPr>
          <p:cNvPr id="14" name="">
            <a:extLst>
              <a:ext uri="{FF2B5EF4-FFF2-40B4-BE49-F238E27FC236}">
                <a16:creationId id="{98C93DEC-8C2E-4B8F-9FDC-F48B75B42FEE}"/>
              </a:ext>
            </a:extLst>
          </p:cNvPr>
          <p:cNvSpPr>
            <a:spLocks noGrp="1"/>
          </p:cNvSpPr>
          <p:nvPr/>
        </p:nvSpPr>
        <p:spPr>
          <a:xfrm>
            <a:off x="685800" y="5695950"/>
            <a:ext cx="8858250" cy="285750"/>
          </a:xfrm>
          <a:prstGeom prst="rect">
            <a:avLst/>
          </a:prstGeom>
          <a:noFill/>
          <a:ln w="0">
            <a:noFill/>
            <a:prstDash val="solid"/>
          </a:ln>
        </p:spPr>
        <p:txBody>
          <a:bodyPr wrap="square" lIns="0" tIns="0" rIns="0" bIns="0" anchor="t">
            <a:normAutofit fontScale="100000"/>
          </a:bodyPr>
          <a:lstStyle/>
          <a:p>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10/05 ??: Top-5 92% ? MRR@5 0.8083 ? ?? ??, ?? ?? ?? ?? ??</a:t>
            </a:r>
          </a:p>
        </p:txBody>
      </p:sp>
    </p:spTree>
    <p:extLst>
      <p:ext uri="{BB962C8B-B14F-4D97-AF65-F5344CB8AC3E}">
        <p14:creationId val="511292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2026-10-04T07:33:32.3770000Z</dcterms:created>
  <dcterms:modified xsi:type="dcterms:W3CDTF">2026-10-04T07:33:32.3770000Z</dcterms:modified>
</coreProperties>
</file>