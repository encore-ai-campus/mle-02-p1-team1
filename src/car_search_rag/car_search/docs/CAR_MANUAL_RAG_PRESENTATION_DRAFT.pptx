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658368"/>
            <a:ext cx="2331720" cy="292608"/>
          </a:xfrm>
          <a:prstGeom prst="roundRect">
            <a:avLst>
              <a:gd name="adj" fmla="val 12000"/>
            </a:avLst>
          </a:prstGeom>
          <a:solidFill>
            <a:srgbClr val="1C4059"/>
          </a:solidFill>
          <a:ln>
            <a:solidFill>
              <a:srgbClr val="1C4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67512"/>
            <a:ext cx="2240279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79D1D1"/>
                </a:solidFill>
                <a:latin typeface="Malgun Gothic"/>
              </a:rPr>
              <a:t>PROJECT REVIEW  · 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353312"/>
            <a:ext cx="667512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차량 매뉴얼 기반
RAG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82112"/>
            <a:ext cx="6217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rFonts a:latin="Malgun Gothic" a:ea="Malgun Gothic" a:cs="Malgun Gothic"/>
                <a:solidFill>
                  <a:srgbClr val="B9D8E5"/>
                </a:solidFill>
                <a:latin typeface="Malgun Gothic"/>
              </a:rPr>
              <a:t>데이터 분석에서 검색 구조 개선까지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22191"/>
            <a:ext cx="6492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rFonts a:latin="Malgun Gothic" a:ea="Malgun Gothic" a:cs="Malgun Gothic"/>
                <a:solidFill>
                  <a:srgbClr val="D9E2EC"/>
                </a:solidFill>
                <a:latin typeface="Malgun Gothic"/>
              </a:rPr>
              <a:t>Hyundai Sonata 2026  ·  진행 결과 시각 초안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987552"/>
            <a:ext cx="3246120" cy="4526280"/>
          </a:xfrm>
          <a:prstGeom prst="roundRect">
            <a:avLst>
              <a:gd name="adj" fmla="val 12000"/>
            </a:avLst>
          </a:prstGeom>
          <a:solidFill>
            <a:srgbClr val="173B55"/>
          </a:solidFill>
          <a:ln>
            <a:solidFill>
              <a:srgbClr val="2E5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371600"/>
            <a:ext cx="24231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질문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65792" y="1901952"/>
            <a:ext cx="0" cy="429768"/>
          </a:xfrm>
          <a:prstGeom prst="line">
            <a:avLst/>
          </a:prstGeom>
          <a:ln w="25400">
            <a:solidFill>
              <a:srgbClr val="79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32520" y="2359152"/>
            <a:ext cx="2084831" cy="713232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2487168"/>
            <a:ext cx="184708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1536-d embedding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65792" y="3108960"/>
            <a:ext cx="0" cy="420624"/>
          </a:xfrm>
          <a:prstGeom prst="line">
            <a:avLst/>
          </a:prstGeom>
          <a:ln w="25400">
            <a:solidFill>
              <a:srgbClr val="79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20" y="3566160"/>
            <a:ext cx="2084831" cy="713232"/>
          </a:xfrm>
          <a:prstGeom prst="roundRect">
            <a:avLst>
              <a:gd name="adj" fmla="val 12000"/>
            </a:avLst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3694176"/>
            <a:ext cx="184708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pgvector search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65792" y="4315968"/>
            <a:ext cx="0" cy="420624"/>
          </a:xfrm>
          <a:prstGeom prst="line">
            <a:avLst/>
          </a:prstGeom>
          <a:ln w="25400">
            <a:solidFill>
              <a:srgbClr val="79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76488" y="4782312"/>
            <a:ext cx="25603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매뉴얼 근거 검색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91072"/>
            <a:ext cx="88696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B9D8E5"/>
                </a:solidFill>
                <a:latin typeface="Malgun Gothic"/>
              </a:rPr>
              <a:t>검토용 초안  |  성능·평가 미측정 항목은 별도 표시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질문부터 답변까지, 검색 경로를 코드에서 추적했다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02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353312"/>
            <a:ext cx="8503920" cy="530352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1408176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사용자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08176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rFonts a:latin="Malgun Gothic" a:ea="Malgun Gothic" a:cs="Malgun Gothic"/>
                <a:solidFill>
                  <a:srgbClr val="D8F1F2"/>
                </a:solidFill>
                <a:latin typeface="Malgun Gothic"/>
              </a:rPr>
              <a:t>Streamlit · app_kbj.py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883664"/>
            <a:ext cx="0" cy="128016"/>
          </a:xfrm>
          <a:prstGeom prst="line">
            <a:avLst/>
          </a:prstGeom>
          <a:ln w="1905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2029967"/>
            <a:ext cx="85039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2084831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CarManualSearchService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084831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search_manual()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560320"/>
            <a:ext cx="0" cy="128016"/>
          </a:xfrm>
          <a:prstGeom prst="line">
            <a:avLst/>
          </a:prstGeom>
          <a:ln w="1905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2706624"/>
            <a:ext cx="85039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2761488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61488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text-embedding-3-small · 1536d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236976"/>
            <a:ext cx="0" cy="128016"/>
          </a:xfrm>
          <a:prstGeom prst="line">
            <a:avLst/>
          </a:prstGeom>
          <a:ln w="1905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3383279"/>
            <a:ext cx="85039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3438144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CarManualRepository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438144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search_manual()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3913631"/>
            <a:ext cx="0" cy="128017"/>
          </a:xfrm>
          <a:prstGeom prst="line">
            <a:avLst/>
          </a:prstGeom>
          <a:ln w="1905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828800" y="4059935"/>
            <a:ext cx="8503920" cy="530352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4114799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PostgreSQL + pgvector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14799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rFonts a:latin="Malgun Gothic" a:ea="Malgun Gothic" a:cs="Malgun Gothic"/>
                <a:solidFill>
                  <a:srgbClr val="D8F1F2"/>
                </a:solidFill>
                <a:latin typeface="Malgun Gothic"/>
              </a:rPr>
              <a:t>search_car_manual · &lt;=&gt;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4590288"/>
            <a:ext cx="0" cy="128016"/>
          </a:xfrm>
          <a:prstGeom prst="line">
            <a:avLst/>
          </a:prstGeom>
          <a:ln w="1905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828800" y="4736592"/>
            <a:ext cx="85039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93392" y="4791455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검색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791455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chunk · similarity · image URL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5266944"/>
            <a:ext cx="0" cy="128016"/>
          </a:xfrm>
          <a:prstGeom prst="line">
            <a:avLst/>
          </a:prstGeom>
          <a:ln w="1905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828800" y="5413248"/>
            <a:ext cx="8503920" cy="530352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5468112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RAG 응답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468112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rFonts a:latin="Malgun Gothic" a:ea="Malgun Gothic" a:cs="Malgun Gothic"/>
                <a:solidFill>
                  <a:srgbClr val="D8F1F2"/>
                </a:solidFill>
                <a:latin typeface="Malgun Gothic"/>
              </a:rPr>
              <a:t>ask_manual()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코드 경로: app_kbj.py → CarManualSearchService → CarManualRepository → SqlSession → car_manual.sql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EDA는 PDF 추출 상태와 DB 연결 정합성을 확인했다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03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60604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64008" cy="1078992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27048"/>
            <a:ext cx="22585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9339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PDF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40280"/>
            <a:ext cx="22585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텍스트 추출 508/508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417320"/>
            <a:ext cx="260604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417320"/>
            <a:ext cx="64008" cy="1078992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527048"/>
            <a:ext cx="22585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F2B134"/>
                </a:solidFill>
                <a:latin typeface="Malgun Gothic"/>
              </a:rPr>
              <a:t>947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199339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DB chunks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240280"/>
            <a:ext cx="22585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각 페이지에 chunk 존재 기록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417320"/>
            <a:ext cx="260604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417320"/>
            <a:ext cx="64008" cy="1078992"/>
          </a:xfrm>
          <a:prstGeom prst="rect">
            <a:avLst/>
          </a:prstGeom>
          <a:solidFill>
            <a:srgbClr val="D95D39"/>
          </a:solidFill>
          <a:ln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527048"/>
            <a:ext cx="22585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955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99339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DB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240280"/>
            <a:ext cx="22585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URL 누락 0건 기록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5984" y="1417320"/>
            <a:ext cx="2578608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15984" y="1417320"/>
            <a:ext cx="64008" cy="1078992"/>
          </a:xfrm>
          <a:prstGeom prst="rect">
            <a:avLst/>
          </a:prstGeom>
          <a:solidFill>
            <a:srgbClr val="2B8A78"/>
          </a:solidFill>
          <a:ln>
            <a:solidFill>
              <a:srgbClr val="2B8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1527048"/>
            <a:ext cx="2231136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2B8A78"/>
                </a:solidFill>
                <a:latin typeface="Malgun Gothic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1993392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추출 성공률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240280"/>
            <a:ext cx="2231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문서 기록 기준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페이지 텍스트 길이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401568"/>
            <a:ext cx="50292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566160"/>
            <a:ext cx="21488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평균 1,019.55자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566160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중앙값 944자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096512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범위 21–4,180자  ·  level 1 chapter 10개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2880360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데이터 테이블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401568"/>
            <a:ext cx="120700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8503" y="3538728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3931920"/>
            <a:ext cx="113385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차량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401568"/>
            <a:ext cx="120700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0104" y="3538728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chapter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1815" y="3931920"/>
            <a:ext cx="113385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목차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3401568"/>
            <a:ext cx="120700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1704" y="3538728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chunk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5" y="3931920"/>
            <a:ext cx="113385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본문 + vector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78440" y="3401568"/>
            <a:ext cx="120700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3538728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image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15015" y="3931920"/>
            <a:ext cx="113385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이미지 URL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07492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FF5DE"/>
          </a:solidFill>
          <a:ln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230368"/>
            <a:ext cx="104698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775500"/>
                </a:solidFill>
                <a:latin typeface="Malgun Gothic"/>
              </a:rPr>
              <a:t>주의: 페이지별 chunk 존재는 텍스트·표·이미지 내용의 완전성을 보장하지 않음. image_desc는 955건 모두 NULL로 기록.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출처: EDA_REPORT.md · 데이터 건수는 보고서 기록값이며 이번에 DB 재조회하지 않음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TF-IDF와 vector 검색은 질의마다 다른 순위를 보였다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04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307592"/>
            <a:ext cx="2286000" cy="292608"/>
          </a:xfrm>
          <a:prstGeom prst="roundRect">
            <a:avLst>
              <a:gd name="adj" fmla="val 12000"/>
            </a:avLst>
          </a:prstGeom>
          <a:solidFill>
            <a:srgbClr val="D8F1F2"/>
          </a:solidFill>
          <a:ln>
            <a:solidFill>
              <a:srgbClr val="D8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16736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탐색적 비교 · 3개 질의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TF-IDF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04288"/>
            <a:ext cx="25146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n-gram 2–4
min_df 1 · max_df 1.0
Vocabulary 175,451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847088"/>
            <a:ext cx="2514600" cy="502920"/>
          </a:xfrm>
          <a:prstGeom prst="rect">
            <a:avLst/>
          </a:prstGeom>
          <a:solidFill>
            <a:srgbClr val="10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865376"/>
            <a:ext cx="2368296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질의 주제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47088"/>
            <a:ext cx="2697480" cy="502920"/>
          </a:xfrm>
          <a:prstGeom prst="rect">
            <a:avLst/>
          </a:prstGeom>
          <a:solidFill>
            <a:srgbClr val="10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865376"/>
            <a:ext cx="2551176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TF-IDF 근거 순위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9408" y="1847088"/>
            <a:ext cx="2514600" cy="502920"/>
          </a:xfrm>
          <a:prstGeom prst="rect">
            <a:avLst/>
          </a:prstGeom>
          <a:solidFill>
            <a:srgbClr val="10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865376"/>
            <a:ext cx="2368296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Vector 근거 순위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2359152"/>
            <a:ext cx="2514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2377440"/>
            <a:ext cx="236829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엔진 오일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359152"/>
            <a:ext cx="26974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2377440"/>
            <a:ext cx="255117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2위 · 0.179207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2359152"/>
            <a:ext cx="2514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377440"/>
            <a:ext cx="236829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2위 · 0.593598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3017520"/>
            <a:ext cx="2514600" cy="640080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3035808"/>
            <a:ext cx="236829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후드 닫기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017520"/>
            <a:ext cx="2697480" cy="640080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3035808"/>
            <a:ext cx="255117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Top 5 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9408" y="3017520"/>
            <a:ext cx="2514600" cy="640080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035808"/>
            <a:ext cx="236829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4위 · 0.457099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3675887"/>
            <a:ext cx="2514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3592" y="3694175"/>
            <a:ext cx="236829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배터리 단자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675887"/>
            <a:ext cx="26974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3694175"/>
            <a:ext cx="255117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1위 · 0.158059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9408" y="3675887"/>
            <a:ext cx="2514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694175"/>
            <a:ext cx="236829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1위 · 0.469004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38728" y="4617720"/>
            <a:ext cx="7955279" cy="758952"/>
          </a:xfrm>
          <a:prstGeom prst="roundRect">
            <a:avLst>
              <a:gd name="adj" fmla="val 12000"/>
            </a:avLst>
          </a:prstGeom>
          <a:solidFill>
            <a:srgbClr val="E8F4F5"/>
          </a:solidFill>
          <a:ln>
            <a:solidFill>
              <a:srgbClr val="E8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4782312"/>
            <a:ext cx="754380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후드 질문: TF-IDF 상위는 무관 결과, vector는 근거 chunk 4위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166360"/>
            <a:ext cx="265176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이 비교는 검색 진단 사례이며 성능 benchmark가 아님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출처: TFIDF_ANALYSIS.md · 동일 Sonata 2026 corpus 947 chunks · 답변 생성은 비교하지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1536차원 embedding을 pgvector cosine distance로 검색한다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05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20240"/>
            <a:ext cx="1920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70078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96896"/>
            <a:ext cx="1682496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사용자 입력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8608" y="2679192"/>
            <a:ext cx="256032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1216" y="1920240"/>
            <a:ext cx="1920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148840"/>
            <a:ext cx="170078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596896"/>
            <a:ext cx="1682496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text-embedding-3-small
1536 dimensions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679192"/>
            <a:ext cx="256032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1920240"/>
            <a:ext cx="1920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2148840"/>
            <a:ext cx="170078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596896"/>
            <a:ext cx="1682496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CarManualRepository
Vector(embedding)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77455" y="2679192"/>
            <a:ext cx="256033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70064" y="1920240"/>
            <a:ext cx="1920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2148840"/>
            <a:ext cx="170078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2596896"/>
            <a:ext cx="1682496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search_car_manual
차량 조건 + ORDER BY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0" y="2679192"/>
            <a:ext cx="256032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19488" y="1920240"/>
            <a:ext cx="1920240" cy="1508760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5" y="2148840"/>
            <a:ext cx="170078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Vector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596896"/>
            <a:ext cx="1682496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rFonts a:latin="Malgun Gothic" a:ea="Malgun Gothic" a:cs="Malgun Gothic"/>
                <a:solidFill>
                  <a:srgbClr val="D8F1F2"/>
                </a:solidFill>
                <a:latin typeface="Malgun Gothic"/>
              </a:rPr>
              <a:t>&lt;=&gt; cosine distance
SIMILARITY = 1 − distance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05072"/>
            <a:ext cx="5047488" cy="1078992"/>
          </a:xfrm>
          <a:prstGeom prst="roundRect">
            <a:avLst>
              <a:gd name="adj" fmla="val 12000"/>
            </a:avLst>
          </a:prstGeom>
          <a:solidFill>
            <a:srgbClr val="E8F4F5"/>
          </a:solidFill>
          <a:ln>
            <a:solidFill>
              <a:srgbClr val="E8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33087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검색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89704"/>
            <a:ext cx="45720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ORDER BY embedding &lt;=&gt; :EMBEDDING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05072"/>
            <a:ext cx="5230368" cy="1078992"/>
          </a:xfrm>
          <a:prstGeom prst="roundRect">
            <a:avLst>
              <a:gd name="adj" fmla="val 12000"/>
            </a:avLst>
          </a:prstGeom>
          <a:solidFill>
            <a:srgbClr val="FFF5DE"/>
          </a:solidFill>
          <a:ln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133087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8A5A00"/>
                </a:solidFill>
                <a:latin typeface="Malgun Gothic"/>
              </a:rPr>
              <a:t>제공 DDL 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489704"/>
            <a:ext cx="45720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HNSW · vector_cosine_ops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실제 DB 적용 여부와 EXPLAIN에서 index 사용 여부는 추가 확인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기존 측정에서 Python connection 구간이 가장 크게 관측됐다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06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337560" cy="292608"/>
          </a:xfrm>
          <a:prstGeom prst="roundRect">
            <a:avLst>
              <a:gd name="adj" fmla="val 12000"/>
            </a:avLst>
          </a:prstGeom>
          <a:solidFill>
            <a:srgbClr val="FFF0D1"/>
          </a:solidFill>
          <a:ln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9304"/>
            <a:ext cx="32461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rFonts a:latin="Malgun Gothic" a:ea="Malgun Gothic" a:cs="Malgun Gothic"/>
                <a:solidFill>
                  <a:srgbClr val="8A5A00"/>
                </a:solidFill>
                <a:latin typeface="Malgun Gothic"/>
              </a:rPr>
              <a:t>기존 측정 · 사용자 제공 과거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5087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connect_ms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920239"/>
            <a:ext cx="5852160" cy="310896"/>
          </a:xfrm>
          <a:prstGeom prst="roundRect">
            <a:avLst>
              <a:gd name="adj" fmla="val 12000"/>
            </a:avLst>
          </a:prstGeom>
          <a:solidFill>
            <a:srgbClr val="E5EDF2"/>
          </a:solidFill>
          <a:ln>
            <a:solidFill>
              <a:srgbClr val="E5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1920239"/>
            <a:ext cx="5628802" cy="310896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9394" y="1874519"/>
            <a:ext cx="10058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577.1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15087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sql_log_ms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679191"/>
            <a:ext cx="5852160" cy="310896"/>
          </a:xfrm>
          <a:prstGeom prst="roundRect">
            <a:avLst>
              <a:gd name="adj" fmla="val 12000"/>
            </a:avLst>
          </a:prstGeom>
          <a:solidFill>
            <a:srgbClr val="E5EDF2"/>
          </a:solidFill>
          <a:ln>
            <a:solidFill>
              <a:srgbClr val="E5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31720" y="2679191"/>
            <a:ext cx="118872" cy="310896"/>
          </a:xfrm>
          <a:prstGeom prst="roundRect">
            <a:avLst>
              <a:gd name="adj" fmla="val 12000"/>
            </a:avLst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9463" y="2633472"/>
            <a:ext cx="10058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F2B134"/>
                </a:solidFill>
                <a:latin typeface="Malgun Gothic"/>
              </a:rPr>
              <a:t>5.5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92424"/>
            <a:ext cx="15087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query_fetch_ms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3438144"/>
            <a:ext cx="5852160" cy="310896"/>
          </a:xfrm>
          <a:prstGeom prst="roundRect">
            <a:avLst>
              <a:gd name="adj" fmla="val 12000"/>
            </a:avLst>
          </a:prstGeom>
          <a:solidFill>
            <a:srgbClr val="E5EDF2"/>
          </a:solidFill>
          <a:ln>
            <a:solidFill>
              <a:srgbClr val="E5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31720" y="3438144"/>
            <a:ext cx="1122639" cy="310896"/>
          </a:xfrm>
          <a:prstGeom prst="roundRect">
            <a:avLst>
              <a:gd name="adj" fmla="val 12000"/>
            </a:avLst>
          </a:prstGeom>
          <a:solidFill>
            <a:srgbClr val="D95D39"/>
          </a:solidFill>
          <a:ln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3231" y="3392424"/>
            <a:ext cx="10058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115.1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856231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1956816"/>
            <a:ext cx="190195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B9D8E5"/>
                </a:solidFill>
                <a:latin typeface="Malgun Gothic"/>
              </a:rPr>
              <a:t>total_ms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267712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729.5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227832"/>
            <a:ext cx="2240280" cy="941832"/>
          </a:xfrm>
          <a:prstGeom prst="roundRect">
            <a:avLst>
              <a:gd name="adj" fmla="val 12000"/>
            </a:avLst>
          </a:prstGeom>
          <a:solidFill>
            <a:srgbClr val="E8F4F5"/>
          </a:solidFill>
          <a:ln>
            <a:solidFill>
              <a:srgbClr val="E8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3328416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PostgreSQL 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657600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~12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663440"/>
            <a:ext cx="6949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Planning 0.459 ms  ·  Execution 12.467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138928"/>
            <a:ext cx="10561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측정 범위가 다름: 서버 실행 시간은 앱의 연결·왕복·fetch 전체를 포함하지 않음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기존 측정값이며 pool / warm-up 적용 후 결과가 아님. Python 측정의 반복 조건은 확인되지 않음.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관측 결과는 SQL 로그보다 connection 영역의 추가 분석을 요구했다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07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57800" cy="3547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19072"/>
            <a:ext cx="4480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기존 Python 측정 구간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2340864"/>
            <a:ext cx="21945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340864"/>
            <a:ext cx="64008" cy="1078992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50592"/>
            <a:ext cx="184708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577.1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16936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connect_ms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340864"/>
            <a:ext cx="21945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340864"/>
            <a:ext cx="64008" cy="1078992"/>
          </a:xfrm>
          <a:prstGeom prst="rect">
            <a:avLst/>
          </a:prstGeom>
          <a:solidFill>
            <a:srgbClr val="D95D39"/>
          </a:solidFill>
          <a:ln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450592"/>
            <a:ext cx="184708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115.1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916936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query_fetch_ms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" y="3602736"/>
            <a:ext cx="21945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" y="3602736"/>
            <a:ext cx="64008" cy="1078992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712463"/>
            <a:ext cx="184708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F2B134"/>
                </a:solidFill>
                <a:latin typeface="Malgun Gothic"/>
              </a:rPr>
              <a:t>5.5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78808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sql_log_ms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602736"/>
            <a:ext cx="21945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602736"/>
            <a:ext cx="64008" cy="107899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3712463"/>
            <a:ext cx="184708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729.5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178808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total_ms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508760"/>
            <a:ext cx="5175504" cy="3547872"/>
          </a:xfrm>
          <a:prstGeom prst="roundRect">
            <a:avLst>
              <a:gd name="adj" fmla="val 12000"/>
            </a:avLst>
          </a:prstGeom>
          <a:solidFill>
            <a:srgbClr val="EAF1F6"/>
          </a:solidFill>
          <a:ln>
            <a:solidFill>
              <a:srgbClr val="EA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1737360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분석 판단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395728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2359152"/>
            <a:ext cx="3840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연결 확보 시간이 가장 크게 관측됨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5468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3054096"/>
            <a:ext cx="384048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DB 내부 12.467 ms와 앱 전체는 측정 범위가 다름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977639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3913632"/>
            <a:ext cx="3840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DNS / TLS 등 세부 원인은 미분리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모두 사용자 제공 과거 1회 관측 예시. 연결 내부의 원인을 특정한 결과는 아님.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ConnectionPool과 resource warm-up으로 연결을 재사용한다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08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26464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47088"/>
            <a:ext cx="1417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11680"/>
            <a:ext cx="1271016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검색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240280"/>
            <a:ext cx="329184" cy="0"/>
          </a:xfrm>
          <a:prstGeom prst="line">
            <a:avLst/>
          </a:prstGeom>
          <a:ln w="254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78608" y="1847088"/>
            <a:ext cx="1417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011680"/>
            <a:ext cx="1271016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새 연결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2240280"/>
            <a:ext cx="329184" cy="0"/>
          </a:xfrm>
          <a:prstGeom prst="line">
            <a:avLst/>
          </a:prstGeom>
          <a:ln w="254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07408" y="1847088"/>
            <a:ext cx="1417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1271016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query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2240280"/>
            <a:ext cx="329184" cy="0"/>
          </a:xfrm>
          <a:prstGeom prst="line">
            <a:avLst/>
          </a:prstGeom>
          <a:ln w="254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36208" y="1847088"/>
            <a:ext cx="1417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1271016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종료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63240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AFTER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465576"/>
            <a:ext cx="18288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602736"/>
            <a:ext cx="1682496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앱 시작
@st.cache_resource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24327" y="3913632"/>
            <a:ext cx="228601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07792" y="3465576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0944" y="3602736"/>
            <a:ext cx="1773936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DatabaseManager
.warmup()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73752" y="3913632"/>
            <a:ext cx="256032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184648" y="3465576"/>
            <a:ext cx="2057400" cy="896112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3602736"/>
            <a:ext cx="1911095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ConnectionPool
min 1 · max 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87768" y="3913632"/>
            <a:ext cx="292607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35240" y="3465576"/>
            <a:ext cx="2057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392" y="3602736"/>
            <a:ext cx="1911095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대여 → query
→ 반환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38360" y="3913632"/>
            <a:ext cx="192024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85248" y="3465576"/>
            <a:ext cx="1417320" cy="896112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3602736"/>
            <a:ext cx="1271016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재사용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4818888"/>
            <a:ext cx="5166360" cy="804672"/>
          </a:xfrm>
          <a:prstGeom prst="roundRect">
            <a:avLst>
              <a:gd name="adj" fmla="val 12000"/>
            </a:avLst>
          </a:prstGeom>
          <a:solidFill>
            <a:srgbClr val="E8F4F5"/>
          </a:solidFill>
          <a:ln>
            <a:solidFill>
              <a:srgbClr val="E8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001768"/>
            <a:ext cx="47548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physical connection 생성 때 register_vector()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4818888"/>
            <a:ext cx="5193792" cy="804672"/>
          </a:xfrm>
          <a:prstGeom prst="roundRect">
            <a:avLst>
              <a:gd name="adj" fmla="val 12000"/>
            </a:avLst>
          </a:prstGeom>
          <a:solidFill>
            <a:srgbClr val="FFF5DE"/>
          </a:solidFill>
          <a:ln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5001768"/>
            <a:ext cx="482803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rFonts a:latin="Malgun Gothic" a:ea="Malgun Gothic" a:cs="Malgun Gothic"/>
                <a:solidFill>
                  <a:srgbClr val="775500"/>
                </a:solidFill>
                <a:latin typeface="Malgun Gothic"/>
              </a:rPr>
              <a:t>transaction: 같은 연결 · 성공 commit · 예외 rollback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pool 기본값 min_size=1 / max_size=5 · 환경변수 DB_POOL_MIN_SIZE / DB_POOL_MAX_SIZE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Pool 적용 후 성능은 아직 측정 전이다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09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3108960" cy="292608"/>
          </a:xfrm>
          <a:prstGeom prst="roundRect">
            <a:avLst>
              <a:gd name="adj" fmla="val 12000"/>
            </a:avLst>
          </a:prstGeom>
          <a:solidFill>
            <a:srgbClr val="FFF0D1"/>
          </a:solidFill>
          <a:ln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35024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rFonts a:latin="Malgun Gothic" a:ea="Malgun Gothic" a:cs="Malgun Gothic"/>
                <a:solidFill>
                  <a:srgbClr val="8A5A00"/>
                </a:solidFill>
                <a:latin typeface="Malgun Gothic"/>
              </a:rPr>
              <a:t>개선 전은 과거 사용자 제공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3154680" cy="640080"/>
          </a:xfrm>
          <a:prstGeom prst="rect">
            <a:avLst/>
          </a:prstGeom>
          <a:solidFill>
            <a:srgbClr val="10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38528"/>
            <a:ext cx="300837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지표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920240"/>
            <a:ext cx="3337560" cy="640080"/>
          </a:xfrm>
          <a:prstGeom prst="rect">
            <a:avLst/>
          </a:prstGeom>
          <a:solidFill>
            <a:srgbClr val="10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938528"/>
            <a:ext cx="31912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개선 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920240"/>
            <a:ext cx="3520440" cy="640080"/>
          </a:xfrm>
          <a:prstGeom prst="rect">
            <a:avLst/>
          </a:prstGeom>
          <a:solidFill>
            <a:srgbClr val="102A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938528"/>
            <a:ext cx="337413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Pool 적용 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578608"/>
            <a:ext cx="3154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596896"/>
            <a:ext cx="300837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connect_ms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578608"/>
            <a:ext cx="3337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2596896"/>
            <a:ext cx="319125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577.1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2578608"/>
            <a:ext cx="3520440" cy="749808"/>
          </a:xfrm>
          <a:prstGeom prst="rect">
            <a:avLst/>
          </a:prstGeom>
          <a:solidFill>
            <a:srgbClr val="E8F4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2596896"/>
            <a:ext cx="337413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[추가 측정 필요]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346703"/>
            <a:ext cx="3154680" cy="749808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364991"/>
            <a:ext cx="300837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query_fetch_ms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346703"/>
            <a:ext cx="3337560" cy="749808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3364991"/>
            <a:ext cx="319125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115.1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3346703"/>
            <a:ext cx="3520440" cy="749808"/>
          </a:xfrm>
          <a:prstGeom prst="rect">
            <a:avLst/>
          </a:prstGeom>
          <a:solidFill>
            <a:srgbClr val="E8F4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9831" y="3364991"/>
            <a:ext cx="337413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[추가 측정 필요]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114800"/>
            <a:ext cx="3154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133087"/>
            <a:ext cx="300837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total_ms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4114800"/>
            <a:ext cx="3337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4133087"/>
            <a:ext cx="319125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729.5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114800"/>
            <a:ext cx="3520440" cy="749808"/>
          </a:xfrm>
          <a:prstGeom prst="rect">
            <a:avLst/>
          </a:prstGeom>
          <a:solidFill>
            <a:srgbClr val="E8F4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4133087"/>
            <a:ext cx="3374136" cy="7132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[추가 측정 필요]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074920"/>
            <a:ext cx="10332720" cy="603504"/>
          </a:xfrm>
          <a:prstGeom prst="roundRect">
            <a:avLst>
              <a:gd name="adj" fmla="val 12000"/>
            </a:avLst>
          </a:prstGeom>
          <a:solidFill>
            <a:srgbClr val="FFF5DE"/>
          </a:solidFill>
          <a:ln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193792"/>
            <a:ext cx="98755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775500"/>
                </a:solidFill>
                <a:latin typeface="Malgun Gothic"/>
              </a:rPr>
              <a:t>동일 질의·limit·앱 프로세스로 3회 이상 반복 측정 예정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개선 후 값은 비워 두었으며 실제 DB 및 Streamlit 환경에서 측정해야 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중복 결과는 검증했지만 검색 품질 평가는 남아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10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42062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데이터 정합성 실험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22860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64008" cy="1078992"/>
          </a:xfrm>
          <a:prstGeom prst="rect">
            <a:avLst/>
          </a:prstGeom>
          <a:solidFill>
            <a:srgbClr val="D95D39"/>
          </a:solidFill>
          <a:ln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75688"/>
            <a:ext cx="193852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1,842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42032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기존 JOIN 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88920"/>
            <a:ext cx="193852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947 chunks에서 증가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65960"/>
            <a:ext cx="22860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965960"/>
            <a:ext cx="64008" cy="1078992"/>
          </a:xfrm>
          <a:prstGeom prst="rect">
            <a:avLst/>
          </a:prstGeom>
          <a:solidFill>
            <a:srgbClr val="D95D39"/>
          </a:solidFill>
          <a:ln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075688"/>
            <a:ext cx="193852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407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542032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중복 chunk 그룹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70448" y="2496312"/>
            <a:ext cx="731520" cy="0"/>
          </a:xfrm>
          <a:prstGeom prst="line">
            <a:avLst/>
          </a:prstGeom>
          <a:ln w="381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12280" y="1965960"/>
            <a:ext cx="214884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965960"/>
            <a:ext cx="64008" cy="1078992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3448" y="2075688"/>
            <a:ext cx="18013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947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2542032"/>
            <a:ext cx="1801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수정 후 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788920"/>
            <a:ext cx="1801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distinct chunk 947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965960"/>
            <a:ext cx="214884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965960"/>
            <a:ext cx="64008" cy="1078992"/>
          </a:xfrm>
          <a:prstGeom prst="rect">
            <a:avLst/>
          </a:prstGeom>
          <a:solidFill>
            <a:srgbClr val="2B8A78"/>
          </a:solidFill>
          <a:ln>
            <a:solidFill>
              <a:srgbClr val="2B8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2075688"/>
            <a:ext cx="18013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rFonts a:latin="Malgun Gothic" a:ea="Malgun Gothic" a:cs="Malgun Gothic"/>
                <a:solidFill>
                  <a:srgbClr val="2B8A78"/>
                </a:solidFill>
                <a:latin typeface="Malgun Gothic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2542032"/>
            <a:ext cx="1801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중복 그룹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3474720"/>
            <a:ext cx="5257800" cy="1399032"/>
          </a:xfrm>
          <a:prstGeom prst="roundRect">
            <a:avLst>
              <a:gd name="adj" fmla="val 12000"/>
            </a:avLst>
          </a:prstGeom>
          <a:solidFill>
            <a:srgbClr val="E8F4F5"/>
          </a:solidFill>
          <a:ln>
            <a:solidFill>
              <a:srgbClr val="E8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675887"/>
            <a:ext cx="4754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실험 로그에서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50791"/>
            <a:ext cx="470916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correlated subquery가 대표 이미지 1개 반환
대표 질의 limit 5 / 10에서 중복 없음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3474720"/>
            <a:ext cx="5010912" cy="1399032"/>
          </a:xfrm>
          <a:prstGeom prst="roundRect">
            <a:avLst>
              <a:gd name="adj" fmla="val 12000"/>
            </a:avLst>
          </a:prstGeom>
          <a:solidFill>
            <a:srgbClr val="FFF0E9"/>
          </a:solidFill>
          <a:ln>
            <a:solidFill>
              <a:srgbClr val="FF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675887"/>
            <a:ext cx="44805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D95D39"/>
                </a:solidFill>
                <a:latin typeface="Malgun Gothic"/>
              </a:rPr>
              <a:t>Sonata 정량 평가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050791"/>
            <a:ext cx="448056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근거 평가셋 없음
Hit@k / MRR 결과 없음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JOIN 중복 해결은 relevance 품질 평가와 다른 검증 항목임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EDA에서 시작한 분석이 SQL·연결 구조 개선으로 이어졌다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11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1956816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35915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F2B134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788920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데이터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264408"/>
            <a:ext cx="1645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페이지·chunk·image 확인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136392"/>
            <a:ext cx="301752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98648" y="2148840"/>
            <a:ext cx="1956816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35915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F2B134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788920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문제 발견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264408"/>
            <a:ext cx="1645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JOIN 중복
연결 구간 지연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64608" y="3136392"/>
            <a:ext cx="301752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30368" y="2148840"/>
            <a:ext cx="1956816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235915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F2B134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788920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개선 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3264408"/>
            <a:ext cx="1645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대표 이미지 선택
연결 재사용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96327" y="3136392"/>
            <a:ext cx="301752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62088" y="2148840"/>
            <a:ext cx="1956816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35915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F2B134"/>
                </a:solidFill>
                <a:latin typeface="Malgun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788920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코드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3264408"/>
            <a:ext cx="1645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correlated subquery
ConnectionPool + warm-up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28048" y="3136392"/>
            <a:ext cx="301752" cy="0"/>
          </a:xfrm>
          <a:prstGeom prst="line">
            <a:avLst/>
          </a:prstGeom>
          <a:ln w="25400">
            <a:solidFill>
              <a:srgbClr val="F2B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93807" y="2148840"/>
            <a:ext cx="1956816" cy="1965960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9255" y="235915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FFE08A"/>
                </a:solidFill>
                <a:latin typeface="Malgun Gothi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9255" y="2788920"/>
            <a:ext cx="1645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다음 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9255" y="3264408"/>
            <a:ext cx="1645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rFonts a:latin="Malgun Gothic" a:ea="Malgun Gothic" a:cs="Malgun Gothic"/>
                <a:solidFill>
                  <a:srgbClr val="D8F1F2"/>
                </a:solidFill>
                <a:latin typeface="Malgun Gothic"/>
              </a:rPr>
              <a:t>실측·검색 품질
[측정 예정]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89204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이미지 JOIN 중복은 문서상 실험으로 확인 · Pool 효과는 실제 환경 검증 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분석 결과가 검색 SQL 수정과 DatabaseManager 연결 생명주기 개선에 반영됨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rFonts a:latin="Malgun Gothic" a:ea="Malgun Gothic" a:cs="Malgun Gothic"/>
                <a:solidFill>
                  <a:srgbClr val="087E8B"/>
                </a:solidFill>
                <a:latin typeface="Malgun Gothic"/>
              </a:rPr>
              <a:t>CAR MANUAL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rFonts a:latin="Malgun Gothic" a:ea="Malgun Gothic" a:cs="Malgun Gothic"/>
                <a:solidFill>
                  <a:srgbClr val="102A43"/>
                </a:solidFill>
                <a:latin typeface="Malgun Gothic"/>
              </a:rPr>
              <a:t>다음 단계는 실제 성능 측정과 검색 품질 평가다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70432"/>
            <a:ext cx="621792" cy="41148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12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102352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27632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517904"/>
            <a:ext cx="406908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실제 Streamlit 검색 반복 측정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92808"/>
            <a:ext cx="40690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동일 질의로 3회 이상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02352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627632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1517904"/>
            <a:ext cx="406908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warm-up 이후 connect_ms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892808"/>
            <a:ext cx="40690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개선 전·후 기록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96312"/>
            <a:ext cx="5102352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2633472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2706624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2596896"/>
            <a:ext cx="406908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Sonata 검색 품질 평가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2971800"/>
            <a:ext cx="40690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근거셋 · Hit@k · MRR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496312"/>
            <a:ext cx="5102352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2633472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2706624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2596896"/>
            <a:ext cx="406908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README 정리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2971800"/>
            <a:ext cx="40690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설치 · 실행 · 적재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75304"/>
            <a:ext cx="5102352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371246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3785616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rFonts a:latin="Malgun Gothic" a:ea="Malgun Gothic" a:cs="Malgun Gothic"/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3675888"/>
            <a:ext cx="406908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243B53"/>
                </a:solidFill>
                <a:latin typeface="Malgun Gothic"/>
              </a:rPr>
              <a:t>발표자료 최종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1912" y="4050791"/>
            <a:ext cx="40690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검증 결과 반영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5138928"/>
            <a:ext cx="10561320" cy="630936"/>
          </a:xfrm>
          <a:prstGeom prst="roundRect">
            <a:avLst>
              <a:gd name="adj" fmla="val 12000"/>
            </a:avLst>
          </a:prstGeom>
          <a:solidFill>
            <a:srgbClr val="FFF5DE"/>
          </a:solidFill>
          <a:ln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276088"/>
            <a:ext cx="1010412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rFonts a:latin="Malgun Gothic" a:ea="Malgun Gothic" a:cs="Malgun Gothic"/>
                <a:solidFill>
                  <a:srgbClr val="775500"/>
                </a:solidFill>
                <a:latin typeface="Malgun Gothic"/>
              </a:rPr>
              <a:t>측정되지 않은 개선 효과와 검색 지표는 결과로 제시하지 않음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45936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rFonts a:latin="Malgun Gothic" a:ea="Malgun Gothic" a:cs="Malgun Gothic"/>
                <a:solidFill>
                  <a:srgbClr val="627D98"/>
                </a:solidFill>
                <a:latin typeface="Malgun Gothic"/>
              </a:rPr>
              <a:t>남은 제출 작업: 평가 결과 확정 · README · 최종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차량 매뉴얼 기반 RAG 검색 — 발표 초안</dc:title>
  <dc:subject>프로젝트 분석 및 구현 진행 발표용 시각 초안</dc:subject>
  <dc:creator>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