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1.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6a3ab2be55be47a1" /><Relationship Type="http://schemas.openxmlformats.org/officeDocument/2006/relationships/extended-properties" Target="/docProps/app.xml" Id="R457fb75b579c4c26" /><Relationship Type="http://schemas.openxmlformats.org/officeDocument/2006/relationships/officeDocument" Target="/ppt/presentation.xml" Id="Re62abb7a3f174af3" /></Relationships>
</file>

<file path=ppt/presentation.xml><?xml version="1.0" encoding="utf-8"?>
<p:presentation xmlns:p="http://schemas.openxmlformats.org/presentationml/2006/main">
  <p:sldMasterIdLst>
    <p:sldMasterId xmlns:r="http://schemas.openxmlformats.org/officeDocument/2006/relationships" id="2147483648" r:id="R4f1a99f96343408b"/>
  </p:sldMasterIdLst>
  <p:notesMasterIdLst>
    <p:notesMasterId xmlns:r="http://schemas.openxmlformats.org/officeDocument/2006/relationships" r:id="R00146291b1c24661"/>
  </p:notesMasterIdLst>
  <p:sldIdLst>
    <p:sldId xmlns:r="http://schemas.openxmlformats.org/officeDocument/2006/relationships" id="256" r:id="Rfa0158faca4d4316"/>
    <p:sldId xmlns:r="http://schemas.openxmlformats.org/officeDocument/2006/relationships" id="257" r:id="R2ea577d12f334c85"/>
    <p:sldId xmlns:r="http://schemas.openxmlformats.org/officeDocument/2006/relationships" id="258" r:id="R437cbbbb492e40f9"/>
    <p:sldId xmlns:r="http://schemas.openxmlformats.org/officeDocument/2006/relationships" id="259" r:id="R7bfb8d54fe904448"/>
    <p:sldId xmlns:r="http://schemas.openxmlformats.org/officeDocument/2006/relationships" id="260" r:id="Rc855a284e5014b66"/>
    <p:sldId xmlns:r="http://schemas.openxmlformats.org/officeDocument/2006/relationships" id="261" r:id="Ref617438d753438d"/>
    <p:sldId xmlns:r="http://schemas.openxmlformats.org/officeDocument/2006/relationships" id="262" r:id="R296ca44a82b14b55"/>
    <p:sldId xmlns:r="http://schemas.openxmlformats.org/officeDocument/2006/relationships" id="263" r:id="Rd02e94e4d31942b7"/>
    <p:sldId xmlns:r="http://schemas.openxmlformats.org/officeDocument/2006/relationships" id="264" r:id="R1e324fb3ac41479d"/>
    <p:sldId xmlns:r="http://schemas.openxmlformats.org/officeDocument/2006/relationships" id="265" r:id="Ra7a834a0bc3f46cc"/>
    <p:sldId xmlns:r="http://schemas.openxmlformats.org/officeDocument/2006/relationships" id="266" r:id="R88892e968b924bf7"/>
    <p:sldId xmlns:r="http://schemas.openxmlformats.org/officeDocument/2006/relationships" id="267" r:id="Rf218ed09daa24846"/>
    <p:sldId xmlns:r="http://schemas.openxmlformats.org/officeDocument/2006/relationships" id="268" r:id="R5ef9daa4a5df48b5"/>
    <p:sldId xmlns:r="http://schemas.openxmlformats.org/officeDocument/2006/relationships" id="269" r:id="R047cd4426fb14c49"/>
    <p:sldId xmlns:r="http://schemas.openxmlformats.org/officeDocument/2006/relationships" id="270" r:id="R04a5aa4cf6ec4421"/>
    <p:sldId xmlns:r="http://schemas.openxmlformats.org/officeDocument/2006/relationships" id="271" r:id="R7f67fcea6b2b458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4b4e96dc4f04811" /><Relationship Type="http://schemas.openxmlformats.org/officeDocument/2006/relationships/slideMaster" Target="/ppt/slideMasters/slideMaster1.xml" Id="R4f1a99f96343408b" /><Relationship Type="http://schemas.openxmlformats.org/officeDocument/2006/relationships/notesMaster" Target="/ppt/notesMasters/notesMaster1.xml" Id="R00146291b1c24661" /><Relationship Type="http://schemas.openxmlformats.org/officeDocument/2006/relationships/presProps" Target="/ppt/presProps.xml" Id="Rb700cd60dd4b4868" /><Relationship Type="http://schemas.openxmlformats.org/officeDocument/2006/relationships/tableStyles" Target="/ppt/tableStyles.xml" Id="R1e9daf32346c4e08" /><Relationship Type="http://schemas.openxmlformats.org/officeDocument/2006/relationships/slide" Target="/ppt/slides/slide1.xml" Id="Rfa0158faca4d4316" /><Relationship Type="http://schemas.openxmlformats.org/officeDocument/2006/relationships/slide" Target="/ppt/slides/slide2.xml" Id="R2ea577d12f334c85" /><Relationship Type="http://schemas.openxmlformats.org/officeDocument/2006/relationships/slide" Target="/ppt/slides/slide3.xml" Id="R437cbbbb492e40f9" /><Relationship Type="http://schemas.openxmlformats.org/officeDocument/2006/relationships/slide" Target="/ppt/slides/slide4.xml" Id="R7bfb8d54fe904448" /><Relationship Type="http://schemas.openxmlformats.org/officeDocument/2006/relationships/slide" Target="/ppt/slides/slide5.xml" Id="Rc855a284e5014b66" /><Relationship Type="http://schemas.openxmlformats.org/officeDocument/2006/relationships/slide" Target="/ppt/slides/slide6.xml" Id="Ref617438d753438d" /><Relationship Type="http://schemas.openxmlformats.org/officeDocument/2006/relationships/slide" Target="/ppt/slides/slide7.xml" Id="R296ca44a82b14b55" /><Relationship Type="http://schemas.openxmlformats.org/officeDocument/2006/relationships/slide" Target="/ppt/slides/slide8.xml" Id="Rd02e94e4d31942b7" /><Relationship Type="http://schemas.openxmlformats.org/officeDocument/2006/relationships/slide" Target="/ppt/slides/slide9.xml" Id="R1e324fb3ac41479d" /><Relationship Type="http://schemas.openxmlformats.org/officeDocument/2006/relationships/slide" Target="/ppt/slides/slide10.xml" Id="Ra7a834a0bc3f46cc" /><Relationship Type="http://schemas.openxmlformats.org/officeDocument/2006/relationships/slide" Target="/ppt/slides/slide11.xml" Id="R88892e968b924bf7" /><Relationship Type="http://schemas.openxmlformats.org/officeDocument/2006/relationships/slide" Target="/ppt/slides/slide12.xml" Id="Rf218ed09daa24846" /><Relationship Type="http://schemas.openxmlformats.org/officeDocument/2006/relationships/slide" Target="/ppt/slides/slide13.xml" Id="R5ef9daa4a5df48b5" /><Relationship Type="http://schemas.openxmlformats.org/officeDocument/2006/relationships/slide" Target="/ppt/slides/slide14.xml" Id="R047cd4426fb14c49" /><Relationship Type="http://schemas.openxmlformats.org/officeDocument/2006/relationships/slide" Target="/ppt/slides/slide15.xml" Id="R04a5aa4cf6ec4421" /><Relationship Type="http://schemas.openxmlformats.org/officeDocument/2006/relationships/slide" Target="/ppt/slides/slide16.xml" Id="R7f67fcea6b2b458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a30b2435efa4f7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970c111c1024314" /><Relationship Type="http://schemas.openxmlformats.org/officeDocument/2006/relationships/notesMaster" Target="/ppt/notesMasters/notesMaster1.xml" Id="R8d13ba0511154867" /></Relationships>
</file>

<file path=ppt/notesSlides/_rels/notesSlide2.xml.rels>&#65279;<?xml version="1.0" encoding="utf-8"?><Relationships xmlns="http://schemas.openxmlformats.org/package/2006/relationships"><Relationship Type="http://schemas.openxmlformats.org/officeDocument/2006/relationships/slide" Target="/ppt/slides/slide2.xml" Id="Rac9606a36b834fc1" /><Relationship Type="http://schemas.openxmlformats.org/officeDocument/2006/relationships/notesMaster" Target="/ppt/notesMasters/notesMaster1.xml" Id="Rdcecad6c4f384fe1" /></Relationships>
</file>

<file path=ppt/notesSlides/_rels/notesSlide3.xml.rels>&#65279;<?xml version="1.0" encoding="utf-8"?><Relationships xmlns="http://schemas.openxmlformats.org/package/2006/relationships"><Relationship Type="http://schemas.openxmlformats.org/officeDocument/2006/relationships/slide" Target="/ppt/slides/slide3.xml" Id="R9a54414b552f449a" /><Relationship Type="http://schemas.openxmlformats.org/officeDocument/2006/relationships/notesMaster" Target="/ppt/notesMasters/notesMaster1.xml" Id="R3be0b24b90064a88" /></Relationships>
</file>

<file path=ppt/notesSlides/_rels/notesSlide4.xml.rels>&#65279;<?xml version="1.0" encoding="utf-8"?><Relationships xmlns="http://schemas.openxmlformats.org/package/2006/relationships"><Relationship Type="http://schemas.openxmlformats.org/officeDocument/2006/relationships/slide" Target="/ppt/slides/slide4.xml" Id="R331fd557e9f24c9d" /><Relationship Type="http://schemas.openxmlformats.org/officeDocument/2006/relationships/notesMaster" Target="/ppt/notesMasters/notesMaster1.xml" Id="R7fe15783fac446a8" /></Relationships>
</file>

<file path=ppt/notesSlides/_rels/notesSlide5.xml.rels>&#65279;<?xml version="1.0" encoding="utf-8"?><Relationships xmlns="http://schemas.openxmlformats.org/package/2006/relationships"><Relationship Type="http://schemas.openxmlformats.org/officeDocument/2006/relationships/slide" Target="/ppt/slides/slide5.xml" Id="Ra26293daeabe459f" /><Relationship Type="http://schemas.openxmlformats.org/officeDocument/2006/relationships/notesMaster" Target="/ppt/notesMasters/notesMaster1.xml" Id="R825dd0916cb74cf8" /></Relationships>
</file>

<file path=ppt/notesSlides/_rels/notesSlide6.xml.rels>&#65279;<?xml version="1.0" encoding="utf-8"?><Relationships xmlns="http://schemas.openxmlformats.org/package/2006/relationships"><Relationship Type="http://schemas.openxmlformats.org/officeDocument/2006/relationships/slide" Target="/ppt/slides/slide6.xml" Id="R883913562e764e0a" /><Relationship Type="http://schemas.openxmlformats.org/officeDocument/2006/relationships/notesMaster" Target="/ppt/notesMasters/notesMaster1.xml" Id="R0b5a3bf4f0df41c5" /></Relationships>
</file>

<file path=ppt/notesSlides/_rels/notesSlide7.xml.rels>&#65279;<?xml version="1.0" encoding="utf-8"?><Relationships xmlns="http://schemas.openxmlformats.org/package/2006/relationships"><Relationship Type="http://schemas.openxmlformats.org/officeDocument/2006/relationships/slide" Target="/ppt/slides/slide7.xml" Id="Rd27f0cd47c9b4644" /><Relationship Type="http://schemas.openxmlformats.org/officeDocument/2006/relationships/notesMaster" Target="/ppt/notesMasters/notesMaster1.xml" Id="R17e886713ce2466f" /></Relationships>
</file>

<file path=ppt/notesSlides/_rels/notesSlide8.xml.rels>&#65279;<?xml version="1.0" encoding="utf-8"?><Relationships xmlns="http://schemas.openxmlformats.org/package/2006/relationships"><Relationship Type="http://schemas.openxmlformats.org/officeDocument/2006/relationships/slide" Target="/ppt/slides/slide8.xml" Id="R2f0b4b33ef3149a6" /><Relationship Type="http://schemas.openxmlformats.org/officeDocument/2006/relationships/notesMaster" Target="/ppt/notesMasters/notesMaster1.xml" Id="Rcde34f02925e4dc0" /></Relationships>
</file>

<file path=ppt/notesSlides/_rels/notesSlide9.xml.rels>&#65279;<?xml version="1.0" encoding="utf-8"?><Relationships xmlns="http://schemas.openxmlformats.org/package/2006/relationships"><Relationship Type="http://schemas.openxmlformats.org/officeDocument/2006/relationships/slide" Target="/ppt/slides/slide9.xml" Id="R982173f569a24195" /><Relationship Type="http://schemas.openxmlformats.org/officeDocument/2006/relationships/notesMaster" Target="/ppt/notesMasters/notesMaster1.xml" Id="R772cdf6cc794493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da45c9947ca4d44" /><Relationship Type="http://schemas.openxmlformats.org/officeDocument/2006/relationships/notesMaster" Target="/ppt/notesMasters/notesMaster1.xml" Id="Rb5a9db922d864a9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d4f1f8663964895" /><Relationship Type="http://schemas.openxmlformats.org/officeDocument/2006/relationships/notesMaster" Target="/ppt/notesMasters/notesMaster1.xml" Id="R997834c812ba4d6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6ae5be559a748f2" /><Relationship Type="http://schemas.openxmlformats.org/officeDocument/2006/relationships/notesMaster" Target="/ppt/notesMasters/notesMaster1.xml" Id="Ref43b5fc502045e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76e74396827436d" /><Relationship Type="http://schemas.openxmlformats.org/officeDocument/2006/relationships/notesMaster" Target="/ppt/notesMasters/notesMaster1.xml" Id="Rfd8695d08be048a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1c5b2260da24f31" /><Relationship Type="http://schemas.openxmlformats.org/officeDocument/2006/relationships/notesMaster" Target="/ppt/notesMasters/notesMaster1.xml" Id="R17638928f384468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7bc01aa984144e7" /><Relationship Type="http://schemas.openxmlformats.org/officeDocument/2006/relationships/notesMaster" Target="/ppt/notesMasters/notesMaster1.xml" Id="Rcb577a8f43b04fc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c0f7559a4ec4f28" /><Relationship Type="http://schemas.openxmlformats.org/officeDocument/2006/relationships/notesMaster" Target="/ppt/notesMasters/notesMaster1.xml" Id="R6e441c609be542c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약 12~15분 발표용 구성입니다. 싼타페 한 차종만 설명합니다. 핵심 문장: 설명서에서 관련 근거를 찾고 검토 상태와 질문 목적을 확인한 뒤 답합니다. 마지막에는 검색 성공 이후의 근거 선택과 답변 품질이 남은 과제라는 결론을 제시합니다.</a:t>
            </a:r>
          </a:p>
          <a:p xmlns:a="http://schemas.openxmlformats.org/drawingml/2006/main">
            <a:r>
              <a:t/>
            </a:r>
          </a:p>
          <a:p xmlns:a="http://schemas.openxmlformats.org/drawingml/2006/main">
            <a:r>
              <a:t>근거 파일:</a:t>
            </a:r>
          </a:p>
          <a:p xmlns:a="http://schemas.openxmlformats.org/drawingml/2006/main">
            <a:r>
              <a:t>C:\mle-02-p1-team1\src\car_search_rag\zzong_santafe_lag\README.md</a:t>
            </a:r>
          </a:p>
          <a:p xmlns:a="http://schemas.openxmlformats.org/drawingml/2006/main">
            <a:r>
              <a:t>C:\mle-02-p1-team1\src\car_search_rag\zzong_santafe_lag\presentation\content.json</a:t>
            </a:r>
          </a:p>
          <a:p xmlns:a="http://schemas.openxmlformats.org/drawingml/2006/main">
            <a:r>
              <a:t/>
            </a:r>
          </a:p>
          <a:p xmlns:a="http://schemas.openxmlformats.org/drawingml/2006/main">
            <a:r>
              <a:t>수업 근거: C:\mle-02-p1-team1\src\car_search_rag\zzong_santafe_lag\presentation\lesson_evidence.json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사용자가 두꺼운 설명서에서 필요한 부분을 빨리 찾도록 돕는 것이 목표입니다. 수업의 RAG는 외부 자료를 찾아 답변에 사용하는 방식입니다. 이를 설명서 한 개로 구체화했습니다. M0~M9 명칭은 기존 합의 프로젝트 계획을 따릅니다. Notion 수업 순서의 최신 내용을 직접 대조했다고 말하지 않습니다.</a:t>
            </a:r>
          </a:p>
          <a:p xmlns:a="http://schemas.openxmlformats.org/drawingml/2006/main">
            <a:r>
              <a:t/>
            </a:r>
          </a:p>
          <a:p xmlns:a="http://schemas.openxmlformats.org/drawingml/2006/main">
            <a:r>
              <a:t>근거 파일:</a:t>
            </a:r>
          </a:p>
          <a:p xmlns:a="http://schemas.openxmlformats.org/drawingml/2006/main">
            <a:r>
              <a:t>C:\mle-02-p1-team1\src\car_search_rag\docs\santafe_project_plan.md</a:t>
            </a:r>
          </a:p>
          <a:p xmlns:a="http://schemas.openxmlformats.org/drawingml/2006/main">
            <a:r>
              <a:t>C:\mle-02-p1-team1\src\car_search_rag\zzong_santafe_lag\source_profile.py</a:t>
            </a:r>
          </a:p>
          <a:p xmlns:a="http://schemas.openxmlformats.org/drawingml/2006/main">
            <a:r>
              <a:t>C:\mle-02-p1-team1\src\car_search_rag\zzong_santafe_lag\answer_service.py</a:t>
            </a:r>
          </a:p>
          <a:p xmlns:a="http://schemas.openxmlformats.org/drawingml/2006/main">
            <a:r>
              <a:t/>
            </a:r>
          </a:p>
          <a:p xmlns:a="http://schemas.openxmlformats.org/drawingml/2006/main">
            <a:r>
              <a:t>수업 근거: C:\mle-02-p1-team1\src\car_search_rag\zzong_santafe_lag\presentation\lesson_evidence.json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글자를 추출하는 것만으로는 표 숫자의 조건이나 안내도 번호 관계를 알기 어렵습니다. 이 단계에서 글과 도안, 페이지가 어떤 관계인지 확인했습니다. PyMuPDF는 원본 페이지를 사람이 대조할 때 사용합니다. 자동 OCR이나 비전 이해 결과로 설명하지 않습니다.</a:t>
            </a:r>
          </a:p>
          <a:p xmlns:a="http://schemas.openxmlformats.org/drawingml/2006/main">
            <a:r>
              <a:t/>
            </a:r>
          </a:p>
          <a:p xmlns:a="http://schemas.openxmlformats.org/drawingml/2006/main">
            <a:r>
              <a:t>근거 파일:</a:t>
            </a:r>
          </a:p>
          <a:p xmlns:a="http://schemas.openxmlformats.org/drawingml/2006/main">
            <a:r>
              <a:t>C:\mle-02-p1-team1\src\car_search_rag\zzong_santafe_lag\pdf_reader.py</a:t>
            </a:r>
          </a:p>
          <a:p xmlns:a="http://schemas.openxmlformats.org/drawingml/2006/main">
            <a:r>
              <a:t>C:\mle-02-p1-team1\src\car_search_rag\zzong_santafe_lag\analysis_results\summary.json</a:t>
            </a:r>
          </a:p>
          <a:p xmlns:a="http://schemas.openxmlformats.org/drawingml/2006/main">
            <a:r>
              <a:t>C:\mle-02-p1-team1\src\car_search_rag\zzong_santafe_lag\presentation\lesson_evidence.json</a:t>
            </a:r>
          </a:p>
          <a:p xmlns:a="http://schemas.openxmlformats.org/drawingml/2006/main">
            <a:r>
              <a:t/>
            </a:r>
          </a:p>
          <a:p xmlns:a="http://schemas.openxmlformats.org/drawingml/2006/main">
            <a:r>
              <a:t>수업 근거: C:\mle-02-p1-team1\src\car_search_rag\zzong_santafe_lag\presentation\lesson_evidence.json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수업에서는 RecursiveCharacterTextSplitter로 문서를 나누었습니다. 싼타페는 작은 검색 조각이 표 조건과 각주를 잃지 않도록 부모·자식 구조를 추가했습니다. 128토큰은 현재 OpenAI 모델의 입력 한도가 아니라 초기 로컬 임베딩 설계에서 이어진 청킹 기준입니다. OpenAI 비교에서도 동일 청크를 유지했습니다.</a:t>
            </a:r>
          </a:p>
          <a:p xmlns:a="http://schemas.openxmlformats.org/drawingml/2006/main">
            <a:r>
              <a:t/>
            </a:r>
          </a:p>
          <a:p xmlns:a="http://schemas.openxmlformats.org/drawingml/2006/main">
            <a:r>
              <a:t>근거 파일:</a:t>
            </a:r>
          </a:p>
          <a:p xmlns:a="http://schemas.openxmlformats.org/drawingml/2006/main">
            <a:r>
              <a:t>C:\mle-02-p1-team1\src\car_search_rag\zzong_santafe_lag\chunking.py</a:t>
            </a:r>
          </a:p>
          <a:p xmlns:a="http://schemas.openxmlformats.org/drawingml/2006/main">
            <a:r>
              <a:t>C:\mle-02-p1-team1\src\car_search_rag\zzong_santafe_lag\sample_records.py</a:t>
            </a:r>
          </a:p>
          <a:p xmlns:a="http://schemas.openxmlformats.org/drawingml/2006/main">
            <a:r>
              <a:t>C:\mle-02-p1-team1\src\car_search_rag\zzong_santafe_lag\analysis_results\report.md</a:t>
            </a:r>
          </a:p>
          <a:p xmlns:a="http://schemas.openxmlformats.org/drawingml/2006/main">
            <a:r>
              <a:t>C:\mle-02-p1-team1\src\car_search_rag\zzong_santafe_lag\presentation\lesson_evidence.json</a:t>
            </a:r>
          </a:p>
          <a:p xmlns:a="http://schemas.openxmlformats.org/drawingml/2006/main">
            <a:r>
              <a:t/>
            </a:r>
          </a:p>
          <a:p xmlns:a="http://schemas.openxmlformats.org/drawingml/2006/main">
            <a:r>
              <a:t>수업 근거: C:\mle-02-p1-team1\src\car_search_rag\zzong_santafe_lag\presentation\lesson_evidence.json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2026년 10월 6일 07:48 UTC 분석 스냅샷입니다. 기본 저장 목록과 활성 검토 버전의 합계를 읽었습니다. 수업의 describe, 중앙값, 분포, 상관분석을 적용했습니다. 본문 길이와 청크 수의 순위 상관 0.9719는 기술 통계이며 검색 품질이나 인과관계의 증거가 아닙니다. 수업에서는 상관 개념을 확인했고 Spearman 선택은 프로젝트 적용입니다.</a:t>
            </a:r>
          </a:p>
          <a:p xmlns:a="http://schemas.openxmlformats.org/drawingml/2006/main">
            <a:r>
              <a:t/>
            </a:r>
          </a:p>
          <a:p xmlns:a="http://schemas.openxmlformats.org/drawingml/2006/main">
            <a:r>
              <a:t>근거 파일:</a:t>
            </a:r>
          </a:p>
          <a:p xmlns:a="http://schemas.openxmlformats.org/drawingml/2006/main">
            <a:r>
              <a:t>C:\mle-02-p1-team1\src\car_search_rag\zzong_santafe_lag\analysis_results\report.md</a:t>
            </a:r>
          </a:p>
          <a:p xmlns:a="http://schemas.openxmlformats.org/drawingml/2006/main">
            <a:r>
              <a:t>C:\mle-02-p1-team1\src\car_search_rag\zzong_santafe_lag\data_analysis.py</a:t>
            </a:r>
          </a:p>
          <a:p xmlns:a="http://schemas.openxmlformats.org/drawingml/2006/main">
            <a:r>
              <a:t>C:\mle-02-p1-team1\src\car_search_rag\zzong_santafe_lag\presentation\lesson_evidence.json</a:t>
            </a:r>
          </a:p>
          <a:p xmlns:a="http://schemas.openxmlformats.org/drawingml/2006/main">
            <a:r>
              <a:t/>
            </a:r>
          </a:p>
          <a:p xmlns:a="http://schemas.openxmlformats.org/drawingml/2006/main">
            <a:r>
              <a:t>수업 근거: C:\mle-02-p1-team1\src\car_search_rag\zzong_santafe_lag\presentation\lesson_evidence.json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수업에서 관계형 DB와 pgvector 확장, 코사인 거리 연산을 배웠습니다. 프로젝트에서는 여러 자료를 원문 ID와 모델 버전으로 묶었습니다. 현재 기본 검색은 DB에서 읽은 저장 벡터를 NumPy로 정렬하고 TF-IDF와 결합합니다. 모든 하이브리드 계산을 pgvector SQL 안에서 처리한다고 말하지 않습니다. 그림 파일 대조와 그림 의미 검토도 별도입니다.</a:t>
            </a:r>
          </a:p>
          <a:p xmlns:a="http://schemas.openxmlformats.org/drawingml/2006/main">
            <a:r>
              <a:t/>
            </a:r>
          </a:p>
          <a:p xmlns:a="http://schemas.openxmlformats.org/drawingml/2006/main">
            <a:r>
              <a:t>근거 파일:</a:t>
            </a:r>
          </a:p>
          <a:p xmlns:a="http://schemas.openxmlformats.org/drawingml/2006/main">
            <a:r>
              <a:t>C:\mle-02-p1-team1\src\car_search_rag\zzong_santafe_lag\database.py</a:t>
            </a:r>
          </a:p>
          <a:p xmlns:a="http://schemas.openxmlformats.org/drawingml/2006/main">
            <a:r>
              <a:t>C:\mle-02-p1-team1\src\car_search_rag\zzong_santafe_lag\openai_migration.py</a:t>
            </a:r>
          </a:p>
          <a:p xmlns:a="http://schemas.openxmlformats.org/drawingml/2006/main">
            <a:r>
              <a:t>C:\mle-02-p1-team1\src\car_search_rag\zzong_santafe_lag\openai_search_service.py</a:t>
            </a:r>
          </a:p>
          <a:p xmlns:a="http://schemas.openxmlformats.org/drawingml/2006/main">
            <a:r>
              <a:t>C:\mle-02-p1-team1\src\car_search_rag\zzong_santafe_lag\search_support.py</a:t>
            </a:r>
          </a:p>
          <a:p xmlns:a="http://schemas.openxmlformats.org/drawingml/2006/main">
            <a:r>
              <a:t>C:\mle-02-p1-team1\src\car_search_rag\zzong_santafe_lag\full_image_storage_service.py</a:t>
            </a:r>
          </a:p>
          <a:p xmlns:a="http://schemas.openxmlformats.org/drawingml/2006/main">
            <a:r>
              <a:t/>
            </a:r>
          </a:p>
          <a:p xmlns:a="http://schemas.openxmlformats.org/drawingml/2006/main">
            <a:r>
              <a:t>수업 근거: C:\mle-02-p1-team1\src\car_search_rag\zzong_santafe_lag\presentation\lesson_evidence.json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TF-IDF는 명사 토큰을 이용했습니다. 프로젝트는 한국어 공백 차이와 기술 명칭을 다루려고 글자 n-gram을 선택했습니다. 검색 후보에서는 목적에 맞는 자료 유형을 먼저 고르고 부족하면 다른 후보로 보충합니다. 현재 싼타페는 BM25, RRF, CrossEncoder 또는 LLM 재정렬 구조가 아닙니다. 0.5 가중치는 프로젝트 설계값이며 최적이라고 입증한 값이 아닙니다.</a:t>
            </a:r>
          </a:p>
          <a:p xmlns:a="http://schemas.openxmlformats.org/drawingml/2006/main">
            <a:r>
              <a:t/>
            </a:r>
          </a:p>
          <a:p xmlns:a="http://schemas.openxmlformats.org/drawingml/2006/main">
            <a:r>
              <a:t>근거 파일:</a:t>
            </a:r>
          </a:p>
          <a:p xmlns:a="http://schemas.openxmlformats.org/drawingml/2006/main">
            <a:r>
              <a:t>C:\mle-02-p1-team1\src\car_search_rag\zzong_santafe_lag\retrieval.py:purpose_rank</a:t>
            </a:r>
          </a:p>
          <a:p xmlns:a="http://schemas.openxmlformats.org/drawingml/2006/main">
            <a:r>
              <a:t>C:\mle-02-p1-team1\src\car_search_rag\zzong_santafe_lag\search_support.py:rank_stored_rows</a:t>
            </a:r>
          </a:p>
          <a:p xmlns:a="http://schemas.openxmlformats.org/drawingml/2006/main">
            <a:r>
              <a:t>C:\mle-02-p1-team1\src\car_search_rag\zzong_santafe_lag\specific_terms.py</a:t>
            </a:r>
          </a:p>
          <a:p xmlns:a="http://schemas.openxmlformats.org/drawingml/2006/main">
            <a:r>
              <a:t>C:\mle-02-p1-team1\src\car_search_rag\zzong_santafe_lag\presentation\lesson_evidence.json</a:t>
            </a:r>
          </a:p>
          <a:p xmlns:a="http://schemas.openxmlformats.org/drawingml/2006/main">
            <a:r>
              <a:t/>
            </a:r>
          </a:p>
          <a:p xmlns:a="http://schemas.openxmlformats.org/drawingml/2006/main">
            <a:r>
              <a:t>수업 근거: C:\mle-02-p1-team1\src\car_search_rag\zzong_santafe_lag\presentation\lesson_evidence.json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jhgan은 확인한 수업 자료 밖의 추가 모델입니다. 초기 10표본·27질문에서 Top1 24/27, Top3 27/27로 MiniLM의 23/27, 25/27보다 높아 우선 후보로 골랐습니다. 작은 표본 결과입니다. OpenAI 전환은 사용자 요청이며 같은 청크 비교에서 성능 우위는 확인하지 못했습니다. gpt-6-luna도 사용자 선택이고 생성 성능 비교는 남았습니다. 33개 수업 노트북에서 jhgan과 gpt-6-luna 사용을 찾지 못했습니다.</a:t>
            </a:r>
          </a:p>
          <a:p xmlns:a="http://schemas.openxmlformats.org/drawingml/2006/main">
            <a:r>
              <a:t/>
            </a:r>
          </a:p>
          <a:p xmlns:a="http://schemas.openxmlformats.org/drawingml/2006/main">
            <a:r>
              <a:t>근거 파일:</a:t>
            </a:r>
          </a:p>
          <a:p xmlns:a="http://schemas.openxmlformats.org/drawingml/2006/main">
            <a:r>
              <a:t>C:\mle-02-p1-team1\src\car_search_rag\zzong_santafe_lag\config.py</a:t>
            </a:r>
          </a:p>
          <a:p xmlns:a="http://schemas.openxmlformats.org/drawingml/2006/main">
            <a:r>
              <a:t>C:\mle-02-p1-team1\src\car_search_rag\zzong_santafe_lag\openai_embedding.py</a:t>
            </a:r>
          </a:p>
          <a:p xmlns:a="http://schemas.openxmlformats.org/drawingml/2006/main">
            <a:r>
              <a:t>C:\mle-02-p1-team1\src\car_search_rag\zzong_santafe_lag\llm_answer_service.py</a:t>
            </a:r>
          </a:p>
          <a:p xmlns:a="http://schemas.openxmlformats.org/drawingml/2006/main">
            <a:r>
              <a:t>C:\mle-02-p1-team1\src\car_search_rag\zzong_santafe_lag\learning_additions.md</a:t>
            </a:r>
          </a:p>
          <a:p xmlns:a="http://schemas.openxmlformats.org/drawingml/2006/main">
            <a:r>
              <a:t>C:\mle-02-p1-team1\src\car_search_rag\zzong_santafe_lag\presentation\lesson_evidence.json</a:t>
            </a:r>
          </a:p>
          <a:p xmlns:a="http://schemas.openxmlformats.org/drawingml/2006/main">
            <a:r>
              <a:t/>
            </a:r>
          </a:p>
          <a:p xmlns:a="http://schemas.openxmlformats.org/drawingml/2006/main">
            <a:r>
              <a:t>수업 근거: C:\mle-02-p1-team1\src\car_search_rag\zzong_santafe_lag\presentation\lesson_evidence.json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수업의 ChatPromptTemplate와 ChatOpenAI LCEL 연결을 재사용합니다. 프로젝트에서는 JSON items와 citation_ids로 답변 형식을 구체화했습니다. 화면은 답변, 보충 설명, 주의사항을 나눠 표시합니다. 출처 검사와 수치 검사 같은 규칙이 전체 의미 정확성을 보장하지는 않습니다. 미검토 원문과 관련 없는 검토 원문을 구별하는 단계가 중요합니다.</a:t>
            </a:r>
          </a:p>
          <a:p xmlns:a="http://schemas.openxmlformats.org/drawingml/2006/main">
            <a:r>
              <a:t/>
            </a:r>
          </a:p>
          <a:p xmlns:a="http://schemas.openxmlformats.org/drawingml/2006/main">
            <a:r>
              <a:t>근거 파일:</a:t>
            </a:r>
          </a:p>
          <a:p xmlns:a="http://schemas.openxmlformats.org/drawingml/2006/main">
            <a:r>
              <a:t>C:\mle-02-p1-team1\src\car_search_rag\zzong_santafe_lag\answer_service.py</a:t>
            </a:r>
          </a:p>
          <a:p xmlns:a="http://schemas.openxmlformats.org/drawingml/2006/main">
            <a:r>
              <a:t>C:\mle-02-p1-team1\src\car_search_rag\zzong_santafe_lag\llm_answer_service.py</a:t>
            </a:r>
          </a:p>
          <a:p xmlns:a="http://schemas.openxmlformats.org/drawingml/2006/main">
            <a:r>
              <a:t>C:\mle-02-p1-team1\src\car_search_rag\zzong_santafe_lag\answer_display.py</a:t>
            </a:r>
          </a:p>
          <a:p xmlns:a="http://schemas.openxmlformats.org/drawingml/2006/main">
            <a:r>
              <a:t>C:\mle-02-p1-team1\src\car_search_rag\zzong_santafe_lag\app.py</a:t>
            </a:r>
          </a:p>
          <a:p xmlns:a="http://schemas.openxmlformats.org/drawingml/2006/main">
            <a:r>
              <a:t/>
            </a:r>
          </a:p>
          <a:p xmlns:a="http://schemas.openxmlformats.org/drawingml/2006/main">
            <a:r>
              <a:t>수업 근거: C:\mle-02-p1-team1\src\car_search_rag\zzong_santafe_lag\presentation\lesson_evidence.json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Hit@5는 기대 근거가 상위 다섯 개에 포함된 질문 비율입니다. MRR@5는 첫 기대 근거 순위의 역수 평균이며 상위 다섯 개 밖은 0입니다. 50문항 초기 응답은 검색 47회, 생성 0회였습니다. 별도 사용자 캡처 50개는 통과 21, 부분 2, 실패 27이고 생성 답변 16개를 확인했습니다. 서로 조건이 달라 단순 전후 비교를 하지 않습니다. 추가 30문항은 검색 30회, 생성 요청 14회 중 생성 5개, 발췌 복귀 9개입니다.</a:t>
            </a:r>
          </a:p>
          <a:p xmlns:a="http://schemas.openxmlformats.org/drawingml/2006/main">
            <a:r>
              <a:t/>
            </a:r>
          </a:p>
          <a:p xmlns:a="http://schemas.openxmlformats.org/drawingml/2006/main">
            <a:r>
              <a:t>근거 파일:</a:t>
            </a:r>
          </a:p>
          <a:p xmlns:a="http://schemas.openxmlformats.org/drawingml/2006/main">
            <a:r>
              <a:t>C:\mle-02-p1-team1\src\car_search_rag\zzong_santafe_lag\evaluation_50_results\summary.json</a:t>
            </a:r>
          </a:p>
          <a:p xmlns:a="http://schemas.openxmlformats.org/drawingml/2006/main">
            <a:r>
              <a:t>C:\mle-02-p1-team1\src\car_search_rag\zzong_santafe_lag\evaluation_50_results\screenshot_evaluation.json</a:t>
            </a:r>
          </a:p>
          <a:p xmlns:a="http://schemas.openxmlformats.org/drawingml/2006/main">
            <a:r>
              <a:t>C:\mle-02-p1-team1\src\car_search_rag\zzong_santafe_lag\evaluation_30_results\summary.json</a:t>
            </a:r>
          </a:p>
          <a:p xmlns:a="http://schemas.openxmlformats.org/drawingml/2006/main">
            <a:r>
              <a:t>C:\mle-02-p1-team1\src\car_search_rag\zzong_santafe_lag\db_evaluation_service.py</a:t>
            </a:r>
          </a:p>
          <a:p xmlns:a="http://schemas.openxmlformats.org/drawingml/2006/main">
            <a:r>
              <a:t/>
            </a:r>
          </a:p>
          <a:p xmlns:a="http://schemas.openxmlformats.org/drawingml/2006/main">
            <a:r>
              <a:t>수업 근거: C:\mle-02-p1-team1\src\car_search_rag\zzong_santafe_lag\presentation\lesson_evidence.json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첫 실험은 모델·청크·질문·벡터를 유지하고 구체 표현 보너스만 바꿨습니다. 다른 29문항의 기대 순위는 동일했습니다. 다음 비교는 같은 청크와 TF-IDF·목적·표현 규칙에서 임베딩을 바꿨습니다. 이 결과는 새 질문 일반화나 OpenAI 우위를 보여 주지 않습니다. 기대 ID 기반 Precision 보조값 0.2를 전체 관련성 Precision으로 소개하지 않습니다.</a:t>
            </a:r>
          </a:p>
          <a:p xmlns:a="http://schemas.openxmlformats.org/drawingml/2006/main">
            <a:r>
              <a:t/>
            </a:r>
          </a:p>
          <a:p xmlns:a="http://schemas.openxmlformats.org/drawingml/2006/main">
            <a:r>
              <a:t>근거 파일:</a:t>
            </a:r>
          </a:p>
          <a:p xmlns:a="http://schemas.openxmlformats.org/drawingml/2006/main">
            <a:r>
              <a:t>C:\mle-02-p1-team1\src\car_search_rag\zzong_santafe_lag\m7_search_experiment.py</a:t>
            </a:r>
          </a:p>
          <a:p xmlns:a="http://schemas.openxmlformats.org/drawingml/2006/main">
            <a:r>
              <a:t>C:\mle-02-p1-team1\src\car_search_rag\zzong_santafe_lag\specific_terms.py</a:t>
            </a:r>
          </a:p>
          <a:p xmlns:a="http://schemas.openxmlformats.org/drawingml/2006/main">
            <a:r>
              <a:t>C:\mle-02-p1-team1\data\zzong_santafe_lag\reports\m7_specific_terms_20261002_142212.json</a:t>
            </a:r>
          </a:p>
          <a:p xmlns:a="http://schemas.openxmlformats.org/drawingml/2006/main">
            <a:r>
              <a:t>C:\mle-02-p1-team1\data\zzong_santafe_lag\openai_embeddings\comparison_summary.json</a:t>
            </a:r>
          </a:p>
          <a:p xmlns:a="http://schemas.openxmlformats.org/drawingml/2006/main">
            <a:r>
              <a:t/>
            </a:r>
          </a:p>
          <a:p xmlns:a="http://schemas.openxmlformats.org/drawingml/2006/main">
            <a:r>
              <a:t>수업 근거: C:\mle-02-p1-team1\src\car_search_rag\zzong_santafe_lag\presentation\lesson_evidence.json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추가 30문항 저장 결과에서 A01 스마트 키 질문은 검색 1위에 관련 문서가 있었습니다. 그러나 생성 검증 후 화면은 스마트 키 설명이 없는 차량 내부 II 발췌로 복귀했습니다. 문제를 검색 모델 하나의 성능으로만 해석하면 개선 방향을 놓칩니다. 이 기록은 평가 당시 상태입니다. 이후 코드에 보완이 있어도 동일 세트 재평가 없이 해결됐다고 주장하지 않습니다.</a:t>
            </a:r>
          </a:p>
          <a:p xmlns:a="http://schemas.openxmlformats.org/drawingml/2006/main">
            <a:r>
              <a:t/>
            </a:r>
          </a:p>
          <a:p xmlns:a="http://schemas.openxmlformats.org/drawingml/2006/main">
            <a:r>
              <a:t>근거 파일:</a:t>
            </a:r>
          </a:p>
          <a:p xmlns:a="http://schemas.openxmlformats.org/drawingml/2006/main">
            <a:r>
              <a:t>C:\mle-02-p1-team1\src\car_search_rag\zzong_santafe_lag\evaluation_30_results\report.md</a:t>
            </a:r>
          </a:p>
          <a:p xmlns:a="http://schemas.openxmlformats.org/drawingml/2006/main">
            <a:r>
              <a:t>C:\mle-02-p1-team1\src\car_search_rag\zzong_santafe_lag\answer_service.py</a:t>
            </a:r>
          </a:p>
          <a:p xmlns:a="http://schemas.openxmlformats.org/drawingml/2006/main">
            <a:r>
              <a:t/>
            </a:r>
          </a:p>
          <a:p xmlns:a="http://schemas.openxmlformats.org/drawingml/2006/main">
            <a:r>
              <a:t>수업 근거: C:\mle-02-p1-team1\src\car_search_rag\zzong_santafe_lag\presentation\lesson_evidence.json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화면은 10월 5일 차대번호 질문의 실제 저장 캡처입니다. 현재 화면과 완전히 같다고 가정하지 않습니다. 모델은 이미지 픽셀을 보지 않았고 프로그램이 표시 가능한 그림 수와 위치를 전달했습니다. 현재 출처·그림 연결과 답변 표시를 시연하고, 그림 업로드 864개가 전부 시각 검토됐다는 뜻은 아님을 설명합니다.</a:t>
            </a:r>
          </a:p>
          <a:p xmlns:a="http://schemas.openxmlformats.org/drawingml/2006/main">
            <a:r>
              <a:t/>
            </a:r>
          </a:p>
          <a:p xmlns:a="http://schemas.openxmlformats.org/drawingml/2006/main">
            <a:r>
              <a:t>근거 파일:</a:t>
            </a:r>
          </a:p>
          <a:p xmlns:a="http://schemas.openxmlformats.org/drawingml/2006/main">
            <a:r>
              <a:t>C:\mle-02-p1-team1\src\car_search_rag\zzong_santafe_lag\app.py</a:t>
            </a:r>
          </a:p>
          <a:p xmlns:a="http://schemas.openxmlformats.org/drawingml/2006/main">
            <a:r>
              <a:t>C:\mle-02-p1-team1\src\car_search_rag\zzong_santafe_lag\integrated_app.py</a:t>
            </a:r>
          </a:p>
          <a:p xmlns:a="http://schemas.openxmlformats.org/drawingml/2006/main">
            <a:r>
              <a:t>C:\mle-02-p1-team1\data\zzong_santafe_lag\reports\openai_ui_vin_answer_20261005.json</a:t>
            </a:r>
          </a:p>
          <a:p xmlns:a="http://schemas.openxmlformats.org/drawingml/2006/main">
            <a:r>
              <a:t/>
            </a:r>
          </a:p>
          <a:p xmlns:a="http://schemas.openxmlformats.org/drawingml/2006/main">
            <a:r>
              <a:t>수업 근거: C:\mle-02-p1-team1\src\car_search_rag\zzong_santafe_lag\presentation\lesson_evidence.json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싼타페 개인 integrated_app.py 메뉴에 연결합니다. 데이터 대시보드는 기존 네 탭을 유지하고 M0~M9 요약을 추가합니다. 작업 Document는 전체 스토리, 수업 개념과 프로젝트 추가 설계, 모델 이유, 시연과 Q&amp;A를 보여 줍니다. 팀 공통 app.py에는 이번 메뉴를 연결하지 않았습니다. 현재 설정과 배포 경로에 따라 사용할 진입 파일을 구분합니다.</a:t>
            </a:r>
          </a:p>
          <a:p xmlns:a="http://schemas.openxmlformats.org/drawingml/2006/main">
            <a:r>
              <a:t/>
            </a:r>
          </a:p>
          <a:p xmlns:a="http://schemas.openxmlformats.org/drawingml/2006/main">
            <a:r>
              <a:t>근거 파일:</a:t>
            </a:r>
          </a:p>
          <a:p xmlns:a="http://schemas.openxmlformats.org/drawingml/2006/main">
            <a:r>
              <a:t>C:\mle-02-p1-team1\src\car_search_rag\zzong_santafe_lag\integrated_app.py</a:t>
            </a:r>
          </a:p>
          <a:p xmlns:a="http://schemas.openxmlformats.org/drawingml/2006/main">
            <a:r>
              <a:t>C:\mle-02-p1-team1\src\car_search_rag\zzong_santafe_lag\data_dashboard.py</a:t>
            </a:r>
          </a:p>
          <a:p xmlns:a="http://schemas.openxmlformats.org/drawingml/2006/main">
            <a:r>
              <a:t>C:\mle-02-p1-team1\src\car_search_rag\zzong_santafe_lag\work_document.py</a:t>
            </a:r>
          </a:p>
          <a:p xmlns:a="http://schemas.openxmlformats.org/drawingml/2006/main">
            <a:r>
              <a:t>C:\mle-02-p1-team1\src\car_search_rag\zzong_santafe_lag\presentation\content.json</a:t>
            </a:r>
          </a:p>
          <a:p xmlns:a="http://schemas.openxmlformats.org/drawingml/2006/main">
            <a:r>
              <a:t/>
            </a:r>
          </a:p>
          <a:p xmlns:a="http://schemas.openxmlformats.org/drawingml/2006/main">
            <a:r>
              <a:t>수업 근거: C:\mle-02-p1-team1\src\car_search_rag\zzong_santafe_lag\presentation\lesson_evidence.json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시연은 차대번호 위치, 엔진 오일 용량·규격, 현재 리콜 대상 여부 순으로 준비합니다. 실제 결과를 발표 직전에 확인하고 미검토이면 보류 동작 자체를 설명합니다. 정상 사례만 보여 주지 않고 스마트 키 실패 기록을 대시보드에서 보여 줍니다. 다음 개선은 관련 후보가 있어도 다른 자료를 선택하는 문제, 미검토 원문, 구어체·복합 질문입니다.</a:t>
            </a:r>
          </a:p>
          <a:p xmlns:a="http://schemas.openxmlformats.org/drawingml/2006/main">
            <a:r>
              <a:t/>
            </a:r>
          </a:p>
          <a:p xmlns:a="http://schemas.openxmlformats.org/drawingml/2006/main">
            <a:r>
              <a:t>근거 파일:</a:t>
            </a:r>
          </a:p>
          <a:p xmlns:a="http://schemas.openxmlformats.org/drawingml/2006/main">
            <a:r>
              <a:t>C:\mle-02-p1-team1\src\car_search_rag\zzong_santafe_lag\presentation\content.json</a:t>
            </a:r>
          </a:p>
          <a:p xmlns:a="http://schemas.openxmlformats.org/drawingml/2006/main">
            <a:r>
              <a:t>C:\mle-02-p1-team1\src\car_search_rag\zzong_santafe_lag\evaluation_30_results\report.md</a:t>
            </a:r>
          </a:p>
          <a:p xmlns:a="http://schemas.openxmlformats.org/drawingml/2006/main">
            <a:r>
              <a:t>C:\mle-02-p1-team1\src\car_search_rag\zzong_santafe_lag\README.md</a:t>
            </a:r>
          </a:p>
          <a:p xmlns:a="http://schemas.openxmlformats.org/drawingml/2006/main">
            <a:r>
              <a:t/>
            </a:r>
          </a:p>
          <a:p xmlns:a="http://schemas.openxmlformats.org/drawingml/2006/main">
            <a:r>
              <a:t>수업 근거: C:\mle-02-p1-team1\src\car_search_rag\zzong_santafe_lag\presentation\lesson_evidence.json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마무리 문장: 수업에서 배운 검색과 생성 연결을 싼타페 설명서에 적용했고, 표·각주·그림·검토 상태를 실제 자료 구조에 맞게 연결했습니다. 기존 검색 지표와 새 응답 평가를 함께 보면서 검색 이후 단계의 중요성을 확인했습니다. 생성 정확도 전체나 모든 페이지 검토를 완료했다고 발표하지 않습니다.</a:t>
            </a:r>
          </a:p>
          <a:p xmlns:a="http://schemas.openxmlformats.org/drawingml/2006/main">
            <a:r>
              <a:t/>
            </a:r>
          </a:p>
          <a:p xmlns:a="http://schemas.openxmlformats.org/drawingml/2006/main">
            <a:r>
              <a:t>근거 파일:</a:t>
            </a:r>
          </a:p>
          <a:p xmlns:a="http://schemas.openxmlformats.org/drawingml/2006/main">
            <a:r>
              <a:t>C:\mle-02-p1-team1\src\car_search_rag\zzong_santafe_lag\presentation\lesson_evidence.json</a:t>
            </a:r>
          </a:p>
          <a:p xmlns:a="http://schemas.openxmlformats.org/drawingml/2006/main">
            <a:r>
              <a:t>C:\mle-02-p1-team1\src\car_search_rag\zzong_santafe_lag\presentation\content.json</a:t>
            </a:r>
          </a:p>
          <a:p xmlns:a="http://schemas.openxmlformats.org/drawingml/2006/main">
            <a:r>
              <a:t>C:\mle-02-p1-team1\src\car_search_rag\zzong_santafe_lag\analysis_results\report.md</a:t>
            </a:r>
          </a:p>
          <a:p xmlns:a="http://schemas.openxmlformats.org/drawingml/2006/main">
            <a:r>
              <a:t>C:\mle-02-p1-team1\src\car_search_rag\zzong_santafe_lag\evaluation_30_results\report.md</a:t>
            </a:r>
          </a:p>
          <a:p xmlns:a="http://schemas.openxmlformats.org/drawingml/2006/main">
            <a:r>
              <a:t/>
            </a:r>
          </a:p>
          <a:p xmlns:a="http://schemas.openxmlformats.org/drawingml/2006/main">
            <a:r>
              <a:t>수업 근거: C:\mle-02-p1-team1\src\car_search_rag\zzong_santafe_lag\presentation\lesson_evidence.json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64b64d71ffc4df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e6f41b536b74505" /><Relationship Type="http://schemas.openxmlformats.org/officeDocument/2006/relationships/slideLayout" Target="/ppt/slideLayouts/slideLayout1.xml" Id="Rf25e884546df43d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25e884546df43d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103ffe0c1094fa0" /><Relationship Type="http://schemas.openxmlformats.org/officeDocument/2006/relationships/notesSlide" Target="/ppt/notesSlides/notesSlide1.xml" Id="R03dc4bb68bcb471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74338338cf445fb" /><Relationship Type="http://schemas.openxmlformats.org/officeDocument/2006/relationships/notesSlide" Target="/ppt/notesSlides/notesSlide2.xml" Id="R47eebfb66c11455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1f1e217f61a42da" /><Relationship Type="http://schemas.openxmlformats.org/officeDocument/2006/relationships/notesSlide" Target="/ppt/notesSlides/notesSlide3.xml" Id="R2bf454f11b99402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8fd9d6ed43d418b" /><Relationship Type="http://schemas.openxmlformats.org/officeDocument/2006/relationships/notesSlide" Target="/ppt/notesSlides/notesSlide4.xml" Id="R322beebfc389447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1be26bca9864ff8" /><Relationship Type="http://schemas.openxmlformats.org/officeDocument/2006/relationships/notesSlide" Target="/ppt/notesSlides/notesSlide5.xml" Id="R9c4a29c487384df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897c3a91b5041ab" /><Relationship Type="http://schemas.openxmlformats.org/officeDocument/2006/relationships/notesSlide" Target="/ppt/notesSlides/notesSlide6.xml" Id="Ra4d42247332747c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486ef1487ae4a38" /><Relationship Type="http://schemas.openxmlformats.org/officeDocument/2006/relationships/notesSlide" Target="/ppt/notesSlides/notesSlide7.xml" Id="R9efb93654e8e41c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239e2c10fe8440a" /><Relationship Type="http://schemas.openxmlformats.org/officeDocument/2006/relationships/notesSlide" Target="/ppt/notesSlides/notesSlide8.xml" Id="Rd99f4cf0adcb44d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9fddd2f263e4b8f" /><Relationship Type="http://schemas.openxmlformats.org/officeDocument/2006/relationships/notesSlide" Target="/ppt/notesSlides/notesSlide9.xml" Id="Ra923ebd2a0b7422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2e3e86b38944a3a" /><Relationship Type="http://schemas.openxmlformats.org/officeDocument/2006/relationships/notesSlide" Target="/ppt/notesSlides/notesSlide10.xml" Id="R6e7e0601fc3441e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0f64059b7084c14" /><Relationship Type="http://schemas.openxmlformats.org/officeDocument/2006/relationships/chart" Target="/ppt/slides/charts/chart1.xml" Id="R032093d8d87246ee" /><Relationship Type="http://schemas.openxmlformats.org/officeDocument/2006/relationships/notesSlide" Target="/ppt/notesSlides/notesSlide11.xml" Id="R518f6c00f92644c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278daed4e5a4b46" /><Relationship Type="http://schemas.openxmlformats.org/officeDocument/2006/relationships/notesSlide" Target="/ppt/notesSlides/notesSlide12.xml" Id="R67858dcd5a24440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eacaf3e47674d6a" /><Relationship Type="http://schemas.openxmlformats.org/officeDocument/2006/relationships/image" Target="/ppt/media/image.jpeg" Id="R7872631076764107" /><Relationship Type="http://schemas.openxmlformats.org/officeDocument/2006/relationships/notesSlide" Target="/ppt/notesSlides/notesSlide13.xml" Id="R51218b0573864cb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7bfd2b0c2de4854" /><Relationship Type="http://schemas.openxmlformats.org/officeDocument/2006/relationships/notesSlide" Target="/ppt/notesSlides/notesSlide14.xml" Id="R4d035d1b009e435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1660b025daac4842" /><Relationship Type="http://schemas.openxmlformats.org/officeDocument/2006/relationships/notesSlide" Target="/ppt/notesSlides/notesSlide15.xml" Id="R303462bbfa7042b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2a9e38c330eb453f" /><Relationship Type="http://schemas.openxmlformats.org/officeDocument/2006/relationships/notesSlide" Target="/ppt/notesSlides/notesSlide16.xml" Id="R821b3ab2ee1045cf"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75">
                <a:latin typeface="Malgun Gothic"/>
                <a:ea typeface="Malgun Gothic"/>
                <a:cs typeface="Malgun Gothic"/>
              </a:rPr>
              <a:t>기존 30문항 MRR@5</a:t>
            </a:r>
          </a:p>
        </c:rich>
      </c:tx>
      <c:overlay val="0"/>
      <c:txPr>
        <a:bodyPr xmlns:a="http://schemas.openxmlformats.org/drawingml/2006/main" anchorCtr="1"/>
        <a:lstStyle xmlns:a="http://schemas.openxmlformats.org/drawingml/2006/main"/>
        <a:p xmlns:a="http://schemas.openxmlformats.org/drawingml/2006/main">
          <a:pPr>
            <a:defRPr sz="1875">
              <a:latin typeface="Malgun Gothic"/>
              <a:ea typeface="Malgun Gothic"/>
              <a:cs typeface="Malgun Gothic"/>
            </a:defRPr>
          </a:pPr>
        </a:p>
      </c:txPr>
    </c:title>
    <c:plotArea>
      <c:barChart>
        <c:barDir val="col"/>
        <c:grouping val="clustered"/>
        <c:varyColors val="0"/>
        <c:ser>
          <c:idx val="0"/>
          <c:order val="0"/>
          <c:tx>
            <c:v>MRR@5</c:v>
          </c:tx>
          <c:spPr>
            <a:solidFill xmlns:a="http://schemas.openxmlformats.org/drawingml/2006/main">
              <a:srgbClr val="376C94"/>
            </a:solidFill>
          </c:spPr>
          <c:dLbls>
            <c:dLbl>
              <c:idx val="0"/>
              <c:tx>
                <c:rich>
                  <a:bodyPr xmlns:a="http://schemas.openxmlformats.org/drawingml/2006/main"/>
                  <a:lstStyle xmlns:a="http://schemas.openxmlformats.org/drawingml/2006/main"/>
                  <a:p xmlns:a="http://schemas.openxmlformats.org/drawingml/2006/main">
                    <a:r>
                      <a:rPr sz="1800">
                        <a:latin typeface="Malgun Gothic"/>
                        <a:ea typeface="Malgun Gothic"/>
                        <a:cs typeface="Malgun Gothic"/>
                      </a:rPr>
                      <a:t>0.9306</a:t>
                    </a:r>
                  </a:p>
                </c:rich>
              </c:tx>
              <c:txPr>
                <a:bodyPr xmlns:a="http://schemas.openxmlformats.org/drawingml/2006/main" anchorCtr="1"/>
                <a:lstStyle xmlns:a="http://schemas.openxmlformats.org/drawingml/2006/main"/>
                <a:p xmlns:a="http://schemas.openxmlformats.org/drawingml/2006/main">
                  <a:pPr>
                    <a:defRPr sz="1800">
                      <a:latin typeface="Malgun Gothic"/>
                      <a:ea typeface="Malgun Gothic"/>
                      <a:cs typeface="Malgun Gothic"/>
                    </a:defRPr>
                  </a:pPr>
                </a:p>
              </c:txPr>
              <c:dLblPos val="outEnd"/>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800">
                        <a:latin typeface="Malgun Gothic"/>
                        <a:ea typeface="Malgun Gothic"/>
                        <a:cs typeface="Malgun Gothic"/>
                      </a:rPr>
                      <a:t>0.9556</a:t>
                    </a:r>
                  </a:p>
                </c:rich>
              </c:tx>
              <c:txPr>
                <a:bodyPr xmlns:a="http://schemas.openxmlformats.org/drawingml/2006/main" anchorCtr="1"/>
                <a:lstStyle xmlns:a="http://schemas.openxmlformats.org/drawingml/2006/main"/>
                <a:p xmlns:a="http://schemas.openxmlformats.org/drawingml/2006/main">
                  <a:pPr>
                    <a:defRPr sz="1800">
                      <a:latin typeface="Malgun Gothic"/>
                      <a:ea typeface="Malgun Gothic"/>
                      <a:cs typeface="Malgun Gothic"/>
                    </a:defRPr>
                  </a:pPr>
                </a:p>
              </c:txPr>
              <c:dLblPos val="outEnd"/>
              <c:showLegendKey val="0"/>
              <c:showVal val="0"/>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800">
                        <a:latin typeface="Malgun Gothic"/>
                        <a:ea typeface="Malgun Gothic"/>
                        <a:cs typeface="Malgun Gothic"/>
                      </a:rPr>
                      <a:t>0.9389</a:t>
                    </a:r>
                  </a:p>
                </c:rich>
              </c:tx>
              <c:txPr>
                <a:bodyPr xmlns:a="http://schemas.openxmlformats.org/drawingml/2006/main" anchorCtr="1"/>
                <a:lstStyle xmlns:a="http://schemas.openxmlformats.org/drawingml/2006/main"/>
                <a:p xmlns:a="http://schemas.openxmlformats.org/drawingml/2006/main">
                  <a:pPr>
                    <a:defRPr sz="1800">
                      <a:latin typeface="Malgun Gothic"/>
                      <a:ea typeface="Malgun Gothic"/>
                      <a:cs typeface="Malgun Gothic"/>
                    </a:defRPr>
                  </a:pPr>
                </a:p>
              </c:txPr>
              <c:dLblPos val="outEnd"/>
              <c:showLegendKey val="0"/>
              <c:showVal val="0"/>
              <c:showCatName val="0"/>
              <c:showSerName val="0"/>
              <c:showPercent val="0"/>
              <c:showBubbleSize val="0"/>
            </c:dLbl>
          </c:dLbls>
          <c:cat>
            <c:strRef>
              <c:f>'Chart Data'!$A$2:$A$4</c:f>
              <c:strCache>
                <c:ptCount val="3"/>
                <c:pt idx="0">
                  <c:v>보너스 전</c:v>
                </c:pt>
                <c:pt idx="1">
                  <c:v>보너스 후</c:v>
                </c:pt>
                <c:pt idx="2">
                  <c:v>OpenAI</c:v>
                </c:pt>
              </c:strCache>
            </c:strRef>
          </c:cat>
          <c:val>
            <c:numRef>
              <c:f>'Chart Data'!$B$2:$B$4</c:f>
              <c:numCache>
                <c:formatCode>0.0000</c:formatCode>
                <c:ptCount val="3"/>
                <c:pt idx="0">
                  <c:v>0.9306</c:v>
                </c:pt>
                <c:pt idx="1">
                  <c:v>0.9556</c:v>
                </c:pt>
                <c:pt idx="2">
                  <c:v>0.9389</c:v>
                </c:pt>
              </c:numCache>
            </c:numRef>
          </c:val>
        </c:ser>
        <c:dLbls>
          <c:txPr>
            <a:bodyPr xmlns:a="http://schemas.openxmlformats.org/drawingml/2006/main" anchorCtr="1"/>
            <a:lstStyle xmlns:a="http://schemas.openxmlformats.org/drawingml/2006/main"/>
            <a:p xmlns:a="http://schemas.openxmlformats.org/drawingml/2006/main">
              <a:pPr>
                <a:defRPr sz="1800">
                  <a:latin typeface="Malgun Gothic"/>
                  <a:ea typeface="Malgun Gothic"/>
                  <a:cs typeface="Malgun Gothic"/>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Malgun Gothic"/>
                <a:ea typeface="Malgun Gothic"/>
                <a:cs typeface="Malgun Gothic"/>
              </a:defRPr>
            </a:pPr>
          </a:p>
        </c:txPr>
        <c:crossAx val="48672768"/>
      </c:catAx>
      <c:valAx>
        <c:axId val="48672768"/>
        <c:scaling>
          <c:orientation val="minMax"/>
          <c:max val="1"/>
          <c:min val="0"/>
        </c:scaling>
        <c:delete val="0"/>
        <c:axPos val="l"/>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Malgun Gothic"/>
                <a:ea typeface="Malgun Gothic"/>
                <a:cs typeface="Malgun Gothic"/>
              </a:defRPr>
            </a:pPr>
          </a:p>
        </c:txPr>
        <c:crossAx val="48650112"/>
        <c:crossBetween val="between"/>
        <c:majorUnit val="0.2"/>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7273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9211D04-7954-403B-9519-2F815FB002C7}"/>
              </a:ext>
            </a:extLst>
          </p:cNvPr>
          <p:cNvSpPr>
            <a:spLocks xmlns:a="http://schemas.openxmlformats.org/drawingml/2006/main" noGrp="1"/>
          </p:cNvSpPr>
          <p:nvPr/>
        </p:nvSpPr>
        <p:spPr>
          <a:xfrm xmlns:a="http://schemas.openxmlformats.org/drawingml/2006/main">
            <a:off x="800100" y="1333500"/>
            <a:ext cx="105918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650" b="1">
                <a:solidFill>
                  <a:srgbClr val="FFFFFF"/>
                </a:solidFill>
                <a:latin typeface="Malgun Gothic"/>
                <a:ea typeface="Malgun Gothic"/>
                <a:cs typeface="Malgun Gothic"/>
              </a:defRPr>
            </a:pPr>
            <a:r>
              <a:rPr sz="4650" b="1">
                <a:solidFill>
                  <a:srgbClr val="FFFFFF"/>
                </a:solidFill>
                <a:latin typeface="Malgun Gothic"/>
                <a:ea typeface="Malgun Gothic"/>
                <a:cs typeface="Malgun Gothic"/>
              </a:rPr>
              <a:t>싼타페 설명서 기반</a:t>
            </a:r>
          </a:p>
          <a:p xmlns:a="http://schemas.openxmlformats.org/drawingml/2006/main">
            <a:pPr>
              <a:defRPr sz="4650" b="1">
                <a:solidFill>
                  <a:srgbClr val="FFFFFF"/>
                </a:solidFill>
                <a:latin typeface="Malgun Gothic"/>
                <a:ea typeface="Malgun Gothic"/>
                <a:cs typeface="Malgun Gothic"/>
              </a:defRPr>
            </a:pPr>
            <a:r>
              <a:rPr sz="4650" b="1">
                <a:solidFill>
                  <a:srgbClr val="FFFFFF"/>
                </a:solidFill>
                <a:latin typeface="Malgun Gothic"/>
                <a:ea typeface="Malgun Gothic"/>
                <a:cs typeface="Malgun Gothic"/>
              </a:rPr>
              <a:t>하이브리드 RAG 챗봇</a:t>
            </a:r>
          </a:p>
        </p:txBody>
      </p:sp>
      <p:sp>
        <p:nvSpPr>
          <p:cNvPr id="2" name="">
            <a:extLst xmlns:a="http://schemas.openxmlformats.org/drawingml/2006/main">
              <a:ext uri="{FF2B5EF4-FFF2-40B4-BE49-F238E27FC236}">
                <a16:creationId xmlns:a16="http://schemas.microsoft.com/office/drawing/2014/main" id="{DF337714-57E8-4337-9AB8-7A6D3A50FDBC}"/>
              </a:ext>
            </a:extLst>
          </p:cNvPr>
          <p:cNvSpPr>
            <a:spLocks xmlns:a="http://schemas.openxmlformats.org/drawingml/2006/main" noGrp="1"/>
          </p:cNvSpPr>
          <p:nvPr/>
        </p:nvSpPr>
        <p:spPr>
          <a:xfrm xmlns:a="http://schemas.openxmlformats.org/drawingml/2006/main">
            <a:off x="838200" y="333375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B8D5EB"/>
                </a:solidFill>
                <a:latin typeface="Malgun Gothic"/>
                <a:ea typeface="Malgun Gothic"/>
                <a:cs typeface="Malgun Gothic"/>
              </a:defRPr>
            </a:pPr>
            <a:r>
              <a:rPr sz="2400" b="0">
                <a:solidFill>
                  <a:srgbClr val="B8D5EB"/>
                </a:solidFill>
                <a:latin typeface="Malgun Gothic"/>
                <a:ea typeface="Malgun Gothic"/>
                <a:cs typeface="Malgun Gothic"/>
              </a:rPr>
              <a:t>M0부터 M9까지의 구현과 검증</a:t>
            </a:r>
          </a:p>
        </p:txBody>
      </p:sp>
      <p:sp>
        <p:nvSpPr>
          <p:cNvPr id="3" name="">
            <a:extLst xmlns:a="http://schemas.openxmlformats.org/drawingml/2006/main">
              <a:ext uri="{FF2B5EF4-FFF2-40B4-BE49-F238E27FC236}">
                <a16:creationId xmlns:a16="http://schemas.microsoft.com/office/drawing/2014/main" id="{DBA24F6D-26CB-4BAF-B181-5C56DEFE2B08}"/>
              </a:ext>
            </a:extLst>
          </p:cNvPr>
          <p:cNvSpPr>
            <a:spLocks xmlns:a="http://schemas.openxmlformats.org/drawingml/2006/main" noGrp="1"/>
          </p:cNvSpPr>
          <p:nvPr/>
        </p:nvSpPr>
        <p:spPr>
          <a:xfrm xmlns:a="http://schemas.openxmlformats.org/drawingml/2006/main">
            <a:off x="838200" y="4257675"/>
            <a:ext cx="10001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FFFFFF"/>
                </a:solidFill>
                <a:latin typeface="Malgun Gothic"/>
                <a:ea typeface="Malgun Gothic"/>
                <a:cs typeface="Malgun Gothic"/>
              </a:defRPr>
            </a:pPr>
            <a:r>
              <a:rPr sz="2250" b="0">
                <a:solidFill>
                  <a:srgbClr val="FFFFFF"/>
                </a:solidFill>
                <a:latin typeface="Malgun Gothic"/>
                <a:ea typeface="Malgun Gothic"/>
                <a:cs typeface="Malgun Gothic"/>
              </a:rPr>
              <a:t>설명서 근거를 찾고 출처와 함께 답하는 과정</a:t>
            </a:r>
          </a:p>
          <a:p xmlns:a="http://schemas.openxmlformats.org/drawingml/2006/main">
            <a:pPr>
              <a:defRPr sz="2250" b="0">
                <a:solidFill>
                  <a:srgbClr val="FFFFFF"/>
                </a:solidFill>
                <a:latin typeface="Malgun Gothic"/>
                <a:ea typeface="Malgun Gothic"/>
                <a:cs typeface="Malgun Gothic"/>
              </a:defRPr>
            </a:pPr>
            <a:r>
              <a:rPr sz="2250" b="0">
                <a:solidFill>
                  <a:srgbClr val="FFFFFF"/>
                </a:solidFill>
                <a:latin typeface="Malgun Gothic"/>
                <a:ea typeface="Malgun Gothic"/>
                <a:cs typeface="Malgun Gothic"/>
              </a:rPr>
              <a:t>수업 개념의 적용과 프로젝트 추가 설계</a:t>
            </a:r>
          </a:p>
        </p:txBody>
      </p:sp>
      <p:sp>
        <p:nvSpPr>
          <p:cNvPr id="4" name="">
            <a:extLst xmlns:a="http://schemas.openxmlformats.org/drawingml/2006/main">
              <a:ext uri="{FF2B5EF4-FFF2-40B4-BE49-F238E27FC236}">
                <a16:creationId xmlns:a16="http://schemas.microsoft.com/office/drawing/2014/main" id="{50BF7E97-66C7-44D9-BBD5-F4389C167DA6}"/>
              </a:ext>
            </a:extLst>
          </p:cNvPr>
          <p:cNvSpPr>
            <a:spLocks xmlns:a="http://schemas.openxmlformats.org/drawingml/2006/main" noGrp="1"/>
          </p:cNvSpPr>
          <p:nvPr/>
        </p:nvSpPr>
        <p:spPr>
          <a:xfrm xmlns:a="http://schemas.openxmlformats.org/drawingml/2006/main">
            <a:off x="10382250" y="6324600"/>
            <a:ext cx="1095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B8D5EB"/>
                </a:solidFill>
                <a:latin typeface="Malgun Gothic"/>
                <a:ea typeface="Malgun Gothic"/>
                <a:cs typeface="Malgun Gothic"/>
              </a:defRPr>
            </a:pPr>
            <a:r>
              <a:rPr sz="1500" b="0">
                <a:solidFill>
                  <a:srgbClr val="B8D5EB"/>
                </a:solidFill>
                <a:latin typeface="Malgun Gothic"/>
                <a:ea typeface="Malgun Gothic"/>
                <a:cs typeface="Malgun Gothic"/>
              </a:rPr>
              <a:t>01 / 16</a:t>
            </a:r>
          </a:p>
        </p:txBody>
      </p:sp>
    </p:spTree>
    <p:extLst>
      <p:ext uri="{BB962C8B-B14F-4D97-AF65-F5344CB8AC3E}">
        <p14:creationId xmlns:p14="http://schemas.microsoft.com/office/powerpoint/2010/main" val="1352150034"/>
      </p:ext>
    </p:extLst>
  </p:cSld>
</p:sld>
</file>

<file path=ppt/slides/slide2.xml><?xml version="1.0" encoding="utf-8"?>
<p:sld xmlns:p="http://schemas.openxmlformats.org/presentationml/2006/main">
  <p:cSld>
    <p:bg>
      <p:bgPr>
        <a:solidFill xmlns:a="http://schemas.openxmlformats.org/drawingml/2006/main">
          <a:srgbClr val="F9FA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EC44B73-3279-4E6D-96C5-C72CCCB2402C}"/>
              </a:ext>
            </a:extLst>
          </p:cNvPr>
          <p:cNvSpPr>
            <a:spLocks xmlns:a="http://schemas.openxmlformats.org/drawingml/2006/main" noGrp="1"/>
          </p:cNvSpPr>
          <p:nvPr/>
        </p:nvSpPr>
        <p:spPr>
          <a:xfrm xmlns:a="http://schemas.openxmlformats.org/drawingml/2006/main">
            <a:off x="800100" y="590550"/>
            <a:ext cx="10591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738"/>
                </a:solidFill>
                <a:latin typeface="Malgun Gothic"/>
                <a:ea typeface="Malgun Gothic"/>
                <a:cs typeface="Malgun Gothic"/>
              </a:defRPr>
            </a:pPr>
            <a:r>
              <a:rPr sz="3300" b="1">
                <a:solidFill>
                  <a:srgbClr val="172738"/>
                </a:solidFill>
                <a:latin typeface="Malgun Gothic"/>
                <a:ea typeface="Malgun Gothic"/>
                <a:cs typeface="Malgun Gothic"/>
              </a:rPr>
              <a:t>M0 질문 범위와 답변 원칙</a:t>
            </a:r>
          </a:p>
        </p:txBody>
      </p:sp>
      <p:sp>
        <p:nvSpPr>
          <p:cNvPr id="2" name="">
            <a:extLst xmlns:a="http://schemas.openxmlformats.org/drawingml/2006/main">
              <a:ext uri="{FF2B5EF4-FFF2-40B4-BE49-F238E27FC236}">
                <a16:creationId xmlns:a16="http://schemas.microsoft.com/office/drawing/2014/main" id="{4742B6B2-1668-416B-8BF4-C0043CEE5ABD}"/>
              </a:ext>
            </a:extLst>
          </p:cNvPr>
          <p:cNvSpPr>
            <a:spLocks xmlns:a="http://schemas.openxmlformats.org/drawingml/2006/main" noGrp="1"/>
          </p:cNvSpPr>
          <p:nvPr/>
        </p:nvSpPr>
        <p:spPr>
          <a:xfrm xmlns:a="http://schemas.openxmlformats.org/drawingml/2006/main">
            <a:off x="800100" y="195262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72738"/>
                </a:solidFill>
                <a:latin typeface="Malgun Gothic"/>
                <a:ea typeface="Malgun Gothic"/>
                <a:cs typeface="Malgun Gothic"/>
              </a:defRPr>
            </a:pPr>
            <a:r>
              <a:rPr sz="2550" b="0">
                <a:solidFill>
                  <a:srgbClr val="172738"/>
                </a:solidFill>
                <a:latin typeface="Malgun Gothic"/>
                <a:ea typeface="Malgun Gothic"/>
                <a:cs typeface="Malgun Gothic"/>
              </a:rPr>
              <a:t>자료는 싼타페 HEV 사용설명서 한 개</a:t>
            </a:r>
          </a:p>
        </p:txBody>
      </p:sp>
      <p:sp>
        <p:nvSpPr>
          <p:cNvPr id="3" name="">
            <a:extLst xmlns:a="http://schemas.openxmlformats.org/drawingml/2006/main">
              <a:ext uri="{FF2B5EF4-FFF2-40B4-BE49-F238E27FC236}">
                <a16:creationId xmlns:a16="http://schemas.microsoft.com/office/drawing/2014/main" id="{9AF211A8-EFF1-4945-ABD6-B33D5A9EFEA4}"/>
              </a:ext>
            </a:extLst>
          </p:cNvPr>
          <p:cNvSpPr>
            <a:spLocks xmlns:a="http://schemas.openxmlformats.org/drawingml/2006/main" noGrp="1"/>
          </p:cNvSpPr>
          <p:nvPr/>
        </p:nvSpPr>
        <p:spPr>
          <a:xfrm xmlns:a="http://schemas.openxmlformats.org/drawingml/2006/main">
            <a:off x="800100" y="286702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72738"/>
                </a:solidFill>
                <a:latin typeface="Malgun Gothic"/>
                <a:ea typeface="Malgun Gothic"/>
                <a:cs typeface="Malgun Gothic"/>
              </a:defRPr>
            </a:pPr>
            <a:r>
              <a:rPr sz="2550" b="0">
                <a:solidFill>
                  <a:srgbClr val="172738"/>
                </a:solidFill>
                <a:latin typeface="Malgun Gothic"/>
                <a:ea typeface="Malgun Gothic"/>
                <a:cs typeface="Malgun Gothic"/>
              </a:rPr>
              <a:t>사용법·위치·규격을 페이지 근거로 설명</a:t>
            </a:r>
          </a:p>
        </p:txBody>
      </p:sp>
      <p:sp>
        <p:nvSpPr>
          <p:cNvPr id="4" name="">
            <a:extLst xmlns:a="http://schemas.openxmlformats.org/drawingml/2006/main">
              <a:ext uri="{FF2B5EF4-FFF2-40B4-BE49-F238E27FC236}">
                <a16:creationId xmlns:a16="http://schemas.microsoft.com/office/drawing/2014/main" id="{BAE25078-61D6-4216-9782-E67CA032B97E}"/>
              </a:ext>
            </a:extLst>
          </p:cNvPr>
          <p:cNvSpPr>
            <a:spLocks xmlns:a="http://schemas.openxmlformats.org/drawingml/2006/main" noGrp="1"/>
          </p:cNvSpPr>
          <p:nvPr/>
        </p:nvSpPr>
        <p:spPr>
          <a:xfrm xmlns:a="http://schemas.openxmlformats.org/drawingml/2006/main">
            <a:off x="800100" y="378142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72738"/>
                </a:solidFill>
                <a:latin typeface="Malgun Gothic"/>
                <a:ea typeface="Malgun Gothic"/>
                <a:cs typeface="Malgun Gothic"/>
              </a:defRPr>
            </a:pPr>
            <a:r>
              <a:rPr sz="2550" b="0">
                <a:solidFill>
                  <a:srgbClr val="172738"/>
                </a:solidFill>
                <a:latin typeface="Malgun Gothic"/>
                <a:ea typeface="Malgun Gothic"/>
                <a:cs typeface="Malgun Gothic"/>
              </a:rPr>
              <a:t>실시간 리콜과 개별 차량 진단은 설명서만으로 확인하기 어려움</a:t>
            </a:r>
          </a:p>
        </p:txBody>
      </p:sp>
      <p:sp>
        <p:nvSpPr>
          <p:cNvPr id="5" name="">
            <a:extLst xmlns:a="http://schemas.openxmlformats.org/drawingml/2006/main">
              <a:ext uri="{FF2B5EF4-FFF2-40B4-BE49-F238E27FC236}">
                <a16:creationId xmlns:a16="http://schemas.microsoft.com/office/drawing/2014/main" id="{9DF6574E-8319-4D24-B3A3-043D4FBA334D}"/>
              </a:ext>
            </a:extLst>
          </p:cNvPr>
          <p:cNvSpPr>
            <a:spLocks xmlns:a="http://schemas.openxmlformats.org/drawingml/2006/main" noGrp="1"/>
          </p:cNvSpPr>
          <p:nvPr/>
        </p:nvSpPr>
        <p:spPr>
          <a:xfrm xmlns:a="http://schemas.openxmlformats.org/drawingml/2006/main">
            <a:off x="800100" y="469582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72738"/>
                </a:solidFill>
                <a:latin typeface="Malgun Gothic"/>
                <a:ea typeface="Malgun Gothic"/>
                <a:cs typeface="Malgun Gothic"/>
              </a:defRPr>
            </a:pPr>
            <a:r>
              <a:rPr sz="2550" b="0">
                <a:solidFill>
                  <a:srgbClr val="172738"/>
                </a:solidFill>
                <a:latin typeface="Malgun Gothic"/>
                <a:ea typeface="Malgun Gothic"/>
                <a:cs typeface="Malgun Gothic"/>
              </a:rPr>
              <a:t>근거가 부족하거나 미검토이면 확인 안내</a:t>
            </a:r>
          </a:p>
        </p:txBody>
      </p:sp>
      <p:sp>
        <p:nvSpPr>
          <p:cNvPr id="6" name="">
            <a:extLst xmlns:a="http://schemas.openxmlformats.org/drawingml/2006/main">
              <a:ext uri="{FF2B5EF4-FFF2-40B4-BE49-F238E27FC236}">
                <a16:creationId xmlns:a16="http://schemas.microsoft.com/office/drawing/2014/main" id="{4F455E19-75A5-438D-A4FD-E366714E3D2D}"/>
              </a:ext>
            </a:extLst>
          </p:cNvPr>
          <p:cNvSpPr>
            <a:spLocks xmlns:a="http://schemas.openxmlformats.org/drawingml/2006/main" noGrp="1"/>
          </p:cNvSpPr>
          <p:nvPr/>
        </p:nvSpPr>
        <p:spPr>
          <a:xfrm xmlns:a="http://schemas.openxmlformats.org/drawingml/2006/main">
            <a:off x="10382250" y="6324600"/>
            <a:ext cx="1095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278"/>
                </a:solidFill>
                <a:latin typeface="Malgun Gothic"/>
                <a:ea typeface="Malgun Gothic"/>
                <a:cs typeface="Malgun Gothic"/>
              </a:defRPr>
            </a:pPr>
            <a:r>
              <a:rPr sz="1500" b="0">
                <a:solidFill>
                  <a:srgbClr val="526278"/>
                </a:solidFill>
                <a:latin typeface="Malgun Gothic"/>
                <a:ea typeface="Malgun Gothic"/>
                <a:cs typeface="Malgun Gothic"/>
              </a:rPr>
              <a:t>02 / 16</a:t>
            </a:r>
          </a:p>
        </p:txBody>
      </p:sp>
    </p:spTree>
    <p:extLst>
      <p:ext uri="{BB962C8B-B14F-4D97-AF65-F5344CB8AC3E}">
        <p14:creationId xmlns:p14="http://schemas.microsoft.com/office/powerpoint/2010/main" val="1356768280"/>
      </p:ext>
    </p:extLst>
  </p:cSld>
</p:sld>
</file>

<file path=ppt/slides/slide3.xml><?xml version="1.0" encoding="utf-8"?>
<p:sld xmlns:p="http://schemas.openxmlformats.org/presentationml/2006/main">
  <p:cSld>
    <p:bg>
      <p:bgPr>
        <a:solidFill xmlns:a="http://schemas.openxmlformats.org/drawingml/2006/main">
          <a:srgbClr val="F9FA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6B63E9A-5703-4914-B42B-19569C6FFC1A}"/>
              </a:ext>
            </a:extLst>
          </p:cNvPr>
          <p:cNvSpPr>
            <a:spLocks xmlns:a="http://schemas.openxmlformats.org/drawingml/2006/main" noGrp="1"/>
          </p:cNvSpPr>
          <p:nvPr/>
        </p:nvSpPr>
        <p:spPr>
          <a:xfrm xmlns:a="http://schemas.openxmlformats.org/drawingml/2006/main">
            <a:off x="800100" y="590550"/>
            <a:ext cx="10591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738"/>
                </a:solidFill>
                <a:latin typeface="Malgun Gothic"/>
                <a:ea typeface="Malgun Gothic"/>
                <a:cs typeface="Malgun Gothic"/>
              </a:defRPr>
            </a:pPr>
            <a:r>
              <a:rPr sz="3300" b="1">
                <a:solidFill>
                  <a:srgbClr val="172738"/>
                </a:solidFill>
                <a:latin typeface="Malgun Gothic"/>
                <a:ea typeface="Malgun Gothic"/>
                <a:cs typeface="Malgun Gothic"/>
              </a:rPr>
              <a:t>M1 779쪽 설명서의 구조 확인</a:t>
            </a:r>
          </a:p>
        </p:txBody>
      </p:sp>
      <p:sp>
        <p:nvSpPr>
          <p:cNvPr id="2" name="">
            <a:extLst xmlns:a="http://schemas.openxmlformats.org/drawingml/2006/main">
              <a:ext uri="{FF2B5EF4-FFF2-40B4-BE49-F238E27FC236}">
                <a16:creationId xmlns:a16="http://schemas.microsoft.com/office/drawing/2014/main" id="{C038B4E1-5949-4877-9D64-E26C6A088A30}"/>
              </a:ext>
            </a:extLst>
          </p:cNvPr>
          <p:cNvSpPr>
            <a:spLocks xmlns:a="http://schemas.openxmlformats.org/drawingml/2006/main" noGrp="1"/>
          </p:cNvSpPr>
          <p:nvPr/>
        </p:nvSpPr>
        <p:spPr>
          <a:xfrm xmlns:a="http://schemas.openxmlformats.org/drawingml/2006/main">
            <a:off x="800100" y="195262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72738"/>
                </a:solidFill>
                <a:latin typeface="Malgun Gothic"/>
                <a:ea typeface="Malgun Gothic"/>
                <a:cs typeface="Malgun Gothic"/>
              </a:defRPr>
            </a:pPr>
            <a:r>
              <a:rPr sz="2550" b="0">
                <a:solidFill>
                  <a:srgbClr val="172738"/>
                </a:solidFill>
                <a:latin typeface="Malgun Gothic"/>
                <a:ea typeface="Malgun Gothic"/>
                <a:cs typeface="Malgun Gothic"/>
              </a:rPr>
              <a:t>본문·표·위치 안내도·목차·색인을 구별</a:t>
            </a:r>
          </a:p>
        </p:txBody>
      </p:sp>
      <p:sp>
        <p:nvSpPr>
          <p:cNvPr id="3" name="">
            <a:extLst xmlns:a="http://schemas.openxmlformats.org/drawingml/2006/main">
              <a:ext uri="{FF2B5EF4-FFF2-40B4-BE49-F238E27FC236}">
                <a16:creationId xmlns:a16="http://schemas.microsoft.com/office/drawing/2014/main" id="{5C593A3A-423F-40A1-AF87-685D7463E56C}"/>
              </a:ext>
            </a:extLst>
          </p:cNvPr>
          <p:cNvSpPr>
            <a:spLocks xmlns:a="http://schemas.openxmlformats.org/drawingml/2006/main" noGrp="1"/>
          </p:cNvSpPr>
          <p:nvPr/>
        </p:nvSpPr>
        <p:spPr>
          <a:xfrm xmlns:a="http://schemas.openxmlformats.org/drawingml/2006/main">
            <a:off x="800100" y="286702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72738"/>
                </a:solidFill>
                <a:latin typeface="Malgun Gothic"/>
                <a:ea typeface="Malgun Gothic"/>
                <a:cs typeface="Malgun Gothic"/>
              </a:defRPr>
            </a:pPr>
            <a:r>
              <a:rPr sz="2550" b="0">
                <a:solidFill>
                  <a:srgbClr val="172738"/>
                </a:solidFill>
                <a:latin typeface="Malgun Gothic"/>
                <a:ea typeface="Malgun Gothic"/>
                <a:cs typeface="Malgun Gothic"/>
              </a:rPr>
              <a:t>PDF 쪽수와 인쇄된 매뉴얼 쪽수를 따로 보관</a:t>
            </a:r>
          </a:p>
        </p:txBody>
      </p:sp>
      <p:sp>
        <p:nvSpPr>
          <p:cNvPr id="4" name="">
            <a:extLst xmlns:a="http://schemas.openxmlformats.org/drawingml/2006/main">
              <a:ext uri="{FF2B5EF4-FFF2-40B4-BE49-F238E27FC236}">
                <a16:creationId xmlns:a16="http://schemas.microsoft.com/office/drawing/2014/main" id="{5D81ECDC-DD11-4E2C-98B3-5E372D265781}"/>
              </a:ext>
            </a:extLst>
          </p:cNvPr>
          <p:cNvSpPr>
            <a:spLocks xmlns:a="http://schemas.openxmlformats.org/drawingml/2006/main" noGrp="1"/>
          </p:cNvSpPr>
          <p:nvPr/>
        </p:nvSpPr>
        <p:spPr>
          <a:xfrm xmlns:a="http://schemas.openxmlformats.org/drawingml/2006/main">
            <a:off x="800100" y="378142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72738"/>
                </a:solidFill>
                <a:latin typeface="Malgun Gothic"/>
                <a:ea typeface="Malgun Gothic"/>
                <a:cs typeface="Malgun Gothic"/>
              </a:defRPr>
            </a:pPr>
            <a:r>
              <a:rPr sz="2550" b="0">
                <a:solidFill>
                  <a:srgbClr val="172738"/>
                </a:solidFill>
                <a:latin typeface="Malgun Gothic"/>
                <a:ea typeface="Malgun Gothic"/>
                <a:cs typeface="Malgun Gothic"/>
              </a:rPr>
              <a:t>그림의 페이지와 PDF 내부 키를 원문에 연결</a:t>
            </a:r>
          </a:p>
        </p:txBody>
      </p:sp>
      <p:sp>
        <p:nvSpPr>
          <p:cNvPr id="5" name="">
            <a:extLst xmlns:a="http://schemas.openxmlformats.org/drawingml/2006/main">
              <a:ext uri="{FF2B5EF4-FFF2-40B4-BE49-F238E27FC236}">
                <a16:creationId xmlns:a16="http://schemas.microsoft.com/office/drawing/2014/main" id="{8EF0E071-519F-471B-9F2F-CD05754FA39F}"/>
              </a:ext>
            </a:extLst>
          </p:cNvPr>
          <p:cNvSpPr>
            <a:spLocks xmlns:a="http://schemas.openxmlformats.org/drawingml/2006/main" noGrp="1"/>
          </p:cNvSpPr>
          <p:nvPr/>
        </p:nvSpPr>
        <p:spPr>
          <a:xfrm xmlns:a="http://schemas.openxmlformats.org/drawingml/2006/main">
            <a:off x="800100" y="469582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72738"/>
                </a:solidFill>
                <a:latin typeface="Malgun Gothic"/>
                <a:ea typeface="Malgun Gothic"/>
                <a:cs typeface="Malgun Gothic"/>
              </a:defRPr>
            </a:pPr>
            <a:r>
              <a:rPr sz="2550" b="0">
                <a:solidFill>
                  <a:srgbClr val="172738"/>
                </a:solidFill>
                <a:latin typeface="Malgun Gothic"/>
                <a:ea typeface="Malgun Gothic"/>
                <a:cs typeface="Malgun Gothic"/>
              </a:rPr>
              <a:t>수업의 문서 로드 개념을 pypdf 추출에 적용</a:t>
            </a:r>
          </a:p>
        </p:txBody>
      </p:sp>
      <p:sp>
        <p:nvSpPr>
          <p:cNvPr id="6" name="">
            <a:extLst xmlns:a="http://schemas.openxmlformats.org/drawingml/2006/main">
              <a:ext uri="{FF2B5EF4-FFF2-40B4-BE49-F238E27FC236}">
                <a16:creationId xmlns:a16="http://schemas.microsoft.com/office/drawing/2014/main" id="{DCA24006-0116-40C8-A8C6-0BE21BAA314B}"/>
              </a:ext>
            </a:extLst>
          </p:cNvPr>
          <p:cNvSpPr>
            <a:spLocks xmlns:a="http://schemas.openxmlformats.org/drawingml/2006/main" noGrp="1"/>
          </p:cNvSpPr>
          <p:nvPr/>
        </p:nvSpPr>
        <p:spPr>
          <a:xfrm xmlns:a="http://schemas.openxmlformats.org/drawingml/2006/main">
            <a:off x="10382250" y="6324600"/>
            <a:ext cx="1095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278"/>
                </a:solidFill>
                <a:latin typeface="Malgun Gothic"/>
                <a:ea typeface="Malgun Gothic"/>
                <a:cs typeface="Malgun Gothic"/>
              </a:defRPr>
            </a:pPr>
            <a:r>
              <a:rPr sz="1500" b="0">
                <a:solidFill>
                  <a:srgbClr val="526278"/>
                </a:solidFill>
                <a:latin typeface="Malgun Gothic"/>
                <a:ea typeface="Malgun Gothic"/>
                <a:cs typeface="Malgun Gothic"/>
              </a:rPr>
              <a:t>03 / 16</a:t>
            </a:r>
          </a:p>
        </p:txBody>
      </p:sp>
    </p:spTree>
    <p:extLst>
      <p:ext uri="{BB962C8B-B14F-4D97-AF65-F5344CB8AC3E}">
        <p14:creationId xmlns:p14="http://schemas.microsoft.com/office/powerpoint/2010/main" val="1182107787"/>
      </p:ext>
    </p:extLst>
  </p:cSld>
</p:sld>
</file>

<file path=ppt/slides/slide4.xml><?xml version="1.0" encoding="utf-8"?>
<p:sld xmlns:p="http://schemas.openxmlformats.org/presentationml/2006/main">
  <p:cSld>
    <p:bg>
      <p:bgPr>
        <a:solidFill xmlns:a="http://schemas.openxmlformats.org/drawingml/2006/main">
          <a:srgbClr val="F9FA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1D2072C-4CFE-4C7B-8E68-EC282141AB95}"/>
              </a:ext>
            </a:extLst>
          </p:cNvPr>
          <p:cNvSpPr>
            <a:spLocks xmlns:a="http://schemas.openxmlformats.org/drawingml/2006/main" noGrp="1"/>
          </p:cNvSpPr>
          <p:nvPr/>
        </p:nvSpPr>
        <p:spPr>
          <a:xfrm xmlns:a="http://schemas.openxmlformats.org/drawingml/2006/main">
            <a:off x="800100" y="590550"/>
            <a:ext cx="10591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738"/>
                </a:solidFill>
                <a:latin typeface="Malgun Gothic"/>
                <a:ea typeface="Malgun Gothic"/>
                <a:cs typeface="Malgun Gothic"/>
              </a:defRPr>
            </a:pPr>
            <a:r>
              <a:rPr sz="3300" b="1">
                <a:solidFill>
                  <a:srgbClr val="172738"/>
                </a:solidFill>
                <a:latin typeface="Malgun Gothic"/>
                <a:ea typeface="Malgun Gothic"/>
                <a:cs typeface="Malgun Gothic"/>
              </a:rPr>
              <a:t>M2 작게 검색하고 전체 문맥으로 답하기</a:t>
            </a:r>
          </a:p>
        </p:txBody>
      </p:sp>
      <p:sp>
        <p:nvSpPr>
          <p:cNvPr id="2" name="">
            <a:extLst xmlns:a="http://schemas.openxmlformats.org/drawingml/2006/main">
              <a:ext uri="{FF2B5EF4-FFF2-40B4-BE49-F238E27FC236}">
                <a16:creationId xmlns:a16="http://schemas.microsoft.com/office/drawing/2014/main" id="{D5587ABD-83E6-485B-BCF5-EC88F91B5C30}"/>
              </a:ext>
            </a:extLst>
          </p:cNvPr>
          <p:cNvSpPr>
            <a:spLocks xmlns:a="http://schemas.openxmlformats.org/drawingml/2006/main" noGrp="1"/>
          </p:cNvSpPr>
          <p:nvPr/>
        </p:nvSpPr>
        <p:spPr>
          <a:xfrm xmlns:a="http://schemas.openxmlformats.org/drawingml/2006/main">
            <a:off x="800100" y="195262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72738"/>
                </a:solidFill>
                <a:latin typeface="Malgun Gothic"/>
                <a:ea typeface="Malgun Gothic"/>
                <a:cs typeface="Malgun Gothic"/>
              </a:defRPr>
            </a:pPr>
            <a:r>
              <a:rPr sz="2550" b="0">
                <a:solidFill>
                  <a:srgbClr val="172738"/>
                </a:solidFill>
                <a:latin typeface="Malgun Gothic"/>
                <a:ea typeface="Malgun Gothic"/>
                <a:cs typeface="Malgun Gothic"/>
              </a:rPr>
              <a:t>부모 527개에 주제 원문과 출처 보관</a:t>
            </a:r>
          </a:p>
        </p:txBody>
      </p:sp>
      <p:sp>
        <p:nvSpPr>
          <p:cNvPr id="3" name="">
            <a:extLst xmlns:a="http://schemas.openxmlformats.org/drawingml/2006/main">
              <a:ext uri="{FF2B5EF4-FFF2-40B4-BE49-F238E27FC236}">
                <a16:creationId xmlns:a16="http://schemas.microsoft.com/office/drawing/2014/main" id="{7A9764A6-0842-40A7-ADCF-B72D9863E827}"/>
              </a:ext>
            </a:extLst>
          </p:cNvPr>
          <p:cNvSpPr>
            <a:spLocks xmlns:a="http://schemas.openxmlformats.org/drawingml/2006/main" noGrp="1"/>
          </p:cNvSpPr>
          <p:nvPr/>
        </p:nvSpPr>
        <p:spPr>
          <a:xfrm xmlns:a="http://schemas.openxmlformats.org/drawingml/2006/main">
            <a:off x="800100" y="286702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72738"/>
                </a:solidFill>
                <a:latin typeface="Malgun Gothic"/>
                <a:ea typeface="Malgun Gothic"/>
                <a:cs typeface="Malgun Gothic"/>
              </a:defRPr>
            </a:pPr>
            <a:r>
              <a:rPr sz="2550" b="0">
                <a:solidFill>
                  <a:srgbClr val="172738"/>
                </a:solidFill>
                <a:latin typeface="Malgun Gothic"/>
                <a:ea typeface="Malgun Gothic"/>
                <a:cs typeface="Malgun Gothic"/>
              </a:rPr>
              <a:t>자식 청크는 초기 로컬 모델의 128토큰 한도에 맞춤</a:t>
            </a:r>
          </a:p>
        </p:txBody>
      </p:sp>
      <p:sp>
        <p:nvSpPr>
          <p:cNvPr id="4" name="">
            <a:extLst xmlns:a="http://schemas.openxmlformats.org/drawingml/2006/main">
              <a:ext uri="{FF2B5EF4-FFF2-40B4-BE49-F238E27FC236}">
                <a16:creationId xmlns:a16="http://schemas.microsoft.com/office/drawing/2014/main" id="{1012E861-9F2A-46F9-AFE0-D15A278F7DCC}"/>
              </a:ext>
            </a:extLst>
          </p:cNvPr>
          <p:cNvSpPr>
            <a:spLocks xmlns:a="http://schemas.openxmlformats.org/drawingml/2006/main" noGrp="1"/>
          </p:cNvSpPr>
          <p:nvPr/>
        </p:nvSpPr>
        <p:spPr>
          <a:xfrm xmlns:a="http://schemas.openxmlformats.org/drawingml/2006/main">
            <a:off x="800100" y="378142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72738"/>
                </a:solidFill>
                <a:latin typeface="Malgun Gothic"/>
                <a:ea typeface="Malgun Gothic"/>
                <a:cs typeface="Malgun Gothic"/>
              </a:defRPr>
            </a:pPr>
            <a:r>
              <a:rPr sz="2550" b="0">
                <a:solidFill>
                  <a:srgbClr val="172738"/>
                </a:solidFill>
                <a:latin typeface="Malgun Gothic"/>
                <a:ea typeface="Malgun Gothic"/>
                <a:cs typeface="Malgun Gothic"/>
              </a:rPr>
              <a:t>표 행·안내도 번호·필수 각주 관계 유지</a:t>
            </a:r>
          </a:p>
        </p:txBody>
      </p:sp>
      <p:sp>
        <p:nvSpPr>
          <p:cNvPr id="5" name="">
            <a:extLst xmlns:a="http://schemas.openxmlformats.org/drawingml/2006/main">
              <a:ext uri="{FF2B5EF4-FFF2-40B4-BE49-F238E27FC236}">
                <a16:creationId xmlns:a16="http://schemas.microsoft.com/office/drawing/2014/main" id="{6F0E2A0F-2323-4F66-A34C-90D0138D4D82}"/>
              </a:ext>
            </a:extLst>
          </p:cNvPr>
          <p:cNvSpPr>
            <a:spLocks xmlns:a="http://schemas.openxmlformats.org/drawingml/2006/main" noGrp="1"/>
          </p:cNvSpPr>
          <p:nvPr/>
        </p:nvSpPr>
        <p:spPr>
          <a:xfrm xmlns:a="http://schemas.openxmlformats.org/drawingml/2006/main">
            <a:off x="800100" y="469582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72738"/>
                </a:solidFill>
                <a:latin typeface="Malgun Gothic"/>
                <a:ea typeface="Malgun Gothic"/>
                <a:cs typeface="Malgun Gothic"/>
              </a:defRPr>
            </a:pPr>
            <a:r>
              <a:rPr sz="2550" b="0">
                <a:solidFill>
                  <a:srgbClr val="172738"/>
                </a:solidFill>
                <a:latin typeface="Malgun Gothic"/>
                <a:ea typeface="Malgun Gothic"/>
                <a:cs typeface="Malgun Gothic"/>
              </a:rPr>
              <a:t>기본 2,213개, 활성 검토 스냅샷 2,216개 청크</a:t>
            </a:r>
          </a:p>
        </p:txBody>
      </p:sp>
      <p:sp>
        <p:nvSpPr>
          <p:cNvPr id="6" name="">
            <a:extLst xmlns:a="http://schemas.openxmlformats.org/drawingml/2006/main">
              <a:ext uri="{FF2B5EF4-FFF2-40B4-BE49-F238E27FC236}">
                <a16:creationId xmlns:a16="http://schemas.microsoft.com/office/drawing/2014/main" id="{E9449F84-69D3-4855-9A9B-C23BB9A07694}"/>
              </a:ext>
            </a:extLst>
          </p:cNvPr>
          <p:cNvSpPr>
            <a:spLocks xmlns:a="http://schemas.openxmlformats.org/drawingml/2006/main" noGrp="1"/>
          </p:cNvSpPr>
          <p:nvPr/>
        </p:nvSpPr>
        <p:spPr>
          <a:xfrm xmlns:a="http://schemas.openxmlformats.org/drawingml/2006/main">
            <a:off x="10382250" y="6324600"/>
            <a:ext cx="1095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278"/>
                </a:solidFill>
                <a:latin typeface="Malgun Gothic"/>
                <a:ea typeface="Malgun Gothic"/>
                <a:cs typeface="Malgun Gothic"/>
              </a:defRPr>
            </a:pPr>
            <a:r>
              <a:rPr sz="1500" b="0">
                <a:solidFill>
                  <a:srgbClr val="526278"/>
                </a:solidFill>
                <a:latin typeface="Malgun Gothic"/>
                <a:ea typeface="Malgun Gothic"/>
                <a:cs typeface="Malgun Gothic"/>
              </a:rPr>
              <a:t>04 / 16</a:t>
            </a:r>
          </a:p>
        </p:txBody>
      </p:sp>
    </p:spTree>
    <p:extLst>
      <p:ext uri="{BB962C8B-B14F-4D97-AF65-F5344CB8AC3E}">
        <p14:creationId xmlns:p14="http://schemas.microsoft.com/office/powerpoint/2010/main" val="2039956445"/>
      </p:ext>
    </p:extLst>
  </p:cSld>
</p:sld>
</file>

<file path=ppt/slides/slide5.xml><?xml version="1.0" encoding="utf-8"?>
<p:sld xmlns:p="http://schemas.openxmlformats.org/presentationml/2006/main">
  <p:cSld>
    <p:bg>
      <p:bgPr>
        <a:solidFill xmlns:a="http://schemas.openxmlformats.org/drawingml/2006/main">
          <a:srgbClr val="F9FA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7734B7F-2B78-4AC8-AD42-4E07A0D6B07E}"/>
              </a:ext>
            </a:extLst>
          </p:cNvPr>
          <p:cNvSpPr>
            <a:spLocks xmlns:a="http://schemas.openxmlformats.org/drawingml/2006/main" noGrp="1"/>
          </p:cNvSpPr>
          <p:nvPr/>
        </p:nvSpPr>
        <p:spPr>
          <a:xfrm xmlns:a="http://schemas.openxmlformats.org/drawingml/2006/main">
            <a:off x="800100" y="590550"/>
            <a:ext cx="10591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738"/>
                </a:solidFill>
                <a:latin typeface="Malgun Gothic"/>
                <a:ea typeface="Malgun Gothic"/>
                <a:cs typeface="Malgun Gothic"/>
              </a:defRPr>
            </a:pPr>
            <a:r>
              <a:rPr sz="3300" b="1">
                <a:solidFill>
                  <a:srgbClr val="172738"/>
                </a:solidFill>
                <a:latin typeface="Malgun Gothic"/>
                <a:ea typeface="Malgun Gothic"/>
                <a:cs typeface="Malgun Gothic"/>
              </a:rPr>
              <a:t>M3 데이터 분포가 보여 준 과제</a:t>
            </a:r>
          </a:p>
        </p:txBody>
      </p:sp>
      <p:sp>
        <p:nvSpPr>
          <p:cNvPr id="2" name="">
            <a:extLst xmlns:a="http://schemas.openxmlformats.org/drawingml/2006/main">
              <a:ext uri="{FF2B5EF4-FFF2-40B4-BE49-F238E27FC236}">
                <a16:creationId xmlns:a16="http://schemas.microsoft.com/office/drawing/2014/main" id="{1EF157F4-5947-46CF-8A59-4A515A0598BF}"/>
              </a:ext>
            </a:extLst>
          </p:cNvPr>
          <p:cNvSpPr>
            <a:spLocks xmlns:a="http://schemas.openxmlformats.org/drawingml/2006/main" noGrp="1"/>
          </p:cNvSpPr>
          <p:nvPr/>
        </p:nvSpPr>
        <p:spPr>
          <a:xfrm xmlns:a="http://schemas.openxmlformats.org/drawingml/2006/main">
            <a:off x="800100" y="195262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72738"/>
                </a:solidFill>
                <a:latin typeface="Malgun Gothic"/>
                <a:ea typeface="Malgun Gothic"/>
                <a:cs typeface="Malgun Gothic"/>
              </a:defRPr>
            </a:pPr>
            <a:r>
              <a:rPr sz="2550" b="0">
                <a:solidFill>
                  <a:srgbClr val="172738"/>
                </a:solidFill>
                <a:latin typeface="Malgun Gothic"/>
                <a:ea typeface="Malgun Gothic"/>
                <a:cs typeface="Malgun Gothic"/>
              </a:rPr>
              <a:t>779쪽, 부모 527개, 연결된 고유 그림 864개</a:t>
            </a:r>
          </a:p>
        </p:txBody>
      </p:sp>
      <p:sp>
        <p:nvSpPr>
          <p:cNvPr id="3" name="">
            <a:extLst xmlns:a="http://schemas.openxmlformats.org/drawingml/2006/main">
              <a:ext uri="{FF2B5EF4-FFF2-40B4-BE49-F238E27FC236}">
                <a16:creationId xmlns:a16="http://schemas.microsoft.com/office/drawing/2014/main" id="{F84E2750-ACEF-4688-AA59-6F4FF28260CB}"/>
              </a:ext>
            </a:extLst>
          </p:cNvPr>
          <p:cNvSpPr>
            <a:spLocks xmlns:a="http://schemas.openxmlformats.org/drawingml/2006/main" noGrp="1"/>
          </p:cNvSpPr>
          <p:nvPr/>
        </p:nvSpPr>
        <p:spPr>
          <a:xfrm xmlns:a="http://schemas.openxmlformats.org/drawingml/2006/main">
            <a:off x="800100" y="286702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72738"/>
                </a:solidFill>
                <a:latin typeface="Malgun Gothic"/>
                <a:ea typeface="Malgun Gothic"/>
                <a:cs typeface="Malgun Gothic"/>
              </a:defRPr>
            </a:pPr>
            <a:r>
              <a:rPr sz="2550" b="0">
                <a:solidFill>
                  <a:srgbClr val="172738"/>
                </a:solidFill>
                <a:latin typeface="Malgun Gothic"/>
                <a:ea typeface="Malgun Gothic"/>
                <a:cs typeface="Malgun Gothic"/>
              </a:rPr>
              <a:t>검토된 부모 25개와 미검토 부모 502개</a:t>
            </a:r>
          </a:p>
        </p:txBody>
      </p:sp>
      <p:sp>
        <p:nvSpPr>
          <p:cNvPr id="4" name="">
            <a:extLst xmlns:a="http://schemas.openxmlformats.org/drawingml/2006/main">
              <a:ext uri="{FF2B5EF4-FFF2-40B4-BE49-F238E27FC236}">
                <a16:creationId xmlns:a16="http://schemas.microsoft.com/office/drawing/2014/main" id="{80FE220B-6A3C-4D99-8E2D-14EF55E86D06}"/>
              </a:ext>
            </a:extLst>
          </p:cNvPr>
          <p:cNvSpPr>
            <a:spLocks xmlns:a="http://schemas.openxmlformats.org/drawingml/2006/main" noGrp="1"/>
          </p:cNvSpPr>
          <p:nvPr/>
        </p:nvSpPr>
        <p:spPr>
          <a:xfrm xmlns:a="http://schemas.openxmlformats.org/drawingml/2006/main">
            <a:off x="800100" y="378142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72738"/>
                </a:solidFill>
                <a:latin typeface="Malgun Gothic"/>
                <a:ea typeface="Malgun Gothic"/>
                <a:cs typeface="Malgun Gothic"/>
              </a:defRPr>
            </a:pPr>
            <a:r>
              <a:rPr sz="2550" b="0">
                <a:solidFill>
                  <a:srgbClr val="172738"/>
                </a:solidFill>
                <a:latin typeface="Malgun Gothic"/>
                <a:ea typeface="Malgun Gothic"/>
                <a:cs typeface="Malgun Gothic"/>
              </a:rPr>
              <a:t>본문 길이 중앙값 398자, 최대 9,336자</a:t>
            </a:r>
          </a:p>
        </p:txBody>
      </p:sp>
      <p:sp>
        <p:nvSpPr>
          <p:cNvPr id="5" name="">
            <a:extLst xmlns:a="http://schemas.openxmlformats.org/drawingml/2006/main">
              <a:ext uri="{FF2B5EF4-FFF2-40B4-BE49-F238E27FC236}">
                <a16:creationId xmlns:a16="http://schemas.microsoft.com/office/drawing/2014/main" id="{0C312AF4-3871-4C2E-83DD-69F92986285B}"/>
              </a:ext>
            </a:extLst>
          </p:cNvPr>
          <p:cNvSpPr>
            <a:spLocks xmlns:a="http://schemas.openxmlformats.org/drawingml/2006/main" noGrp="1"/>
          </p:cNvSpPr>
          <p:nvPr/>
        </p:nvSpPr>
        <p:spPr>
          <a:xfrm xmlns:a="http://schemas.openxmlformats.org/drawingml/2006/main">
            <a:off x="800100" y="469582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72738"/>
                </a:solidFill>
                <a:latin typeface="Malgun Gothic"/>
                <a:ea typeface="Malgun Gothic"/>
                <a:cs typeface="Malgun Gothic"/>
              </a:defRPr>
            </a:pPr>
            <a:r>
              <a:rPr sz="2550" b="0">
                <a:solidFill>
                  <a:srgbClr val="172738"/>
                </a:solidFill>
                <a:latin typeface="Malgun Gothic"/>
                <a:ea typeface="Malgun Gothic"/>
                <a:cs typeface="Malgun Gothic"/>
              </a:rPr>
              <a:t>검토 비율 4.7%는 정답률과 다른 지표</a:t>
            </a:r>
          </a:p>
        </p:txBody>
      </p:sp>
      <p:sp>
        <p:nvSpPr>
          <p:cNvPr id="6" name="">
            <a:extLst xmlns:a="http://schemas.openxmlformats.org/drawingml/2006/main">
              <a:ext uri="{FF2B5EF4-FFF2-40B4-BE49-F238E27FC236}">
                <a16:creationId xmlns:a16="http://schemas.microsoft.com/office/drawing/2014/main" id="{BEF8019A-98DE-4EE8-8FB4-587A9A470507}"/>
              </a:ext>
            </a:extLst>
          </p:cNvPr>
          <p:cNvSpPr>
            <a:spLocks xmlns:a="http://schemas.openxmlformats.org/drawingml/2006/main" noGrp="1"/>
          </p:cNvSpPr>
          <p:nvPr/>
        </p:nvSpPr>
        <p:spPr>
          <a:xfrm xmlns:a="http://schemas.openxmlformats.org/drawingml/2006/main">
            <a:off x="10382250" y="6324600"/>
            <a:ext cx="1095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278"/>
                </a:solidFill>
                <a:latin typeface="Malgun Gothic"/>
                <a:ea typeface="Malgun Gothic"/>
                <a:cs typeface="Malgun Gothic"/>
              </a:defRPr>
            </a:pPr>
            <a:r>
              <a:rPr sz="1500" b="0">
                <a:solidFill>
                  <a:srgbClr val="526278"/>
                </a:solidFill>
                <a:latin typeface="Malgun Gothic"/>
                <a:ea typeface="Malgun Gothic"/>
                <a:cs typeface="Malgun Gothic"/>
              </a:rPr>
              <a:t>05 / 16</a:t>
            </a:r>
          </a:p>
        </p:txBody>
      </p:sp>
    </p:spTree>
    <p:extLst>
      <p:ext uri="{BB962C8B-B14F-4D97-AF65-F5344CB8AC3E}">
        <p14:creationId xmlns:p14="http://schemas.microsoft.com/office/powerpoint/2010/main" val="562698044"/>
      </p:ext>
    </p:extLst>
  </p:cSld>
</p:sld>
</file>

<file path=ppt/slides/slide6.xml><?xml version="1.0" encoding="utf-8"?>
<p:sld xmlns:p="http://schemas.openxmlformats.org/presentationml/2006/main">
  <p:cSld>
    <p:bg>
      <p:bgPr>
        <a:solidFill xmlns:a="http://schemas.openxmlformats.org/drawingml/2006/main">
          <a:srgbClr val="F9FA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8A0E5E3-5C3A-478B-A130-FBB37A70B0EF}"/>
              </a:ext>
            </a:extLst>
          </p:cNvPr>
          <p:cNvSpPr>
            <a:spLocks xmlns:a="http://schemas.openxmlformats.org/drawingml/2006/main" noGrp="1"/>
          </p:cNvSpPr>
          <p:nvPr/>
        </p:nvSpPr>
        <p:spPr>
          <a:xfrm xmlns:a="http://schemas.openxmlformats.org/drawingml/2006/main">
            <a:off x="800100" y="590550"/>
            <a:ext cx="10591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738"/>
                </a:solidFill>
                <a:latin typeface="Malgun Gothic"/>
                <a:ea typeface="Malgun Gothic"/>
                <a:cs typeface="Malgun Gothic"/>
              </a:defRPr>
            </a:pPr>
            <a:r>
              <a:rPr sz="3300" b="1">
                <a:solidFill>
                  <a:srgbClr val="172738"/>
                </a:solidFill>
                <a:latin typeface="Malgun Gothic"/>
                <a:ea typeface="Malgun Gothic"/>
                <a:cs typeface="Malgun Gothic"/>
              </a:rPr>
              <a:t>M4 원문과 벡터의 연결 보관</a:t>
            </a:r>
          </a:p>
        </p:txBody>
      </p:sp>
      <p:sp>
        <p:nvSpPr>
          <p:cNvPr id="2" name="">
            <a:extLst xmlns:a="http://schemas.openxmlformats.org/drawingml/2006/main">
              <a:ext uri="{FF2B5EF4-FFF2-40B4-BE49-F238E27FC236}">
                <a16:creationId xmlns:a16="http://schemas.microsoft.com/office/drawing/2014/main" id="{57F15E9B-D3D0-4999-8F9F-91D481AECF21}"/>
              </a:ext>
            </a:extLst>
          </p:cNvPr>
          <p:cNvSpPr>
            <a:spLocks xmlns:a="http://schemas.openxmlformats.org/drawingml/2006/main" noGrp="1"/>
          </p:cNvSpPr>
          <p:nvPr/>
        </p:nvSpPr>
        <p:spPr>
          <a:xfrm xmlns:a="http://schemas.openxmlformats.org/drawingml/2006/main">
            <a:off x="800100" y="195262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72738"/>
                </a:solidFill>
                <a:latin typeface="Malgun Gothic"/>
                <a:ea typeface="Malgun Gothic"/>
                <a:cs typeface="Malgun Gothic"/>
              </a:defRPr>
            </a:pPr>
            <a:r>
              <a:rPr sz="2550" b="0">
                <a:solidFill>
                  <a:srgbClr val="172738"/>
                </a:solidFill>
                <a:latin typeface="Malgun Gothic"/>
                <a:ea typeface="Malgun Gothic"/>
                <a:cs typeface="Malgun Gothic"/>
              </a:rPr>
              <a:t>Supabase PostgreSQL과 pgvector로 원문·벡터 관리</a:t>
            </a:r>
          </a:p>
        </p:txBody>
      </p:sp>
      <p:sp>
        <p:nvSpPr>
          <p:cNvPr id="3" name="">
            <a:extLst xmlns:a="http://schemas.openxmlformats.org/drawingml/2006/main">
              <a:ext uri="{FF2B5EF4-FFF2-40B4-BE49-F238E27FC236}">
                <a16:creationId xmlns:a16="http://schemas.microsoft.com/office/drawing/2014/main" id="{2494D363-291A-48DC-9DB1-EE5C3E3B88C2}"/>
              </a:ext>
            </a:extLst>
          </p:cNvPr>
          <p:cNvSpPr>
            <a:spLocks xmlns:a="http://schemas.openxmlformats.org/drawingml/2006/main" noGrp="1"/>
          </p:cNvSpPr>
          <p:nvPr/>
        </p:nvSpPr>
        <p:spPr>
          <a:xfrm xmlns:a="http://schemas.openxmlformats.org/drawingml/2006/main">
            <a:off x="800100" y="286702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72738"/>
                </a:solidFill>
                <a:latin typeface="Malgun Gothic"/>
                <a:ea typeface="Malgun Gothic"/>
                <a:cs typeface="Malgun Gothic"/>
              </a:defRPr>
            </a:pPr>
            <a:r>
              <a:rPr sz="2550" b="0">
                <a:solidFill>
                  <a:srgbClr val="172738"/>
                </a:solidFill>
                <a:latin typeface="Malgun Gothic"/>
                <a:ea typeface="Malgun Gothic"/>
                <a:cs typeface="Malgun Gothic"/>
              </a:rPr>
              <a:t>Storage에 그림 파일, DB에 출처·경로·연결 보관</a:t>
            </a:r>
          </a:p>
        </p:txBody>
      </p:sp>
      <p:sp>
        <p:nvSpPr>
          <p:cNvPr id="4" name="">
            <a:extLst xmlns:a="http://schemas.openxmlformats.org/drawingml/2006/main">
              <a:ext uri="{FF2B5EF4-FFF2-40B4-BE49-F238E27FC236}">
                <a16:creationId xmlns:a16="http://schemas.microsoft.com/office/drawing/2014/main" id="{BFD68CC7-86BA-4166-A372-1DD56B31EC5E}"/>
              </a:ext>
            </a:extLst>
          </p:cNvPr>
          <p:cNvSpPr>
            <a:spLocks xmlns:a="http://schemas.openxmlformats.org/drawingml/2006/main" noGrp="1"/>
          </p:cNvSpPr>
          <p:nvPr/>
        </p:nvSpPr>
        <p:spPr>
          <a:xfrm xmlns:a="http://schemas.openxmlformats.org/drawingml/2006/main">
            <a:off x="800100" y="378142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72738"/>
                </a:solidFill>
                <a:latin typeface="Malgun Gothic"/>
                <a:ea typeface="Malgun Gothic"/>
                <a:cs typeface="Malgun Gothic"/>
              </a:defRPr>
            </a:pPr>
            <a:r>
              <a:rPr sz="2550" b="0">
                <a:solidFill>
                  <a:srgbClr val="172738"/>
                </a:solidFill>
                <a:latin typeface="Malgun Gothic"/>
                <a:ea typeface="Malgun Gothic"/>
                <a:cs typeface="Malgun Gothic"/>
              </a:rPr>
              <a:t>로컬 768차원과 OpenAI 1536차원 버전을 분리</a:t>
            </a:r>
          </a:p>
        </p:txBody>
      </p:sp>
      <p:sp>
        <p:nvSpPr>
          <p:cNvPr id="5" name="">
            <a:extLst xmlns:a="http://schemas.openxmlformats.org/drawingml/2006/main">
              <a:ext uri="{FF2B5EF4-FFF2-40B4-BE49-F238E27FC236}">
                <a16:creationId xmlns:a16="http://schemas.microsoft.com/office/drawing/2014/main" id="{F224A2FA-9834-4C28-B744-0B02A8AE06DC}"/>
              </a:ext>
            </a:extLst>
          </p:cNvPr>
          <p:cNvSpPr>
            <a:spLocks xmlns:a="http://schemas.openxmlformats.org/drawingml/2006/main" noGrp="1"/>
          </p:cNvSpPr>
          <p:nvPr/>
        </p:nvSpPr>
        <p:spPr>
          <a:xfrm xmlns:a="http://schemas.openxmlformats.org/drawingml/2006/main">
            <a:off x="800100" y="469582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72738"/>
                </a:solidFill>
                <a:latin typeface="Malgun Gothic"/>
                <a:ea typeface="Malgun Gothic"/>
                <a:cs typeface="Malgun Gothic"/>
              </a:defRPr>
            </a:pPr>
            <a:r>
              <a:rPr sz="2550" b="0">
                <a:solidFill>
                  <a:srgbClr val="172738"/>
                </a:solidFill>
                <a:latin typeface="Malgun Gothic"/>
                <a:ea typeface="Malgun Gothic"/>
                <a:cs typeface="Malgun Gothic"/>
              </a:rPr>
              <a:t>문서와 질문은 같은 모델로 임베딩</a:t>
            </a:r>
          </a:p>
        </p:txBody>
      </p:sp>
      <p:sp>
        <p:nvSpPr>
          <p:cNvPr id="6" name="">
            <a:extLst xmlns:a="http://schemas.openxmlformats.org/drawingml/2006/main">
              <a:ext uri="{FF2B5EF4-FFF2-40B4-BE49-F238E27FC236}">
                <a16:creationId xmlns:a16="http://schemas.microsoft.com/office/drawing/2014/main" id="{26417163-A505-495B-BAF5-5A095EB8C1A3}"/>
              </a:ext>
            </a:extLst>
          </p:cNvPr>
          <p:cNvSpPr>
            <a:spLocks xmlns:a="http://schemas.openxmlformats.org/drawingml/2006/main" noGrp="1"/>
          </p:cNvSpPr>
          <p:nvPr/>
        </p:nvSpPr>
        <p:spPr>
          <a:xfrm xmlns:a="http://schemas.openxmlformats.org/drawingml/2006/main">
            <a:off x="10382250" y="6324600"/>
            <a:ext cx="1095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278"/>
                </a:solidFill>
                <a:latin typeface="Malgun Gothic"/>
                <a:ea typeface="Malgun Gothic"/>
                <a:cs typeface="Malgun Gothic"/>
              </a:defRPr>
            </a:pPr>
            <a:r>
              <a:rPr sz="1500" b="0">
                <a:solidFill>
                  <a:srgbClr val="526278"/>
                </a:solidFill>
                <a:latin typeface="Malgun Gothic"/>
                <a:ea typeface="Malgun Gothic"/>
                <a:cs typeface="Malgun Gothic"/>
              </a:rPr>
              <a:t>06 / 16</a:t>
            </a:r>
          </a:p>
        </p:txBody>
      </p:sp>
    </p:spTree>
    <p:extLst>
      <p:ext uri="{BB962C8B-B14F-4D97-AF65-F5344CB8AC3E}">
        <p14:creationId xmlns:p14="http://schemas.microsoft.com/office/powerpoint/2010/main" val="277365905"/>
      </p:ext>
    </p:extLst>
  </p:cSld>
</p:sld>
</file>

<file path=ppt/slides/slide7.xml><?xml version="1.0" encoding="utf-8"?>
<p:sld xmlns:p="http://schemas.openxmlformats.org/presentationml/2006/main">
  <p:cSld>
    <p:bg>
      <p:bgPr>
        <a:solidFill xmlns:a="http://schemas.openxmlformats.org/drawingml/2006/main">
          <a:srgbClr val="F9FA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7D34E19-2FBB-4A27-942E-737501178832}"/>
              </a:ext>
            </a:extLst>
          </p:cNvPr>
          <p:cNvSpPr>
            <a:spLocks xmlns:a="http://schemas.openxmlformats.org/drawingml/2006/main" noGrp="1"/>
          </p:cNvSpPr>
          <p:nvPr/>
        </p:nvSpPr>
        <p:spPr>
          <a:xfrm xmlns:a="http://schemas.openxmlformats.org/drawingml/2006/main">
            <a:off x="800100" y="590550"/>
            <a:ext cx="10591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738"/>
                </a:solidFill>
                <a:latin typeface="Malgun Gothic"/>
                <a:ea typeface="Malgun Gothic"/>
                <a:cs typeface="Malgun Gothic"/>
              </a:defRPr>
            </a:pPr>
            <a:r>
              <a:rPr sz="3300" b="1">
                <a:solidFill>
                  <a:srgbClr val="172738"/>
                </a:solidFill>
                <a:latin typeface="Malgun Gothic"/>
                <a:ea typeface="Malgun Gothic"/>
                <a:cs typeface="Malgun Gothic"/>
              </a:rPr>
              <a:t>M5 싼타페의 하이브리드 검색</a:t>
            </a:r>
          </a:p>
        </p:txBody>
      </p:sp>
      <p:sp>
        <p:nvSpPr>
          <p:cNvPr id="2" name="">
            <a:extLst xmlns:a="http://schemas.openxmlformats.org/drawingml/2006/main">
              <a:ext uri="{FF2B5EF4-FFF2-40B4-BE49-F238E27FC236}">
                <a16:creationId xmlns:a16="http://schemas.microsoft.com/office/drawing/2014/main" id="{BEE2CBCF-B346-4979-81C2-B2B69AC222B1}"/>
              </a:ext>
            </a:extLst>
          </p:cNvPr>
          <p:cNvSpPr>
            <a:spLocks xmlns:a="http://schemas.openxmlformats.org/drawingml/2006/main" noGrp="1"/>
          </p:cNvSpPr>
          <p:nvPr/>
        </p:nvSpPr>
        <p:spPr>
          <a:xfrm xmlns:a="http://schemas.openxmlformats.org/drawingml/2006/main">
            <a:off x="800100" y="195262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72738"/>
                </a:solidFill>
                <a:latin typeface="Malgun Gothic"/>
                <a:ea typeface="Malgun Gothic"/>
                <a:cs typeface="Malgun Gothic"/>
              </a:defRPr>
            </a:pPr>
            <a:r>
              <a:rPr sz="2550" b="0">
                <a:solidFill>
                  <a:srgbClr val="172738"/>
                </a:solidFill>
                <a:latin typeface="Malgun Gothic"/>
                <a:ea typeface="Malgun Gothic"/>
                <a:cs typeface="Malgun Gothic"/>
              </a:rPr>
              <a:t>의미 점수: 질문과 비슷한 내용 찾기</a:t>
            </a:r>
          </a:p>
        </p:txBody>
      </p:sp>
      <p:sp>
        <p:nvSpPr>
          <p:cNvPr id="3" name="">
            <a:extLst xmlns:a="http://schemas.openxmlformats.org/drawingml/2006/main">
              <a:ext uri="{FF2B5EF4-FFF2-40B4-BE49-F238E27FC236}">
                <a16:creationId xmlns:a16="http://schemas.microsoft.com/office/drawing/2014/main" id="{010F714B-0269-471C-B19D-E199FDC6E350}"/>
              </a:ext>
            </a:extLst>
          </p:cNvPr>
          <p:cNvSpPr>
            <a:spLocks xmlns:a="http://schemas.openxmlformats.org/drawingml/2006/main" noGrp="1"/>
          </p:cNvSpPr>
          <p:nvPr/>
        </p:nvSpPr>
        <p:spPr>
          <a:xfrm xmlns:a="http://schemas.openxmlformats.org/drawingml/2006/main">
            <a:off x="800100" y="286702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72738"/>
                </a:solidFill>
                <a:latin typeface="Malgun Gothic"/>
                <a:ea typeface="Malgun Gothic"/>
                <a:cs typeface="Malgun Gothic"/>
              </a:defRPr>
            </a:pPr>
            <a:r>
              <a:rPr sz="2550" b="0">
                <a:solidFill>
                  <a:srgbClr val="172738"/>
                </a:solidFill>
                <a:latin typeface="Malgun Gothic"/>
                <a:ea typeface="Malgun Gothic"/>
                <a:cs typeface="Malgun Gothic"/>
              </a:rPr>
              <a:t>TF-IDF 점수: 원문 명칭·규격 표현 찾기</a:t>
            </a:r>
          </a:p>
        </p:txBody>
      </p:sp>
      <p:sp>
        <p:nvSpPr>
          <p:cNvPr id="4" name="">
            <a:extLst xmlns:a="http://schemas.openxmlformats.org/drawingml/2006/main">
              <a:ext uri="{FF2B5EF4-FFF2-40B4-BE49-F238E27FC236}">
                <a16:creationId xmlns:a16="http://schemas.microsoft.com/office/drawing/2014/main" id="{843E12B7-2B1D-4B2C-B95C-88A83496784C}"/>
              </a:ext>
            </a:extLst>
          </p:cNvPr>
          <p:cNvSpPr>
            <a:spLocks xmlns:a="http://schemas.openxmlformats.org/drawingml/2006/main" noGrp="1"/>
          </p:cNvSpPr>
          <p:nvPr/>
        </p:nvSpPr>
        <p:spPr>
          <a:xfrm xmlns:a="http://schemas.openxmlformats.org/drawingml/2006/main">
            <a:off x="800100" y="378142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72738"/>
                </a:solidFill>
                <a:latin typeface="Malgun Gothic"/>
                <a:ea typeface="Malgun Gothic"/>
                <a:cs typeface="Malgun Gothic"/>
              </a:defRPr>
            </a:pPr>
            <a:r>
              <a:rPr sz="2550" b="0">
                <a:solidFill>
                  <a:srgbClr val="172738"/>
                </a:solidFill>
                <a:latin typeface="Malgun Gothic"/>
                <a:ea typeface="Malgun Gothic"/>
                <a:cs typeface="Malgun Gothic"/>
              </a:rPr>
              <a:t>기본 결합: 의미 0.5 + 키워드 0.5</a:t>
            </a:r>
          </a:p>
        </p:txBody>
      </p:sp>
      <p:sp>
        <p:nvSpPr>
          <p:cNvPr id="5" name="">
            <a:extLst xmlns:a="http://schemas.openxmlformats.org/drawingml/2006/main">
              <a:ext uri="{FF2B5EF4-FFF2-40B4-BE49-F238E27FC236}">
                <a16:creationId xmlns:a16="http://schemas.microsoft.com/office/drawing/2014/main" id="{EDFEE2B1-B626-4645-BF6A-2F1C32DF12DC}"/>
              </a:ext>
            </a:extLst>
          </p:cNvPr>
          <p:cNvSpPr>
            <a:spLocks xmlns:a="http://schemas.openxmlformats.org/drawingml/2006/main" noGrp="1"/>
          </p:cNvSpPr>
          <p:nvPr/>
        </p:nvSpPr>
        <p:spPr>
          <a:xfrm xmlns:a="http://schemas.openxmlformats.org/drawingml/2006/main">
            <a:off x="800100" y="469582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72738"/>
                </a:solidFill>
                <a:latin typeface="Malgun Gothic"/>
                <a:ea typeface="Malgun Gothic"/>
                <a:cs typeface="Malgun Gothic"/>
              </a:defRPr>
            </a:pPr>
            <a:r>
              <a:rPr sz="2550" b="0">
                <a:solidFill>
                  <a:srgbClr val="172738"/>
                </a:solidFill>
                <a:latin typeface="Malgun Gothic"/>
                <a:ea typeface="Malgun Gothic"/>
                <a:cs typeface="Malgun Gothic"/>
              </a:rPr>
              <a:t>질문 목적과 구체 표현으로 후보 순위 보완</a:t>
            </a:r>
          </a:p>
        </p:txBody>
      </p:sp>
      <p:sp>
        <p:nvSpPr>
          <p:cNvPr id="6" name="">
            <a:extLst xmlns:a="http://schemas.openxmlformats.org/drawingml/2006/main">
              <a:ext uri="{FF2B5EF4-FFF2-40B4-BE49-F238E27FC236}">
                <a16:creationId xmlns:a16="http://schemas.microsoft.com/office/drawing/2014/main" id="{B1D641BF-7D82-4581-A58F-1E5AFA9BF53D}"/>
              </a:ext>
            </a:extLst>
          </p:cNvPr>
          <p:cNvSpPr>
            <a:spLocks xmlns:a="http://schemas.openxmlformats.org/drawingml/2006/main" noGrp="1"/>
          </p:cNvSpPr>
          <p:nvPr/>
        </p:nvSpPr>
        <p:spPr>
          <a:xfrm xmlns:a="http://schemas.openxmlformats.org/drawingml/2006/main">
            <a:off x="10382250" y="6324600"/>
            <a:ext cx="1095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278"/>
                </a:solidFill>
                <a:latin typeface="Malgun Gothic"/>
                <a:ea typeface="Malgun Gothic"/>
                <a:cs typeface="Malgun Gothic"/>
              </a:defRPr>
            </a:pPr>
            <a:r>
              <a:rPr sz="1500" b="0">
                <a:solidFill>
                  <a:srgbClr val="526278"/>
                </a:solidFill>
                <a:latin typeface="Malgun Gothic"/>
                <a:ea typeface="Malgun Gothic"/>
                <a:cs typeface="Malgun Gothic"/>
              </a:rPr>
              <a:t>07 / 16</a:t>
            </a:r>
          </a:p>
        </p:txBody>
      </p:sp>
    </p:spTree>
    <p:extLst>
      <p:ext uri="{BB962C8B-B14F-4D97-AF65-F5344CB8AC3E}">
        <p14:creationId xmlns:p14="http://schemas.microsoft.com/office/powerpoint/2010/main" val="162469489"/>
      </p:ext>
    </p:extLst>
  </p:cSld>
</p:sld>
</file>

<file path=ppt/slides/slide8.xml><?xml version="1.0" encoding="utf-8"?>
<p:sld xmlns:p="http://schemas.openxmlformats.org/presentationml/2006/main">
  <p:cSld>
    <p:bg>
      <p:bgPr>
        <a:solidFill xmlns:a="http://schemas.openxmlformats.org/drawingml/2006/main">
          <a:srgbClr val="F9FA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AA9702F-5DC4-462F-BF6B-A88B19046F00}"/>
              </a:ext>
            </a:extLst>
          </p:cNvPr>
          <p:cNvSpPr>
            <a:spLocks xmlns:a="http://schemas.openxmlformats.org/drawingml/2006/main" noGrp="1"/>
          </p:cNvSpPr>
          <p:nvPr/>
        </p:nvSpPr>
        <p:spPr>
          <a:xfrm xmlns:a="http://schemas.openxmlformats.org/drawingml/2006/main">
            <a:off x="800100" y="590550"/>
            <a:ext cx="10591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738"/>
                </a:solidFill>
                <a:latin typeface="Malgun Gothic"/>
                <a:ea typeface="Malgun Gothic"/>
                <a:cs typeface="Malgun Gothic"/>
              </a:defRPr>
            </a:pPr>
            <a:r>
              <a:rPr sz="3300" b="1">
                <a:solidFill>
                  <a:srgbClr val="172738"/>
                </a:solidFill>
                <a:latin typeface="Malgun Gothic"/>
                <a:ea typeface="Malgun Gothic"/>
                <a:cs typeface="Malgun Gothic"/>
              </a:rPr>
              <a:t>모델별 역할과 선택 이유</a:t>
            </a:r>
          </a:p>
        </p:txBody>
      </p:sp>
      <p:sp>
        <p:nvSpPr>
          <p:cNvPr id="2" name="">
            <a:extLst xmlns:a="http://schemas.openxmlformats.org/drawingml/2006/main">
              <a:ext uri="{FF2B5EF4-FFF2-40B4-BE49-F238E27FC236}">
                <a16:creationId xmlns:a16="http://schemas.microsoft.com/office/drawing/2014/main" id="{200894C7-24AB-47D1-8685-D7CD7F29DF20}"/>
              </a:ext>
            </a:extLst>
          </p:cNvPr>
          <p:cNvSpPr>
            <a:spLocks xmlns:a="http://schemas.openxmlformats.org/drawingml/2006/main" noGrp="1"/>
          </p:cNvSpPr>
          <p:nvPr/>
        </p:nvSpPr>
        <p:spPr>
          <a:xfrm xmlns:a="http://schemas.openxmlformats.org/drawingml/2006/main">
            <a:off x="800100" y="195262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72738"/>
                </a:solidFill>
                <a:latin typeface="Malgun Gothic"/>
                <a:ea typeface="Malgun Gothic"/>
                <a:cs typeface="Malgun Gothic"/>
              </a:defRPr>
            </a:pPr>
            <a:r>
              <a:rPr sz="2550" b="0">
                <a:solidFill>
                  <a:srgbClr val="172738"/>
                </a:solidFill>
                <a:latin typeface="Malgun Gothic"/>
                <a:ea typeface="Malgun Gothic"/>
                <a:cs typeface="Malgun Gothic"/>
              </a:rPr>
              <a:t>현재 임베딩: text-embedding-3-small, 수업 모델 적용</a:t>
            </a:r>
          </a:p>
        </p:txBody>
      </p:sp>
      <p:sp>
        <p:nvSpPr>
          <p:cNvPr id="3" name="">
            <a:extLst xmlns:a="http://schemas.openxmlformats.org/drawingml/2006/main">
              <a:ext uri="{FF2B5EF4-FFF2-40B4-BE49-F238E27FC236}">
                <a16:creationId xmlns:a16="http://schemas.microsoft.com/office/drawing/2014/main" id="{6EA6AC50-BB96-45CE-BEA0-B5506D1DC8F3}"/>
              </a:ext>
            </a:extLst>
          </p:cNvPr>
          <p:cNvSpPr>
            <a:spLocks xmlns:a="http://schemas.openxmlformats.org/drawingml/2006/main" noGrp="1"/>
          </p:cNvSpPr>
          <p:nvPr/>
        </p:nvSpPr>
        <p:spPr>
          <a:xfrm xmlns:a="http://schemas.openxmlformats.org/drawingml/2006/main">
            <a:off x="800100" y="286702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72738"/>
                </a:solidFill>
                <a:latin typeface="Malgun Gothic"/>
                <a:ea typeface="Malgun Gothic"/>
                <a:cs typeface="Malgun Gothic"/>
              </a:defRPr>
            </a:pPr>
            <a:r>
              <a:rPr sz="2550" b="0">
                <a:solidFill>
                  <a:srgbClr val="172738"/>
                </a:solidFill>
                <a:latin typeface="Malgun Gothic"/>
                <a:ea typeface="Malgun Gothic"/>
                <a:cs typeface="Malgun Gothic"/>
              </a:rPr>
              <a:t>초기 비교 기준: jhgan 한국어 로컬 임베딩</a:t>
            </a:r>
          </a:p>
        </p:txBody>
      </p:sp>
      <p:sp>
        <p:nvSpPr>
          <p:cNvPr id="4" name="">
            <a:extLst xmlns:a="http://schemas.openxmlformats.org/drawingml/2006/main">
              <a:ext uri="{FF2B5EF4-FFF2-40B4-BE49-F238E27FC236}">
                <a16:creationId xmlns:a16="http://schemas.microsoft.com/office/drawing/2014/main" id="{E35C942E-7B8A-4667-9FB8-9B19E68D04FC}"/>
              </a:ext>
            </a:extLst>
          </p:cNvPr>
          <p:cNvSpPr>
            <a:spLocks xmlns:a="http://schemas.openxmlformats.org/drawingml/2006/main" noGrp="1"/>
          </p:cNvSpPr>
          <p:nvPr/>
        </p:nvSpPr>
        <p:spPr>
          <a:xfrm xmlns:a="http://schemas.openxmlformats.org/drawingml/2006/main">
            <a:off x="800100" y="378142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72738"/>
                </a:solidFill>
                <a:latin typeface="Malgun Gothic"/>
                <a:ea typeface="Malgun Gothic"/>
                <a:cs typeface="Malgun Gothic"/>
              </a:defRPr>
            </a:pPr>
            <a:r>
              <a:rPr sz="2550" b="0">
                <a:solidFill>
                  <a:srgbClr val="172738"/>
                </a:solidFill>
                <a:latin typeface="Malgun Gothic"/>
                <a:ea typeface="Malgun Gothic"/>
                <a:cs typeface="Malgun Gothic"/>
              </a:rPr>
              <a:t>답변 정리: 사용자 선택 gpt-6-luna</a:t>
            </a:r>
          </a:p>
        </p:txBody>
      </p:sp>
      <p:sp>
        <p:nvSpPr>
          <p:cNvPr id="5" name="">
            <a:extLst xmlns:a="http://schemas.openxmlformats.org/drawingml/2006/main">
              <a:ext uri="{FF2B5EF4-FFF2-40B4-BE49-F238E27FC236}">
                <a16:creationId xmlns:a16="http://schemas.microsoft.com/office/drawing/2014/main" id="{8359B702-CA58-470B-99DF-A461A1AB2A97}"/>
              </a:ext>
            </a:extLst>
          </p:cNvPr>
          <p:cNvSpPr>
            <a:spLocks xmlns:a="http://schemas.openxmlformats.org/drawingml/2006/main" noGrp="1"/>
          </p:cNvSpPr>
          <p:nvPr/>
        </p:nvSpPr>
        <p:spPr>
          <a:xfrm xmlns:a="http://schemas.openxmlformats.org/drawingml/2006/main">
            <a:off x="800100" y="469582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72738"/>
                </a:solidFill>
                <a:latin typeface="Malgun Gothic"/>
                <a:ea typeface="Malgun Gothic"/>
                <a:cs typeface="Malgun Gothic"/>
              </a:defRPr>
            </a:pPr>
            <a:r>
              <a:rPr sz="2550" b="0">
                <a:solidFill>
                  <a:srgbClr val="172738"/>
                </a:solidFill>
                <a:latin typeface="Malgun Gothic"/>
                <a:ea typeface="Malgun Gothic"/>
                <a:cs typeface="Malgun Gothic"/>
              </a:rPr>
              <a:t>임베딩 모델과 생성 모델의 역할을 구분</a:t>
            </a:r>
          </a:p>
        </p:txBody>
      </p:sp>
      <p:sp>
        <p:nvSpPr>
          <p:cNvPr id="6" name="">
            <a:extLst xmlns:a="http://schemas.openxmlformats.org/drawingml/2006/main">
              <a:ext uri="{FF2B5EF4-FFF2-40B4-BE49-F238E27FC236}">
                <a16:creationId xmlns:a16="http://schemas.microsoft.com/office/drawing/2014/main" id="{AEA1A970-6A47-4189-BCAE-C2762D9C0C9C}"/>
              </a:ext>
            </a:extLst>
          </p:cNvPr>
          <p:cNvSpPr>
            <a:spLocks xmlns:a="http://schemas.openxmlformats.org/drawingml/2006/main" noGrp="1"/>
          </p:cNvSpPr>
          <p:nvPr/>
        </p:nvSpPr>
        <p:spPr>
          <a:xfrm xmlns:a="http://schemas.openxmlformats.org/drawingml/2006/main">
            <a:off x="10382250" y="6324600"/>
            <a:ext cx="1095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278"/>
                </a:solidFill>
                <a:latin typeface="Malgun Gothic"/>
                <a:ea typeface="Malgun Gothic"/>
                <a:cs typeface="Malgun Gothic"/>
              </a:defRPr>
            </a:pPr>
            <a:r>
              <a:rPr sz="1500" b="0">
                <a:solidFill>
                  <a:srgbClr val="526278"/>
                </a:solidFill>
                <a:latin typeface="Malgun Gothic"/>
                <a:ea typeface="Malgun Gothic"/>
                <a:cs typeface="Malgun Gothic"/>
              </a:rPr>
              <a:t>08 / 16</a:t>
            </a:r>
          </a:p>
        </p:txBody>
      </p:sp>
    </p:spTree>
    <p:extLst>
      <p:ext uri="{BB962C8B-B14F-4D97-AF65-F5344CB8AC3E}">
        <p14:creationId xmlns:p14="http://schemas.microsoft.com/office/powerpoint/2010/main" val="1712488957"/>
      </p:ext>
    </p:extLst>
  </p:cSld>
</p:sld>
</file>

<file path=ppt/slides/slide9.xml><?xml version="1.0" encoding="utf-8"?>
<p:sld xmlns:p="http://schemas.openxmlformats.org/presentationml/2006/main">
  <p:cSld>
    <p:bg>
      <p:bgPr>
        <a:solidFill xmlns:a="http://schemas.openxmlformats.org/drawingml/2006/main">
          <a:srgbClr val="F9FA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A772464-A372-4199-A4DD-2DE609F3A544}"/>
              </a:ext>
            </a:extLst>
          </p:cNvPr>
          <p:cNvSpPr>
            <a:spLocks xmlns:a="http://schemas.openxmlformats.org/drawingml/2006/main" noGrp="1"/>
          </p:cNvSpPr>
          <p:nvPr/>
        </p:nvSpPr>
        <p:spPr>
          <a:xfrm xmlns:a="http://schemas.openxmlformats.org/drawingml/2006/main">
            <a:off x="800100" y="590550"/>
            <a:ext cx="10591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738"/>
                </a:solidFill>
                <a:latin typeface="Malgun Gothic"/>
                <a:ea typeface="Malgun Gothic"/>
                <a:cs typeface="Malgun Gothic"/>
              </a:defRPr>
            </a:pPr>
            <a:r>
              <a:rPr sz="3300" b="1">
                <a:solidFill>
                  <a:srgbClr val="172738"/>
                </a:solidFill>
                <a:latin typeface="Malgun Gothic"/>
                <a:ea typeface="Malgun Gothic"/>
                <a:cs typeface="Malgun Gothic"/>
              </a:rPr>
              <a:t>M5 근거 확인 후 선택적으로 답변 정리</a:t>
            </a:r>
          </a:p>
        </p:txBody>
      </p:sp>
      <p:sp>
        <p:nvSpPr>
          <p:cNvPr id="2" name="">
            <a:extLst xmlns:a="http://schemas.openxmlformats.org/drawingml/2006/main">
              <a:ext uri="{FF2B5EF4-FFF2-40B4-BE49-F238E27FC236}">
                <a16:creationId xmlns:a16="http://schemas.microsoft.com/office/drawing/2014/main" id="{AB2E0EF0-E93D-475C-A265-BFB558B92B80}"/>
              </a:ext>
            </a:extLst>
          </p:cNvPr>
          <p:cNvSpPr>
            <a:spLocks xmlns:a="http://schemas.openxmlformats.org/drawingml/2006/main" noGrp="1"/>
          </p:cNvSpPr>
          <p:nvPr/>
        </p:nvSpPr>
        <p:spPr>
          <a:xfrm xmlns:a="http://schemas.openxmlformats.org/drawingml/2006/main">
            <a:off x="800100" y="195262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72738"/>
                </a:solidFill>
                <a:latin typeface="Malgun Gothic"/>
                <a:ea typeface="Malgun Gothic"/>
                <a:cs typeface="Malgun Gothic"/>
              </a:defRPr>
            </a:pPr>
            <a:r>
              <a:rPr sz="2550" b="0">
                <a:solidFill>
                  <a:srgbClr val="172738"/>
                </a:solidFill>
                <a:latin typeface="Malgun Gothic"/>
                <a:ea typeface="Malgun Gothic"/>
                <a:cs typeface="Malgun Gothic"/>
              </a:rPr>
              <a:t>검색 조각에서 부모 원문과 필수 각주 복원</a:t>
            </a:r>
          </a:p>
        </p:txBody>
      </p:sp>
      <p:sp>
        <p:nvSpPr>
          <p:cNvPr id="3" name="">
            <a:extLst xmlns:a="http://schemas.openxmlformats.org/drawingml/2006/main">
              <a:ext uri="{FF2B5EF4-FFF2-40B4-BE49-F238E27FC236}">
                <a16:creationId xmlns:a16="http://schemas.microsoft.com/office/drawing/2014/main" id="{EC9E7377-B49A-4C62-BA59-B8831507B195}"/>
              </a:ext>
            </a:extLst>
          </p:cNvPr>
          <p:cNvSpPr>
            <a:spLocks xmlns:a="http://schemas.openxmlformats.org/drawingml/2006/main" noGrp="1"/>
          </p:cNvSpPr>
          <p:nvPr/>
        </p:nvSpPr>
        <p:spPr>
          <a:xfrm xmlns:a="http://schemas.openxmlformats.org/drawingml/2006/main">
            <a:off x="800100" y="286702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72738"/>
                </a:solidFill>
                <a:latin typeface="Malgun Gothic"/>
                <a:ea typeface="Malgun Gothic"/>
                <a:cs typeface="Malgun Gothic"/>
              </a:defRPr>
            </a:pPr>
            <a:r>
              <a:rPr sz="2550" b="0">
                <a:solidFill>
                  <a:srgbClr val="172738"/>
                </a:solidFill>
                <a:latin typeface="Malgun Gothic"/>
                <a:ea typeface="Malgun Gothic"/>
                <a:cs typeface="Malgun Gothic"/>
              </a:rPr>
              <a:t>검토 상태·질문 목적·답변 근거 확인</a:t>
            </a:r>
          </a:p>
        </p:txBody>
      </p:sp>
      <p:sp>
        <p:nvSpPr>
          <p:cNvPr id="4" name="">
            <a:extLst xmlns:a="http://schemas.openxmlformats.org/drawingml/2006/main">
              <a:ext uri="{FF2B5EF4-FFF2-40B4-BE49-F238E27FC236}">
                <a16:creationId xmlns:a16="http://schemas.microsoft.com/office/drawing/2014/main" id="{05E35655-C464-4CD2-A8EB-6C7A8D63CEAF}"/>
              </a:ext>
            </a:extLst>
          </p:cNvPr>
          <p:cNvSpPr>
            <a:spLocks xmlns:a="http://schemas.openxmlformats.org/drawingml/2006/main" noGrp="1"/>
          </p:cNvSpPr>
          <p:nvPr/>
        </p:nvSpPr>
        <p:spPr>
          <a:xfrm xmlns:a="http://schemas.openxmlformats.org/drawingml/2006/main">
            <a:off x="800100" y="378142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72738"/>
                </a:solidFill>
                <a:latin typeface="Malgun Gothic"/>
                <a:ea typeface="Malgun Gothic"/>
                <a:cs typeface="Malgun Gothic"/>
              </a:defRPr>
            </a:pPr>
            <a:r>
              <a:rPr sz="2550" b="0">
                <a:solidFill>
                  <a:srgbClr val="172738"/>
                </a:solidFill>
                <a:latin typeface="Malgun Gothic"/>
                <a:ea typeface="Malgun Gothic"/>
                <a:cs typeface="Malgun Gothic"/>
              </a:rPr>
              <a:t>기본은 발췌, 사용자가 요청하면 LLM 정리</a:t>
            </a:r>
          </a:p>
        </p:txBody>
      </p:sp>
      <p:sp>
        <p:nvSpPr>
          <p:cNvPr id="5" name="">
            <a:extLst xmlns:a="http://schemas.openxmlformats.org/drawingml/2006/main">
              <a:ext uri="{FF2B5EF4-FFF2-40B4-BE49-F238E27FC236}">
                <a16:creationId xmlns:a16="http://schemas.microsoft.com/office/drawing/2014/main" id="{31C80035-2204-448E-9ACF-599578523BB0}"/>
              </a:ext>
            </a:extLst>
          </p:cNvPr>
          <p:cNvSpPr>
            <a:spLocks xmlns:a="http://schemas.openxmlformats.org/drawingml/2006/main" noGrp="1"/>
          </p:cNvSpPr>
          <p:nvPr/>
        </p:nvSpPr>
        <p:spPr>
          <a:xfrm xmlns:a="http://schemas.openxmlformats.org/drawingml/2006/main">
            <a:off x="800100" y="469582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72738"/>
                </a:solidFill>
                <a:latin typeface="Malgun Gothic"/>
                <a:ea typeface="Malgun Gothic"/>
                <a:cs typeface="Malgun Gothic"/>
              </a:defRPr>
            </a:pPr>
            <a:r>
              <a:rPr sz="2550" b="0">
                <a:solidFill>
                  <a:srgbClr val="172738"/>
                </a:solidFill>
                <a:latin typeface="Malgun Gothic"/>
                <a:ea typeface="Malgun Gothic"/>
                <a:cs typeface="Malgun Gothic"/>
              </a:rPr>
              <a:t>출처·수치 등 검사 실패 시 원문 발췌로 복귀</a:t>
            </a:r>
          </a:p>
        </p:txBody>
      </p:sp>
      <p:sp>
        <p:nvSpPr>
          <p:cNvPr id="6" name="">
            <a:extLst xmlns:a="http://schemas.openxmlformats.org/drawingml/2006/main">
              <a:ext uri="{FF2B5EF4-FFF2-40B4-BE49-F238E27FC236}">
                <a16:creationId xmlns:a16="http://schemas.microsoft.com/office/drawing/2014/main" id="{485A8860-6AFF-45A2-A75E-2DE7341907EC}"/>
              </a:ext>
            </a:extLst>
          </p:cNvPr>
          <p:cNvSpPr>
            <a:spLocks xmlns:a="http://schemas.openxmlformats.org/drawingml/2006/main" noGrp="1"/>
          </p:cNvSpPr>
          <p:nvPr/>
        </p:nvSpPr>
        <p:spPr>
          <a:xfrm xmlns:a="http://schemas.openxmlformats.org/drawingml/2006/main">
            <a:off x="10382250" y="6324600"/>
            <a:ext cx="1095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278"/>
                </a:solidFill>
                <a:latin typeface="Malgun Gothic"/>
                <a:ea typeface="Malgun Gothic"/>
                <a:cs typeface="Malgun Gothic"/>
              </a:defRPr>
            </a:pPr>
            <a:r>
              <a:rPr sz="1500" b="0">
                <a:solidFill>
                  <a:srgbClr val="526278"/>
                </a:solidFill>
                <a:latin typeface="Malgun Gothic"/>
                <a:ea typeface="Malgun Gothic"/>
                <a:cs typeface="Malgun Gothic"/>
              </a:rPr>
              <a:t>09 / 16</a:t>
            </a:r>
          </a:p>
        </p:txBody>
      </p:sp>
    </p:spTree>
    <p:extLst>
      <p:ext uri="{BB962C8B-B14F-4D97-AF65-F5344CB8AC3E}">
        <p14:creationId xmlns:p14="http://schemas.microsoft.com/office/powerpoint/2010/main" val="870662328"/>
      </p:ext>
    </p:extLst>
  </p:cSld>
</p:sld>
</file>

<file path=ppt/slides/slide10.xml><?xml version="1.0" encoding="utf-8"?>
<p:sld xmlns:p="http://schemas.openxmlformats.org/presentationml/2006/main">
  <p:cSld>
    <p:bg>
      <p:bgPr>
        <a:solidFill xmlns:a="http://schemas.openxmlformats.org/drawingml/2006/main">
          <a:srgbClr val="F9FA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DA34D8A-1419-43D4-A51F-411305344C98}"/>
              </a:ext>
            </a:extLst>
          </p:cNvPr>
          <p:cNvSpPr>
            <a:spLocks xmlns:a="http://schemas.openxmlformats.org/drawingml/2006/main" noGrp="1"/>
          </p:cNvSpPr>
          <p:nvPr/>
        </p:nvSpPr>
        <p:spPr>
          <a:xfrm xmlns:a="http://schemas.openxmlformats.org/drawingml/2006/main">
            <a:off x="800100" y="590550"/>
            <a:ext cx="10591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738"/>
                </a:solidFill>
                <a:latin typeface="Malgun Gothic"/>
                <a:ea typeface="Malgun Gothic"/>
                <a:cs typeface="Malgun Gothic"/>
              </a:defRPr>
            </a:pPr>
            <a:r>
              <a:rPr sz="3300" b="1">
                <a:solidFill>
                  <a:srgbClr val="172738"/>
                </a:solidFill>
                <a:latin typeface="Malgun Gothic"/>
                <a:ea typeface="Malgun Gothic"/>
                <a:cs typeface="Malgun Gothic"/>
              </a:rPr>
              <a:t>M6 검색 점수와 최종 응답 평가</a:t>
            </a:r>
          </a:p>
        </p:txBody>
      </p:sp>
      <p:sp>
        <p:nvSpPr>
          <p:cNvPr id="2" name="">
            <a:extLst xmlns:a="http://schemas.openxmlformats.org/drawingml/2006/main">
              <a:ext uri="{FF2B5EF4-FFF2-40B4-BE49-F238E27FC236}">
                <a16:creationId xmlns:a16="http://schemas.microsoft.com/office/drawing/2014/main" id="{3B670B19-E88D-4299-AA02-74DD4AA514F3}"/>
              </a:ext>
            </a:extLst>
          </p:cNvPr>
          <p:cNvSpPr>
            <a:spLocks xmlns:a="http://schemas.openxmlformats.org/drawingml/2006/main" noGrp="1"/>
          </p:cNvSpPr>
          <p:nvPr/>
        </p:nvSpPr>
        <p:spPr>
          <a:xfrm xmlns:a="http://schemas.openxmlformats.org/drawingml/2006/main">
            <a:off x="800100" y="195262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72738"/>
                </a:solidFill>
                <a:latin typeface="Malgun Gothic"/>
                <a:ea typeface="Malgun Gothic"/>
                <a:cs typeface="Malgun Gothic"/>
              </a:defRPr>
            </a:pPr>
            <a:r>
              <a:rPr sz="2550" b="0">
                <a:solidFill>
                  <a:srgbClr val="172738"/>
                </a:solidFill>
                <a:latin typeface="Malgun Gothic"/>
                <a:ea typeface="Malgun Gothic"/>
                <a:cs typeface="Malgun Gothic"/>
              </a:rPr>
              <a:t>기존 30문항: 기대 근거의 Hit@5와 MRR@5</a:t>
            </a:r>
          </a:p>
        </p:txBody>
      </p:sp>
      <p:sp>
        <p:nvSpPr>
          <p:cNvPr id="3" name="">
            <a:extLst xmlns:a="http://schemas.openxmlformats.org/drawingml/2006/main">
              <a:ext uri="{FF2B5EF4-FFF2-40B4-BE49-F238E27FC236}">
                <a16:creationId xmlns:a16="http://schemas.microsoft.com/office/drawing/2014/main" id="{813D3FAD-B2B7-46AF-BE5A-0DA5AEA171CF}"/>
              </a:ext>
            </a:extLst>
          </p:cNvPr>
          <p:cNvSpPr>
            <a:spLocks xmlns:a="http://schemas.openxmlformats.org/drawingml/2006/main" noGrp="1"/>
          </p:cNvSpPr>
          <p:nvPr/>
        </p:nvSpPr>
        <p:spPr>
          <a:xfrm xmlns:a="http://schemas.openxmlformats.org/drawingml/2006/main">
            <a:off x="800100" y="286702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72738"/>
                </a:solidFill>
                <a:latin typeface="Malgun Gothic"/>
                <a:ea typeface="Malgun Gothic"/>
                <a:cs typeface="Malgun Gothic"/>
              </a:defRPr>
            </a:pPr>
            <a:r>
              <a:rPr sz="2550" b="0">
                <a:solidFill>
                  <a:srgbClr val="172738"/>
                </a:solidFill>
                <a:latin typeface="Malgun Gothic"/>
                <a:ea typeface="Malgun Gothic"/>
                <a:cs typeface="Malgun Gothic"/>
              </a:rPr>
              <a:t>50문항: 초기 응답 통과 29, 부분 3, 실패 18</a:t>
            </a:r>
          </a:p>
        </p:txBody>
      </p:sp>
      <p:sp>
        <p:nvSpPr>
          <p:cNvPr id="4" name="">
            <a:extLst xmlns:a="http://schemas.openxmlformats.org/drawingml/2006/main">
              <a:ext uri="{FF2B5EF4-FFF2-40B4-BE49-F238E27FC236}">
                <a16:creationId xmlns:a16="http://schemas.microsoft.com/office/drawing/2014/main" id="{0572DC6F-BF5D-409F-8F12-251644E0460B}"/>
              </a:ext>
            </a:extLst>
          </p:cNvPr>
          <p:cNvSpPr>
            <a:spLocks xmlns:a="http://schemas.openxmlformats.org/drawingml/2006/main" noGrp="1"/>
          </p:cNvSpPr>
          <p:nvPr/>
        </p:nvSpPr>
        <p:spPr>
          <a:xfrm xmlns:a="http://schemas.openxmlformats.org/drawingml/2006/main">
            <a:off x="800100" y="378142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72738"/>
                </a:solidFill>
                <a:latin typeface="Malgun Gothic"/>
                <a:ea typeface="Malgun Gothic"/>
                <a:cs typeface="Malgun Gothic"/>
              </a:defRPr>
            </a:pPr>
            <a:r>
              <a:rPr sz="2550" b="0">
                <a:solidFill>
                  <a:srgbClr val="172738"/>
                </a:solidFill>
                <a:latin typeface="Malgun Gothic"/>
                <a:ea typeface="Malgun Gothic"/>
                <a:cs typeface="Malgun Gothic"/>
              </a:rPr>
              <a:t>추가 30문항: 응답 통과 9, 부분 1, 실패 20</a:t>
            </a:r>
          </a:p>
        </p:txBody>
      </p:sp>
      <p:sp>
        <p:nvSpPr>
          <p:cNvPr id="5" name="">
            <a:extLst xmlns:a="http://schemas.openxmlformats.org/drawingml/2006/main">
              <a:ext uri="{FF2B5EF4-FFF2-40B4-BE49-F238E27FC236}">
                <a16:creationId xmlns:a16="http://schemas.microsoft.com/office/drawing/2014/main" id="{8C7EE51B-4A63-46EC-B371-23B1867BC8DB}"/>
              </a:ext>
            </a:extLst>
          </p:cNvPr>
          <p:cNvSpPr>
            <a:spLocks xmlns:a="http://schemas.openxmlformats.org/drawingml/2006/main" noGrp="1"/>
          </p:cNvSpPr>
          <p:nvPr/>
        </p:nvSpPr>
        <p:spPr>
          <a:xfrm xmlns:a="http://schemas.openxmlformats.org/drawingml/2006/main">
            <a:off x="800100" y="469582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72738"/>
                </a:solidFill>
                <a:latin typeface="Malgun Gothic"/>
                <a:ea typeface="Malgun Gothic"/>
                <a:cs typeface="Malgun Gothic"/>
              </a:defRPr>
            </a:pPr>
            <a:r>
              <a:rPr sz="2550" b="0">
                <a:solidFill>
                  <a:srgbClr val="172738"/>
                </a:solidFill>
                <a:latin typeface="Malgun Gothic"/>
                <a:ea typeface="Malgun Gothic"/>
                <a:cs typeface="Malgun Gothic"/>
              </a:rPr>
              <a:t>새 평가는 Codex 잠정 판정, 확정 골든셋 아님</a:t>
            </a:r>
          </a:p>
        </p:txBody>
      </p:sp>
      <p:sp>
        <p:nvSpPr>
          <p:cNvPr id="6" name="">
            <a:extLst xmlns:a="http://schemas.openxmlformats.org/drawingml/2006/main">
              <a:ext uri="{FF2B5EF4-FFF2-40B4-BE49-F238E27FC236}">
                <a16:creationId xmlns:a16="http://schemas.microsoft.com/office/drawing/2014/main" id="{494973E4-2836-4E08-B8EB-03430F44B2BF}"/>
              </a:ext>
            </a:extLst>
          </p:cNvPr>
          <p:cNvSpPr>
            <a:spLocks xmlns:a="http://schemas.openxmlformats.org/drawingml/2006/main" noGrp="1"/>
          </p:cNvSpPr>
          <p:nvPr/>
        </p:nvSpPr>
        <p:spPr>
          <a:xfrm xmlns:a="http://schemas.openxmlformats.org/drawingml/2006/main">
            <a:off x="10382250" y="6324600"/>
            <a:ext cx="1095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278"/>
                </a:solidFill>
                <a:latin typeface="Malgun Gothic"/>
                <a:ea typeface="Malgun Gothic"/>
                <a:cs typeface="Malgun Gothic"/>
              </a:defRPr>
            </a:pPr>
            <a:r>
              <a:rPr sz="1500" b="0">
                <a:solidFill>
                  <a:srgbClr val="526278"/>
                </a:solidFill>
                <a:latin typeface="Malgun Gothic"/>
                <a:ea typeface="Malgun Gothic"/>
                <a:cs typeface="Malgun Gothic"/>
              </a:rPr>
              <a:t>10 / 16</a:t>
            </a:r>
          </a:p>
        </p:txBody>
      </p:sp>
    </p:spTree>
    <p:extLst>
      <p:ext uri="{BB962C8B-B14F-4D97-AF65-F5344CB8AC3E}">
        <p14:creationId xmlns:p14="http://schemas.microsoft.com/office/powerpoint/2010/main" val="63746220"/>
      </p:ext>
    </p:extLst>
  </p:cSld>
</p:sld>
</file>

<file path=ppt/slides/slide11.xml><?xml version="1.0" encoding="utf-8"?>
<p:sld xmlns:p="http://schemas.openxmlformats.org/presentationml/2006/main">
  <p:cSld>
    <p:bg>
      <p:bgPr>
        <a:solidFill xmlns:a="http://schemas.openxmlformats.org/drawingml/2006/main">
          <a:srgbClr val="F9FAF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2536779-EAFE-4126-A1D4-590E137EE44B}"/>
              </a:ext>
            </a:extLst>
          </p:cNvPr>
          <p:cNvSpPr>
            <a:spLocks xmlns:a="http://schemas.openxmlformats.org/drawingml/2006/main" noGrp="1"/>
          </p:cNvSpPr>
          <p:nvPr/>
        </p:nvSpPr>
        <p:spPr>
          <a:xfrm xmlns:a="http://schemas.openxmlformats.org/drawingml/2006/main">
            <a:off x="800100" y="590550"/>
            <a:ext cx="10591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738"/>
                </a:solidFill>
                <a:latin typeface="Malgun Gothic"/>
                <a:ea typeface="Malgun Gothic"/>
                <a:cs typeface="Malgun Gothic"/>
              </a:defRPr>
            </a:pPr>
            <a:r>
              <a:rPr sz="3300" b="1">
                <a:solidFill>
                  <a:srgbClr val="172738"/>
                </a:solidFill>
                <a:latin typeface="Malgun Gothic"/>
                <a:ea typeface="Malgun Gothic"/>
                <a:cs typeface="Malgun Gothic"/>
              </a:rPr>
              <a:t>M7 같은 조건에서 바꾼 결과</a:t>
            </a:r>
          </a:p>
        </p:txBody>
      </p:sp>
      <p:sp>
        <p:nvSpPr>
          <p:cNvPr id="2" name="">
            <a:extLst xmlns:a="http://schemas.openxmlformats.org/drawingml/2006/main">
              <a:ext uri="{FF2B5EF4-FFF2-40B4-BE49-F238E27FC236}">
                <a16:creationId xmlns:a16="http://schemas.microsoft.com/office/drawing/2014/main" id="{23FCCFBA-47B1-4D5C-8164-6FE8F402A8F7}"/>
              </a:ext>
            </a:extLst>
          </p:cNvPr>
          <p:cNvSpPr>
            <a:spLocks xmlns:a="http://schemas.openxmlformats.org/drawingml/2006/main" noGrp="1"/>
          </p:cNvSpPr>
          <p:nvPr/>
        </p:nvSpPr>
        <p:spPr>
          <a:xfrm xmlns:a="http://schemas.openxmlformats.org/drawingml/2006/main">
            <a:off x="800100" y="1971675"/>
            <a:ext cx="5334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2738"/>
                </a:solidFill>
                <a:latin typeface="Malgun Gothic"/>
                <a:ea typeface="Malgun Gothic"/>
                <a:cs typeface="Malgun Gothic"/>
              </a:defRPr>
            </a:pPr>
            <a:r>
              <a:rPr sz="2100" b="0">
                <a:solidFill>
                  <a:srgbClr val="172738"/>
                </a:solidFill>
                <a:latin typeface="Malgun Gothic"/>
                <a:ea typeface="Malgun Gothic"/>
                <a:cs typeface="Malgun Gothic"/>
              </a:rPr>
              <a:t>구체 표현 보너스: MRR@5 0.9306에서 0.9556</a:t>
            </a:r>
          </a:p>
        </p:txBody>
      </p:sp>
      <p:sp>
        <p:nvSpPr>
          <p:cNvPr id="3" name="">
            <a:extLst xmlns:a="http://schemas.openxmlformats.org/drawingml/2006/main">
              <a:ext uri="{FF2B5EF4-FFF2-40B4-BE49-F238E27FC236}">
                <a16:creationId xmlns:a16="http://schemas.microsoft.com/office/drawing/2014/main" id="{3320D4F2-8950-487C-A9A2-D29BB37974DA}"/>
              </a:ext>
            </a:extLst>
          </p:cNvPr>
          <p:cNvSpPr>
            <a:spLocks xmlns:a="http://schemas.openxmlformats.org/drawingml/2006/main" noGrp="1"/>
          </p:cNvSpPr>
          <p:nvPr/>
        </p:nvSpPr>
        <p:spPr>
          <a:xfrm xmlns:a="http://schemas.openxmlformats.org/drawingml/2006/main">
            <a:off x="800100" y="2905125"/>
            <a:ext cx="5334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2738"/>
                </a:solidFill>
                <a:latin typeface="Malgun Gothic"/>
                <a:ea typeface="Malgun Gothic"/>
                <a:cs typeface="Malgun Gothic"/>
              </a:defRPr>
            </a:pPr>
            <a:r>
              <a:rPr sz="2100" b="0">
                <a:solidFill>
                  <a:srgbClr val="172738"/>
                </a:solidFill>
                <a:latin typeface="Malgun Gothic"/>
                <a:ea typeface="Malgun Gothic"/>
                <a:cs typeface="Malgun Gothic"/>
              </a:rPr>
              <a:t>Q19 기대 근거가 4위에서 1위로 이동</a:t>
            </a:r>
          </a:p>
        </p:txBody>
      </p:sp>
      <p:sp>
        <p:nvSpPr>
          <p:cNvPr id="4" name="">
            <a:extLst xmlns:a="http://schemas.openxmlformats.org/drawingml/2006/main">
              <a:ext uri="{FF2B5EF4-FFF2-40B4-BE49-F238E27FC236}">
                <a16:creationId xmlns:a16="http://schemas.microsoft.com/office/drawing/2014/main" id="{6EE629EB-B62D-452D-9BD3-1CA7646D34BB}"/>
              </a:ext>
            </a:extLst>
          </p:cNvPr>
          <p:cNvSpPr>
            <a:spLocks xmlns:a="http://schemas.openxmlformats.org/drawingml/2006/main" noGrp="1"/>
          </p:cNvSpPr>
          <p:nvPr/>
        </p:nvSpPr>
        <p:spPr>
          <a:xfrm xmlns:a="http://schemas.openxmlformats.org/drawingml/2006/main">
            <a:off x="800100" y="3838575"/>
            <a:ext cx="5334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2738"/>
                </a:solidFill>
                <a:latin typeface="Malgun Gothic"/>
                <a:ea typeface="Malgun Gothic"/>
                <a:cs typeface="Malgun Gothic"/>
              </a:defRPr>
            </a:pPr>
            <a:r>
              <a:rPr sz="2100" b="0">
                <a:solidFill>
                  <a:srgbClr val="172738"/>
                </a:solidFill>
                <a:latin typeface="Malgun Gothic"/>
                <a:ea typeface="Malgun Gothic"/>
                <a:cs typeface="Malgun Gothic"/>
              </a:rPr>
              <a:t>임베딩 비교: 로컬 0.9556, OpenAI 0.9389</a:t>
            </a:r>
          </a:p>
        </p:txBody>
      </p:sp>
      <p:sp>
        <p:nvSpPr>
          <p:cNvPr id="5" name="">
            <a:extLst xmlns:a="http://schemas.openxmlformats.org/drawingml/2006/main">
              <a:ext uri="{FF2B5EF4-FFF2-40B4-BE49-F238E27FC236}">
                <a16:creationId xmlns:a16="http://schemas.microsoft.com/office/drawing/2014/main" id="{3C0C6502-6130-4029-804B-18B77CD24927}"/>
              </a:ext>
            </a:extLst>
          </p:cNvPr>
          <p:cNvSpPr>
            <a:spLocks xmlns:a="http://schemas.openxmlformats.org/drawingml/2006/main" noGrp="1"/>
          </p:cNvSpPr>
          <p:nvPr/>
        </p:nvSpPr>
        <p:spPr>
          <a:xfrm xmlns:a="http://schemas.openxmlformats.org/drawingml/2006/main">
            <a:off x="800100" y="4772025"/>
            <a:ext cx="5334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2738"/>
                </a:solidFill>
                <a:latin typeface="Malgun Gothic"/>
                <a:ea typeface="Malgun Gothic"/>
                <a:cs typeface="Malgun Gothic"/>
              </a:defRPr>
            </a:pPr>
            <a:r>
              <a:rPr sz="2100" b="0">
                <a:solidFill>
                  <a:srgbClr val="172738"/>
                </a:solidFill>
                <a:latin typeface="Malgun Gothic"/>
                <a:ea typeface="Malgun Gothic"/>
                <a:cs typeface="Malgun Gothic"/>
              </a:rPr>
              <a:t>두 비교 모두 기존 30문항 Hit@5 1.0</a:t>
            </a:r>
          </a:p>
        </p:txBody>
      </p:sp>
      <p:graphicFrame>
        <p:nvGraphicFramePr>
          <p:cNvPr id="14" name="Chart"/>
          <p:cNvGraphicFramePr/>
          <p:nvPr/>
        </p:nvGraphicFramePr>
        <p:xfrm>
          <a:off xmlns:a="http://schemas.openxmlformats.org/drawingml/2006/main" x="6343650" y="1905000"/>
          <a:ext xmlns:a="http://schemas.openxmlformats.org/drawingml/2006/main" cx="5048250" cy="3667125"/>
        </p:xfrm>
        <a:graphic xmlns:a="http://schemas.openxmlformats.org/drawingml/2006/main">
          <a:graphicData uri="http://schemas.openxmlformats.org/drawingml/2006/chart">
            <c:chart xmlns:r="http://schemas.openxmlformats.org/officeDocument/2006/relationships" xmlns:c="http://schemas.openxmlformats.org/drawingml/2006/chart" r:id="R032093d8d87246ee"/>
          </a:graphicData>
        </a:graphic>
      </p:graphicFrame>
      <p:sp>
        <p:nvSpPr>
          <p:cNvPr id="7" name="">
            <a:extLst xmlns:a="http://schemas.openxmlformats.org/drawingml/2006/main">
              <a:ext uri="{FF2B5EF4-FFF2-40B4-BE49-F238E27FC236}">
                <a16:creationId xmlns:a16="http://schemas.microsoft.com/office/drawing/2014/main" id="{C6334983-C1DF-444A-BD16-AB3AD298C1E1}"/>
              </a:ext>
            </a:extLst>
          </p:cNvPr>
          <p:cNvSpPr>
            <a:spLocks xmlns:a="http://schemas.openxmlformats.org/drawingml/2006/main" noGrp="1"/>
          </p:cNvSpPr>
          <p:nvPr/>
        </p:nvSpPr>
        <p:spPr>
          <a:xfrm xmlns:a="http://schemas.openxmlformats.org/drawingml/2006/main">
            <a:off x="6429375" y="5715000"/>
            <a:ext cx="4857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278"/>
                </a:solidFill>
                <a:latin typeface="Malgun Gothic"/>
                <a:ea typeface="Malgun Gothic"/>
                <a:cs typeface="Malgun Gothic"/>
              </a:defRPr>
            </a:pPr>
            <a:r>
              <a:rPr sz="1575" b="0">
                <a:solidFill>
                  <a:srgbClr val="526278"/>
                </a:solidFill>
                <a:latin typeface="Malgun Gothic"/>
                <a:ea typeface="Malgun Gothic"/>
                <a:cs typeface="Malgun Gothic"/>
              </a:rPr>
              <a:t>보너스 후 = 로컬 임베딩 비교 기준</a:t>
            </a:r>
          </a:p>
        </p:txBody>
      </p:sp>
      <p:sp>
        <p:nvSpPr>
          <p:cNvPr id="8" name="">
            <a:extLst xmlns:a="http://schemas.openxmlformats.org/drawingml/2006/main">
              <a:ext uri="{FF2B5EF4-FFF2-40B4-BE49-F238E27FC236}">
                <a16:creationId xmlns:a16="http://schemas.microsoft.com/office/drawing/2014/main" id="{C5A1738E-B62F-4E5D-BDD0-AFEE176019C7}"/>
              </a:ext>
            </a:extLst>
          </p:cNvPr>
          <p:cNvSpPr>
            <a:spLocks xmlns:a="http://schemas.openxmlformats.org/drawingml/2006/main" noGrp="1"/>
          </p:cNvSpPr>
          <p:nvPr/>
        </p:nvSpPr>
        <p:spPr>
          <a:xfrm xmlns:a="http://schemas.openxmlformats.org/drawingml/2006/main">
            <a:off x="10382250" y="6324600"/>
            <a:ext cx="1095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278"/>
                </a:solidFill>
                <a:latin typeface="Malgun Gothic"/>
                <a:ea typeface="Malgun Gothic"/>
                <a:cs typeface="Malgun Gothic"/>
              </a:defRPr>
            </a:pPr>
            <a:r>
              <a:rPr sz="1500" b="0">
                <a:solidFill>
                  <a:srgbClr val="526278"/>
                </a:solidFill>
                <a:latin typeface="Malgun Gothic"/>
                <a:ea typeface="Malgun Gothic"/>
                <a:cs typeface="Malgun Gothic"/>
              </a:rPr>
              <a:t>11 / 16</a:t>
            </a:r>
          </a:p>
        </p:txBody>
      </p:sp>
    </p:spTree>
    <p:extLst>
      <p:ext uri="{BB962C8B-B14F-4D97-AF65-F5344CB8AC3E}">
        <p14:creationId xmlns:p14="http://schemas.microsoft.com/office/powerpoint/2010/main" val="1413465543"/>
      </p:ext>
    </p:extLst>
  </p:cSld>
</p:sld>
</file>

<file path=ppt/slides/slide12.xml><?xml version="1.0" encoding="utf-8"?>
<p:sld xmlns:p="http://schemas.openxmlformats.org/presentationml/2006/main">
  <p:cSld>
    <p:bg>
      <p:bgPr>
        <a:solidFill xmlns:a="http://schemas.openxmlformats.org/drawingml/2006/main">
          <a:srgbClr val="F9FA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50C0538-5962-4F4D-B3BB-05F05876CA04}"/>
              </a:ext>
            </a:extLst>
          </p:cNvPr>
          <p:cNvSpPr>
            <a:spLocks xmlns:a="http://schemas.openxmlformats.org/drawingml/2006/main" noGrp="1"/>
          </p:cNvSpPr>
          <p:nvPr/>
        </p:nvSpPr>
        <p:spPr>
          <a:xfrm xmlns:a="http://schemas.openxmlformats.org/drawingml/2006/main">
            <a:off x="800100" y="590550"/>
            <a:ext cx="10591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738"/>
                </a:solidFill>
                <a:latin typeface="Malgun Gothic"/>
                <a:ea typeface="Malgun Gothic"/>
                <a:cs typeface="Malgun Gothic"/>
              </a:defRPr>
            </a:pPr>
            <a:r>
              <a:rPr sz="3300" b="1">
                <a:solidFill>
                  <a:srgbClr val="172738"/>
                </a:solidFill>
                <a:latin typeface="Malgun Gothic"/>
                <a:ea typeface="Malgun Gothic"/>
                <a:cs typeface="Malgun Gothic"/>
              </a:rPr>
              <a:t>실패 기록이 가리킨 근거 선택 문제</a:t>
            </a:r>
          </a:p>
        </p:txBody>
      </p:sp>
      <p:sp>
        <p:nvSpPr>
          <p:cNvPr id="2" name="">
            <a:extLst xmlns:a="http://schemas.openxmlformats.org/drawingml/2006/main">
              <a:ext uri="{FF2B5EF4-FFF2-40B4-BE49-F238E27FC236}">
                <a16:creationId xmlns:a16="http://schemas.microsoft.com/office/drawing/2014/main" id="{890188F7-C105-43AD-BA42-08E6BDC31A6D}"/>
              </a:ext>
            </a:extLst>
          </p:cNvPr>
          <p:cNvSpPr>
            <a:spLocks xmlns:a="http://schemas.openxmlformats.org/drawingml/2006/main" noGrp="1"/>
          </p:cNvSpPr>
          <p:nvPr/>
        </p:nvSpPr>
        <p:spPr>
          <a:xfrm xmlns:a="http://schemas.openxmlformats.org/drawingml/2006/main">
            <a:off x="800100" y="195262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72738"/>
                </a:solidFill>
                <a:latin typeface="Malgun Gothic"/>
                <a:ea typeface="Malgun Gothic"/>
                <a:cs typeface="Malgun Gothic"/>
              </a:defRPr>
            </a:pPr>
            <a:r>
              <a:rPr sz="2550" b="0">
                <a:solidFill>
                  <a:srgbClr val="172738"/>
                </a:solidFill>
                <a:latin typeface="Malgun Gothic"/>
                <a:ea typeface="Malgun Gothic"/>
                <a:cs typeface="Malgun Gothic"/>
              </a:rPr>
              <a:t>추가 A01: 스마트 키 관련 자료는 검색 1위</a:t>
            </a:r>
          </a:p>
        </p:txBody>
      </p:sp>
      <p:sp>
        <p:nvSpPr>
          <p:cNvPr id="3" name="">
            <a:extLst xmlns:a="http://schemas.openxmlformats.org/drawingml/2006/main">
              <a:ext uri="{FF2B5EF4-FFF2-40B4-BE49-F238E27FC236}">
                <a16:creationId xmlns:a16="http://schemas.microsoft.com/office/drawing/2014/main" id="{B677E08D-4A7F-48CF-9EB5-91E9F527E140}"/>
              </a:ext>
            </a:extLst>
          </p:cNvPr>
          <p:cNvSpPr>
            <a:spLocks xmlns:a="http://schemas.openxmlformats.org/drawingml/2006/main" noGrp="1"/>
          </p:cNvSpPr>
          <p:nvPr/>
        </p:nvSpPr>
        <p:spPr>
          <a:xfrm xmlns:a="http://schemas.openxmlformats.org/drawingml/2006/main">
            <a:off x="800100" y="286702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72738"/>
                </a:solidFill>
                <a:latin typeface="Malgun Gothic"/>
                <a:ea typeface="Malgun Gothic"/>
                <a:cs typeface="Malgun Gothic"/>
              </a:defRPr>
            </a:pPr>
            <a:r>
              <a:rPr sz="2550" b="0">
                <a:solidFill>
                  <a:srgbClr val="172738"/>
                </a:solidFill>
                <a:latin typeface="Malgun Gothic"/>
                <a:ea typeface="Malgun Gothic"/>
                <a:cs typeface="Malgun Gothic"/>
              </a:rPr>
              <a:t>최종 화면은 관련 없는 차량 내부 안내도를 선택</a:t>
            </a:r>
          </a:p>
        </p:txBody>
      </p:sp>
      <p:sp>
        <p:nvSpPr>
          <p:cNvPr id="4" name="">
            <a:extLst xmlns:a="http://schemas.openxmlformats.org/drawingml/2006/main">
              <a:ext uri="{FF2B5EF4-FFF2-40B4-BE49-F238E27FC236}">
                <a16:creationId xmlns:a16="http://schemas.microsoft.com/office/drawing/2014/main" id="{13695906-AF2F-4021-AC96-57CC9F67E9F7}"/>
              </a:ext>
            </a:extLst>
          </p:cNvPr>
          <p:cNvSpPr>
            <a:spLocks xmlns:a="http://schemas.openxmlformats.org/drawingml/2006/main" noGrp="1"/>
          </p:cNvSpPr>
          <p:nvPr/>
        </p:nvSpPr>
        <p:spPr>
          <a:xfrm xmlns:a="http://schemas.openxmlformats.org/drawingml/2006/main">
            <a:off x="800100" y="378142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72738"/>
                </a:solidFill>
                <a:latin typeface="Malgun Gothic"/>
                <a:ea typeface="Malgun Gothic"/>
                <a:cs typeface="Malgun Gothic"/>
              </a:defRPr>
            </a:pPr>
            <a:r>
              <a:rPr sz="2550" b="0">
                <a:solidFill>
                  <a:srgbClr val="172738"/>
                </a:solidFill>
                <a:latin typeface="Malgun Gothic"/>
                <a:ea typeface="Malgun Gothic"/>
                <a:cs typeface="Malgun Gothic"/>
              </a:rPr>
              <a:t>검색 성공과 최종 근거 선택을 따로 평가</a:t>
            </a:r>
          </a:p>
        </p:txBody>
      </p:sp>
      <p:sp>
        <p:nvSpPr>
          <p:cNvPr id="5" name="">
            <a:extLst xmlns:a="http://schemas.openxmlformats.org/drawingml/2006/main">
              <a:ext uri="{FF2B5EF4-FFF2-40B4-BE49-F238E27FC236}">
                <a16:creationId xmlns:a16="http://schemas.microsoft.com/office/drawing/2014/main" id="{113030E2-C3A2-4CE3-B9FD-A88750DD3A05}"/>
              </a:ext>
            </a:extLst>
          </p:cNvPr>
          <p:cNvSpPr>
            <a:spLocks xmlns:a="http://schemas.openxmlformats.org/drawingml/2006/main" noGrp="1"/>
          </p:cNvSpPr>
          <p:nvPr/>
        </p:nvSpPr>
        <p:spPr>
          <a:xfrm xmlns:a="http://schemas.openxmlformats.org/drawingml/2006/main">
            <a:off x="800100" y="469582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72738"/>
                </a:solidFill>
                <a:latin typeface="Malgun Gothic"/>
                <a:ea typeface="Malgun Gothic"/>
                <a:cs typeface="Malgun Gothic"/>
              </a:defRPr>
            </a:pPr>
            <a:r>
              <a:rPr sz="2550" b="0">
                <a:solidFill>
                  <a:srgbClr val="172738"/>
                </a:solidFill>
                <a:latin typeface="Malgun Gothic"/>
                <a:ea typeface="Malgun Gothic"/>
                <a:cs typeface="Malgun Gothic"/>
              </a:rPr>
              <a:t>검토된 자료여도 질문 목적에 맞는지 확인 필요</a:t>
            </a:r>
          </a:p>
        </p:txBody>
      </p:sp>
      <p:sp>
        <p:nvSpPr>
          <p:cNvPr id="6" name="">
            <a:extLst xmlns:a="http://schemas.openxmlformats.org/drawingml/2006/main">
              <a:ext uri="{FF2B5EF4-FFF2-40B4-BE49-F238E27FC236}">
                <a16:creationId xmlns:a16="http://schemas.microsoft.com/office/drawing/2014/main" id="{255304D6-063F-41D8-B144-590CE581B99F}"/>
              </a:ext>
            </a:extLst>
          </p:cNvPr>
          <p:cNvSpPr>
            <a:spLocks xmlns:a="http://schemas.openxmlformats.org/drawingml/2006/main" noGrp="1"/>
          </p:cNvSpPr>
          <p:nvPr/>
        </p:nvSpPr>
        <p:spPr>
          <a:xfrm xmlns:a="http://schemas.openxmlformats.org/drawingml/2006/main">
            <a:off x="10382250" y="6324600"/>
            <a:ext cx="1095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278"/>
                </a:solidFill>
                <a:latin typeface="Malgun Gothic"/>
                <a:ea typeface="Malgun Gothic"/>
                <a:cs typeface="Malgun Gothic"/>
              </a:defRPr>
            </a:pPr>
            <a:r>
              <a:rPr sz="1500" b="0">
                <a:solidFill>
                  <a:srgbClr val="526278"/>
                </a:solidFill>
                <a:latin typeface="Malgun Gothic"/>
                <a:ea typeface="Malgun Gothic"/>
                <a:cs typeface="Malgun Gothic"/>
              </a:rPr>
              <a:t>12 / 16</a:t>
            </a:r>
          </a:p>
        </p:txBody>
      </p:sp>
    </p:spTree>
    <p:extLst>
      <p:ext uri="{BB962C8B-B14F-4D97-AF65-F5344CB8AC3E}">
        <p14:creationId xmlns:p14="http://schemas.microsoft.com/office/powerpoint/2010/main" val="987861721"/>
      </p:ext>
    </p:extLst>
  </p:cSld>
</p:sld>
</file>

<file path=ppt/slides/slide13.xml><?xml version="1.0" encoding="utf-8"?>
<p:sld xmlns:p="http://schemas.openxmlformats.org/presentationml/2006/main">
  <p:cSld>
    <p:bg>
      <p:bgPr>
        <a:solidFill xmlns:a="http://schemas.openxmlformats.org/drawingml/2006/main">
          <a:srgbClr val="F9FA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2D6DDAD-07A6-47E4-8630-3294D729AAA4}"/>
              </a:ext>
            </a:extLst>
          </p:cNvPr>
          <p:cNvSpPr>
            <a:spLocks xmlns:a="http://schemas.openxmlformats.org/drawingml/2006/main" noGrp="1"/>
          </p:cNvSpPr>
          <p:nvPr/>
        </p:nvSpPr>
        <p:spPr>
          <a:xfrm xmlns:a="http://schemas.openxmlformats.org/drawingml/2006/main">
            <a:off x="800100" y="590550"/>
            <a:ext cx="10591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738"/>
                </a:solidFill>
                <a:latin typeface="Malgun Gothic"/>
                <a:ea typeface="Malgun Gothic"/>
                <a:cs typeface="Malgun Gothic"/>
              </a:defRPr>
            </a:pPr>
            <a:r>
              <a:rPr sz="3300" b="1">
                <a:solidFill>
                  <a:srgbClr val="172738"/>
                </a:solidFill>
                <a:latin typeface="Malgun Gothic"/>
                <a:ea typeface="Malgun Gothic"/>
                <a:cs typeface="Malgun Gothic"/>
              </a:rPr>
              <a:t>M8 챗봇의 출처와 그림 화면</a:t>
            </a:r>
          </a:p>
        </p:txBody>
      </p:sp>
      <p:sp>
        <p:nvSpPr>
          <p:cNvPr id="2" name="">
            <a:extLst xmlns:a="http://schemas.openxmlformats.org/drawingml/2006/main">
              <a:ext uri="{FF2B5EF4-FFF2-40B4-BE49-F238E27FC236}">
                <a16:creationId xmlns:a16="http://schemas.microsoft.com/office/drawing/2014/main" id="{662D9D82-70DA-40BB-A7FC-DCCC28B0FA4C}"/>
              </a:ext>
            </a:extLst>
          </p:cNvPr>
          <p:cNvSpPr>
            <a:spLocks xmlns:a="http://schemas.openxmlformats.org/drawingml/2006/main" noGrp="1"/>
          </p:cNvSpPr>
          <p:nvPr/>
        </p:nvSpPr>
        <p:spPr>
          <a:xfrm xmlns:a="http://schemas.openxmlformats.org/drawingml/2006/main">
            <a:off x="800100" y="1971675"/>
            <a:ext cx="466725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2738"/>
                </a:solidFill>
                <a:latin typeface="Malgun Gothic"/>
                <a:ea typeface="Malgun Gothic"/>
                <a:cs typeface="Malgun Gothic"/>
              </a:defRPr>
            </a:pPr>
            <a:r>
              <a:rPr sz="2100" b="0">
                <a:solidFill>
                  <a:srgbClr val="172738"/>
                </a:solidFill>
                <a:latin typeface="Malgun Gothic"/>
                <a:ea typeface="Malgun Gothic"/>
                <a:cs typeface="Malgun Gothic"/>
              </a:rPr>
              <a:t>질문 후 발췌 근거와 출처를 먼저 확인</a:t>
            </a:r>
          </a:p>
          <a:p xmlns:a="http://schemas.openxmlformats.org/drawingml/2006/main">
            <a:r>
              <a:t/>
            </a:r>
          </a:p>
          <a:p xmlns:a="http://schemas.openxmlformats.org/drawingml/2006/main">
            <a:pPr>
              <a:defRPr sz="2100" b="0">
                <a:solidFill>
                  <a:srgbClr val="172738"/>
                </a:solidFill>
                <a:latin typeface="Malgun Gothic"/>
                <a:ea typeface="Malgun Gothic"/>
                <a:cs typeface="Malgun Gothic"/>
              </a:defRPr>
            </a:pPr>
            <a:r>
              <a:rPr sz="2100" b="0">
                <a:solidFill>
                  <a:srgbClr val="172738"/>
                </a:solidFill>
                <a:latin typeface="Malgun Gothic"/>
                <a:ea typeface="Malgun Gothic"/>
                <a:cs typeface="Malgun Gothic"/>
              </a:rPr>
              <a:t>필요하면 답변 정리하기를 눌러 생성</a:t>
            </a:r>
          </a:p>
          <a:p xmlns:a="http://schemas.openxmlformats.org/drawingml/2006/main">
            <a:r>
              <a:t/>
            </a:r>
          </a:p>
          <a:p xmlns:a="http://schemas.openxmlformats.org/drawingml/2006/main">
            <a:pPr>
              <a:defRPr sz="2100" b="0">
                <a:solidFill>
                  <a:srgbClr val="172738"/>
                </a:solidFill>
                <a:latin typeface="Malgun Gothic"/>
                <a:ea typeface="Malgun Gothic"/>
                <a:cs typeface="Malgun Gothic"/>
              </a:defRPr>
            </a:pPr>
            <a:r>
              <a:rPr sz="2100" b="0">
                <a:solidFill>
                  <a:srgbClr val="172738"/>
                </a:solidFill>
                <a:latin typeface="Malgun Gothic"/>
                <a:ea typeface="Malgun Gothic"/>
                <a:cs typeface="Malgun Gothic"/>
              </a:rPr>
              <a:t>페이지·원문·관련 그림을 함께 확인</a:t>
            </a:r>
          </a:p>
          <a:p xmlns:a="http://schemas.openxmlformats.org/drawingml/2006/main">
            <a:r>
              <a:t/>
            </a:r>
          </a:p>
          <a:p xmlns:a="http://schemas.openxmlformats.org/drawingml/2006/main">
            <a:pPr>
              <a:defRPr sz="2100" b="0">
                <a:solidFill>
                  <a:srgbClr val="172738"/>
                </a:solidFill>
                <a:latin typeface="Malgun Gothic"/>
                <a:ea typeface="Malgun Gothic"/>
                <a:cs typeface="Malgun Gothic"/>
              </a:defRPr>
            </a:pPr>
            <a:r>
              <a:rPr sz="2100" b="0">
                <a:solidFill>
                  <a:srgbClr val="172738"/>
                </a:solidFill>
                <a:latin typeface="Malgun Gothic"/>
                <a:ea typeface="Malgun Gothic"/>
                <a:cs typeface="Malgun Gothic"/>
              </a:rPr>
              <a:t>그림 표시와 모델의 그림 이해는 구분</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7872631076764107"/>
          <a:stretch xmlns:a="http://schemas.openxmlformats.org/drawingml/2006/main"/>
        </p:blipFill>
        <p:spPr>
          <a:xfrm xmlns:a="http://schemas.openxmlformats.org/drawingml/2006/main">
            <a:off x="6737203" y="1714500"/>
            <a:ext cx="3670594" cy="4191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953A89B5-7881-4209-BB6B-1E520C513679}"/>
              </a:ext>
            </a:extLst>
          </p:cNvPr>
          <p:cNvSpPr>
            <a:spLocks xmlns:a="http://schemas.openxmlformats.org/drawingml/2006/main" noGrp="1"/>
          </p:cNvSpPr>
          <p:nvPr/>
        </p:nvSpPr>
        <p:spPr>
          <a:xfrm xmlns:a="http://schemas.openxmlformats.org/drawingml/2006/main">
            <a:off x="5810250" y="5972175"/>
            <a:ext cx="552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278"/>
                </a:solidFill>
                <a:latin typeface="Malgun Gothic"/>
                <a:ea typeface="Malgun Gothic"/>
                <a:cs typeface="Malgun Gothic"/>
              </a:defRPr>
            </a:pPr>
            <a:r>
              <a:rPr sz="1575" b="0">
                <a:solidFill>
                  <a:srgbClr val="526278"/>
                </a:solidFill>
                <a:latin typeface="Malgun Gothic"/>
                <a:ea typeface="Malgun Gothic"/>
                <a:cs typeface="Malgun Gothic"/>
              </a:rPr>
              <a:t>2026-10-05 저장 화면</a:t>
            </a:r>
          </a:p>
        </p:txBody>
      </p:sp>
      <p:sp>
        <p:nvSpPr>
          <p:cNvPr id="5" name="">
            <a:extLst xmlns:a="http://schemas.openxmlformats.org/drawingml/2006/main">
              <a:ext uri="{FF2B5EF4-FFF2-40B4-BE49-F238E27FC236}">
                <a16:creationId xmlns:a16="http://schemas.microsoft.com/office/drawing/2014/main" id="{D9430D0D-AE91-413A-B0D5-0B6923A282A6}"/>
              </a:ext>
            </a:extLst>
          </p:cNvPr>
          <p:cNvSpPr>
            <a:spLocks xmlns:a="http://schemas.openxmlformats.org/drawingml/2006/main" noGrp="1"/>
          </p:cNvSpPr>
          <p:nvPr/>
        </p:nvSpPr>
        <p:spPr>
          <a:xfrm xmlns:a="http://schemas.openxmlformats.org/drawingml/2006/main">
            <a:off x="10382250" y="6324600"/>
            <a:ext cx="1095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278"/>
                </a:solidFill>
                <a:latin typeface="Malgun Gothic"/>
                <a:ea typeface="Malgun Gothic"/>
                <a:cs typeface="Malgun Gothic"/>
              </a:defRPr>
            </a:pPr>
            <a:r>
              <a:rPr sz="1500" b="0">
                <a:solidFill>
                  <a:srgbClr val="526278"/>
                </a:solidFill>
                <a:latin typeface="Malgun Gothic"/>
                <a:ea typeface="Malgun Gothic"/>
                <a:cs typeface="Malgun Gothic"/>
              </a:rPr>
              <a:t>13 / 16</a:t>
            </a:r>
          </a:p>
        </p:txBody>
      </p:sp>
    </p:spTree>
    <p:extLst>
      <p:ext uri="{BB962C8B-B14F-4D97-AF65-F5344CB8AC3E}">
        <p14:creationId xmlns:p14="http://schemas.microsoft.com/office/powerpoint/2010/main" val="1201065810"/>
      </p:ext>
    </p:extLst>
  </p:cSld>
</p:sld>
</file>

<file path=ppt/slides/slide14.xml><?xml version="1.0" encoding="utf-8"?>
<p:sld xmlns:p="http://schemas.openxmlformats.org/presentationml/2006/main">
  <p:cSld>
    <p:bg>
      <p:bgPr>
        <a:solidFill xmlns:a="http://schemas.openxmlformats.org/drawingml/2006/main">
          <a:srgbClr val="F9FA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84A0A60-6804-4885-BAD9-9F5F9FB74E7F}"/>
              </a:ext>
            </a:extLst>
          </p:cNvPr>
          <p:cNvSpPr>
            <a:spLocks xmlns:a="http://schemas.openxmlformats.org/drawingml/2006/main" noGrp="1"/>
          </p:cNvSpPr>
          <p:nvPr/>
        </p:nvSpPr>
        <p:spPr>
          <a:xfrm xmlns:a="http://schemas.openxmlformats.org/drawingml/2006/main">
            <a:off x="800100" y="590550"/>
            <a:ext cx="10591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738"/>
                </a:solidFill>
                <a:latin typeface="Malgun Gothic"/>
                <a:ea typeface="Malgun Gothic"/>
                <a:cs typeface="Malgun Gothic"/>
              </a:defRPr>
            </a:pPr>
            <a:r>
              <a:rPr sz="3300" b="1">
                <a:solidFill>
                  <a:srgbClr val="172738"/>
                </a:solidFill>
                <a:latin typeface="Malgun Gothic"/>
                <a:ea typeface="Malgun Gothic"/>
                <a:cs typeface="Malgun Gothic"/>
              </a:rPr>
              <a:t>M8 대시보드와 작업 Document</a:t>
            </a:r>
          </a:p>
        </p:txBody>
      </p:sp>
      <p:sp>
        <p:nvSpPr>
          <p:cNvPr id="2" name="">
            <a:extLst xmlns:a="http://schemas.openxmlformats.org/drawingml/2006/main">
              <a:ext uri="{FF2B5EF4-FFF2-40B4-BE49-F238E27FC236}">
                <a16:creationId xmlns:a16="http://schemas.microsoft.com/office/drawing/2014/main" id="{4425921B-5A57-4F76-8695-10ABC855B669}"/>
              </a:ext>
            </a:extLst>
          </p:cNvPr>
          <p:cNvSpPr>
            <a:spLocks xmlns:a="http://schemas.openxmlformats.org/drawingml/2006/main" noGrp="1"/>
          </p:cNvSpPr>
          <p:nvPr/>
        </p:nvSpPr>
        <p:spPr>
          <a:xfrm xmlns:a="http://schemas.openxmlformats.org/drawingml/2006/main">
            <a:off x="800100" y="195262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72738"/>
                </a:solidFill>
                <a:latin typeface="Malgun Gothic"/>
                <a:ea typeface="Malgun Gothic"/>
                <a:cs typeface="Malgun Gothic"/>
              </a:defRPr>
            </a:pPr>
            <a:r>
              <a:rPr sz="2550" b="0">
                <a:solidFill>
                  <a:srgbClr val="172738"/>
                </a:solidFill>
                <a:latin typeface="Malgun Gothic"/>
                <a:ea typeface="Malgun Gothic"/>
                <a:cs typeface="Malgun Gothic"/>
              </a:rPr>
              <a:t>대시보드: M0~M9, 자료 분포와 분리된 평가</a:t>
            </a:r>
          </a:p>
        </p:txBody>
      </p:sp>
      <p:sp>
        <p:nvSpPr>
          <p:cNvPr id="3" name="">
            <a:extLst xmlns:a="http://schemas.openxmlformats.org/drawingml/2006/main">
              <a:ext uri="{FF2B5EF4-FFF2-40B4-BE49-F238E27FC236}">
                <a16:creationId xmlns:a16="http://schemas.microsoft.com/office/drawing/2014/main" id="{FB4665D3-CC50-4889-87EE-65D663F0FDB4}"/>
              </a:ext>
            </a:extLst>
          </p:cNvPr>
          <p:cNvSpPr>
            <a:spLocks xmlns:a="http://schemas.openxmlformats.org/drawingml/2006/main" noGrp="1"/>
          </p:cNvSpPr>
          <p:nvPr/>
        </p:nvSpPr>
        <p:spPr>
          <a:xfrm xmlns:a="http://schemas.openxmlformats.org/drawingml/2006/main">
            <a:off x="800100" y="286702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72738"/>
                </a:solidFill>
                <a:latin typeface="Malgun Gothic"/>
                <a:ea typeface="Malgun Gothic"/>
                <a:cs typeface="Malgun Gothic"/>
              </a:defRPr>
            </a:pPr>
            <a:r>
              <a:rPr sz="2550" b="0">
                <a:solidFill>
                  <a:srgbClr val="172738"/>
                </a:solidFill>
                <a:latin typeface="Malgun Gothic"/>
                <a:ea typeface="Malgun Gothic"/>
                <a:cs typeface="Malgun Gothic"/>
              </a:rPr>
              <a:t>작업 Document: 수업 셀 근거와 모델 선택 이유</a:t>
            </a:r>
          </a:p>
        </p:txBody>
      </p:sp>
      <p:sp>
        <p:nvSpPr>
          <p:cNvPr id="4" name="">
            <a:extLst xmlns:a="http://schemas.openxmlformats.org/drawingml/2006/main">
              <a:ext uri="{FF2B5EF4-FFF2-40B4-BE49-F238E27FC236}">
                <a16:creationId xmlns:a16="http://schemas.microsoft.com/office/drawing/2014/main" id="{B0F41AEA-D9F4-40DA-B182-3AC20892755D}"/>
              </a:ext>
            </a:extLst>
          </p:cNvPr>
          <p:cNvSpPr>
            <a:spLocks xmlns:a="http://schemas.openxmlformats.org/drawingml/2006/main" noGrp="1"/>
          </p:cNvSpPr>
          <p:nvPr/>
        </p:nvSpPr>
        <p:spPr>
          <a:xfrm xmlns:a="http://schemas.openxmlformats.org/drawingml/2006/main">
            <a:off x="800100" y="378142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72738"/>
                </a:solidFill>
                <a:latin typeface="Malgun Gothic"/>
                <a:ea typeface="Malgun Gothic"/>
                <a:cs typeface="Malgun Gothic"/>
              </a:defRPr>
            </a:pPr>
            <a:r>
              <a:rPr sz="2550" b="0">
                <a:solidFill>
                  <a:srgbClr val="172738"/>
                </a:solidFill>
                <a:latin typeface="Malgun Gothic"/>
                <a:ea typeface="Malgun Gothic"/>
                <a:cs typeface="Malgun Gothic"/>
              </a:rPr>
              <a:t>시연 순서·실패 사례·예상 질문까지 연결</a:t>
            </a:r>
          </a:p>
        </p:txBody>
      </p:sp>
      <p:sp>
        <p:nvSpPr>
          <p:cNvPr id="5" name="">
            <a:extLst xmlns:a="http://schemas.openxmlformats.org/drawingml/2006/main">
              <a:ext uri="{FF2B5EF4-FFF2-40B4-BE49-F238E27FC236}">
                <a16:creationId xmlns:a16="http://schemas.microsoft.com/office/drawing/2014/main" id="{70088F78-C5A0-46C7-93BE-10EF1FF9332A}"/>
              </a:ext>
            </a:extLst>
          </p:cNvPr>
          <p:cNvSpPr>
            <a:spLocks xmlns:a="http://schemas.openxmlformats.org/drawingml/2006/main" noGrp="1"/>
          </p:cNvSpPr>
          <p:nvPr/>
        </p:nvSpPr>
        <p:spPr>
          <a:xfrm xmlns:a="http://schemas.openxmlformats.org/drawingml/2006/main">
            <a:off x="800100" y="469582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72738"/>
                </a:solidFill>
                <a:latin typeface="Malgun Gothic"/>
                <a:ea typeface="Malgun Gothic"/>
                <a:cs typeface="Malgun Gothic"/>
              </a:defRPr>
            </a:pPr>
            <a:r>
              <a:rPr sz="2550" b="0">
                <a:solidFill>
                  <a:srgbClr val="172738"/>
                </a:solidFill>
                <a:latin typeface="Malgun Gothic"/>
                <a:ea typeface="Malgun Gothic"/>
                <a:cs typeface="Malgun Gothic"/>
              </a:rPr>
              <a:t>저장 스냅샷을 읽으며 화면 조회만으로 API 호출 없음</a:t>
            </a:r>
          </a:p>
        </p:txBody>
      </p:sp>
      <p:sp>
        <p:nvSpPr>
          <p:cNvPr id="6" name="">
            <a:extLst xmlns:a="http://schemas.openxmlformats.org/drawingml/2006/main">
              <a:ext uri="{FF2B5EF4-FFF2-40B4-BE49-F238E27FC236}">
                <a16:creationId xmlns:a16="http://schemas.microsoft.com/office/drawing/2014/main" id="{2B621305-EF09-4753-BF40-B2318EE5EE04}"/>
              </a:ext>
            </a:extLst>
          </p:cNvPr>
          <p:cNvSpPr>
            <a:spLocks xmlns:a="http://schemas.openxmlformats.org/drawingml/2006/main" noGrp="1"/>
          </p:cNvSpPr>
          <p:nvPr/>
        </p:nvSpPr>
        <p:spPr>
          <a:xfrm xmlns:a="http://schemas.openxmlformats.org/drawingml/2006/main">
            <a:off x="10382250" y="6324600"/>
            <a:ext cx="1095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278"/>
                </a:solidFill>
                <a:latin typeface="Malgun Gothic"/>
                <a:ea typeface="Malgun Gothic"/>
                <a:cs typeface="Malgun Gothic"/>
              </a:defRPr>
            </a:pPr>
            <a:r>
              <a:rPr sz="1500" b="0">
                <a:solidFill>
                  <a:srgbClr val="526278"/>
                </a:solidFill>
                <a:latin typeface="Malgun Gothic"/>
                <a:ea typeface="Malgun Gothic"/>
                <a:cs typeface="Malgun Gothic"/>
              </a:rPr>
              <a:t>14 / 16</a:t>
            </a:r>
          </a:p>
        </p:txBody>
      </p:sp>
    </p:spTree>
    <p:extLst>
      <p:ext uri="{BB962C8B-B14F-4D97-AF65-F5344CB8AC3E}">
        <p14:creationId xmlns:p14="http://schemas.microsoft.com/office/powerpoint/2010/main" val="2094338306"/>
      </p:ext>
    </p:extLst>
  </p:cSld>
</p:sld>
</file>

<file path=ppt/slides/slide15.xml><?xml version="1.0" encoding="utf-8"?>
<p:sld xmlns:p="http://schemas.openxmlformats.org/presentationml/2006/main">
  <p:cSld>
    <p:bg>
      <p:bgPr>
        <a:solidFill xmlns:a="http://schemas.openxmlformats.org/drawingml/2006/main">
          <a:srgbClr val="F9FA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BC1BA17-BDED-4A27-A157-BA4103C55F60}"/>
              </a:ext>
            </a:extLst>
          </p:cNvPr>
          <p:cNvSpPr>
            <a:spLocks xmlns:a="http://schemas.openxmlformats.org/drawingml/2006/main" noGrp="1"/>
          </p:cNvSpPr>
          <p:nvPr/>
        </p:nvSpPr>
        <p:spPr>
          <a:xfrm xmlns:a="http://schemas.openxmlformats.org/drawingml/2006/main">
            <a:off x="800100" y="590550"/>
            <a:ext cx="10591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738"/>
                </a:solidFill>
                <a:latin typeface="Malgun Gothic"/>
                <a:ea typeface="Malgun Gothic"/>
                <a:cs typeface="Malgun Gothic"/>
              </a:defRPr>
            </a:pPr>
            <a:r>
              <a:rPr sz="3300" b="1">
                <a:solidFill>
                  <a:srgbClr val="172738"/>
                </a:solidFill>
                <a:latin typeface="Malgun Gothic"/>
                <a:ea typeface="Malgun Gothic"/>
                <a:cs typeface="Malgun Gothic"/>
              </a:rPr>
              <a:t>M9 시연 순서와 개선 과제</a:t>
            </a:r>
          </a:p>
        </p:txBody>
      </p:sp>
      <p:sp>
        <p:nvSpPr>
          <p:cNvPr id="2" name="">
            <a:extLst xmlns:a="http://schemas.openxmlformats.org/drawingml/2006/main">
              <a:ext uri="{FF2B5EF4-FFF2-40B4-BE49-F238E27FC236}">
                <a16:creationId xmlns:a16="http://schemas.microsoft.com/office/drawing/2014/main" id="{256CE4FE-401D-4EB2-8467-31E9D2C21AAB}"/>
              </a:ext>
            </a:extLst>
          </p:cNvPr>
          <p:cNvSpPr>
            <a:spLocks xmlns:a="http://schemas.openxmlformats.org/drawingml/2006/main" noGrp="1"/>
          </p:cNvSpPr>
          <p:nvPr/>
        </p:nvSpPr>
        <p:spPr>
          <a:xfrm xmlns:a="http://schemas.openxmlformats.org/drawingml/2006/main">
            <a:off x="800100" y="195262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72738"/>
                </a:solidFill>
                <a:latin typeface="Malgun Gothic"/>
                <a:ea typeface="Malgun Gothic"/>
                <a:cs typeface="Malgun Gothic"/>
              </a:defRPr>
            </a:pPr>
            <a:r>
              <a:rPr sz="2550" b="0">
                <a:solidFill>
                  <a:srgbClr val="172738"/>
                </a:solidFill>
                <a:latin typeface="Malgun Gothic"/>
                <a:ea typeface="Malgun Gothic"/>
                <a:cs typeface="Malgun Gothic"/>
              </a:rPr>
              <a:t>위치 질문에서 출처와 그림 확인</a:t>
            </a:r>
          </a:p>
        </p:txBody>
      </p:sp>
      <p:sp>
        <p:nvSpPr>
          <p:cNvPr id="3" name="">
            <a:extLst xmlns:a="http://schemas.openxmlformats.org/drawingml/2006/main">
              <a:ext uri="{FF2B5EF4-FFF2-40B4-BE49-F238E27FC236}">
                <a16:creationId xmlns:a16="http://schemas.microsoft.com/office/drawing/2014/main" id="{47DBA36E-3A20-4FB5-80C8-6D842BCDC1E8}"/>
              </a:ext>
            </a:extLst>
          </p:cNvPr>
          <p:cNvSpPr>
            <a:spLocks xmlns:a="http://schemas.openxmlformats.org/drawingml/2006/main" noGrp="1"/>
          </p:cNvSpPr>
          <p:nvPr/>
        </p:nvSpPr>
        <p:spPr>
          <a:xfrm xmlns:a="http://schemas.openxmlformats.org/drawingml/2006/main">
            <a:off x="800100" y="286702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72738"/>
                </a:solidFill>
                <a:latin typeface="Malgun Gothic"/>
                <a:ea typeface="Malgun Gothic"/>
                <a:cs typeface="Malgun Gothic"/>
              </a:defRPr>
            </a:pPr>
            <a:r>
              <a:rPr sz="2550" b="0">
                <a:solidFill>
                  <a:srgbClr val="172738"/>
                </a:solidFill>
                <a:latin typeface="Malgun Gothic"/>
                <a:ea typeface="Malgun Gothic"/>
                <a:cs typeface="Malgun Gothic"/>
              </a:rPr>
              <a:t>규격 질문에서 조건·각주·생성 단계 확인</a:t>
            </a:r>
          </a:p>
        </p:txBody>
      </p:sp>
      <p:sp>
        <p:nvSpPr>
          <p:cNvPr id="4" name="">
            <a:extLst xmlns:a="http://schemas.openxmlformats.org/drawingml/2006/main">
              <a:ext uri="{FF2B5EF4-FFF2-40B4-BE49-F238E27FC236}">
                <a16:creationId xmlns:a16="http://schemas.microsoft.com/office/drawing/2014/main" id="{F67AA9CD-1A2F-4109-8310-FF812E013E9B}"/>
              </a:ext>
            </a:extLst>
          </p:cNvPr>
          <p:cNvSpPr>
            <a:spLocks xmlns:a="http://schemas.openxmlformats.org/drawingml/2006/main" noGrp="1"/>
          </p:cNvSpPr>
          <p:nvPr/>
        </p:nvSpPr>
        <p:spPr>
          <a:xfrm xmlns:a="http://schemas.openxmlformats.org/drawingml/2006/main">
            <a:off x="800100" y="378142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72738"/>
                </a:solidFill>
                <a:latin typeface="Malgun Gothic"/>
                <a:ea typeface="Malgun Gothic"/>
                <a:cs typeface="Malgun Gothic"/>
              </a:defRPr>
            </a:pPr>
            <a:r>
              <a:rPr sz="2550" b="0">
                <a:solidFill>
                  <a:srgbClr val="172738"/>
                </a:solidFill>
                <a:latin typeface="Malgun Gothic"/>
                <a:ea typeface="Malgun Gothic"/>
                <a:cs typeface="Malgun Gothic"/>
              </a:rPr>
              <a:t>범위 밖 질문과 저장된 실패 사례 확인</a:t>
            </a:r>
          </a:p>
        </p:txBody>
      </p:sp>
      <p:sp>
        <p:nvSpPr>
          <p:cNvPr id="5" name="">
            <a:extLst xmlns:a="http://schemas.openxmlformats.org/drawingml/2006/main">
              <a:ext uri="{FF2B5EF4-FFF2-40B4-BE49-F238E27FC236}">
                <a16:creationId xmlns:a16="http://schemas.microsoft.com/office/drawing/2014/main" id="{685A52E2-F542-4A9C-83C5-DB0EB0EB52B0}"/>
              </a:ext>
            </a:extLst>
          </p:cNvPr>
          <p:cNvSpPr>
            <a:spLocks xmlns:a="http://schemas.openxmlformats.org/drawingml/2006/main" noGrp="1"/>
          </p:cNvSpPr>
          <p:nvPr/>
        </p:nvSpPr>
        <p:spPr>
          <a:xfrm xmlns:a="http://schemas.openxmlformats.org/drawingml/2006/main">
            <a:off x="800100" y="469582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72738"/>
                </a:solidFill>
                <a:latin typeface="Malgun Gothic"/>
                <a:ea typeface="Malgun Gothic"/>
                <a:cs typeface="Malgun Gothic"/>
              </a:defRPr>
            </a:pPr>
            <a:r>
              <a:rPr sz="2550" b="0">
                <a:solidFill>
                  <a:srgbClr val="172738"/>
                </a:solidFill>
                <a:latin typeface="Malgun Gothic"/>
                <a:ea typeface="Malgun Gothic"/>
                <a:cs typeface="Malgun Gothic"/>
              </a:rPr>
              <a:t>관련 근거 선택 보완, 원문 검토, 새 골든셋 재평가</a:t>
            </a:r>
          </a:p>
        </p:txBody>
      </p:sp>
      <p:sp>
        <p:nvSpPr>
          <p:cNvPr id="6" name="">
            <a:extLst xmlns:a="http://schemas.openxmlformats.org/drawingml/2006/main">
              <a:ext uri="{FF2B5EF4-FFF2-40B4-BE49-F238E27FC236}">
                <a16:creationId xmlns:a16="http://schemas.microsoft.com/office/drawing/2014/main" id="{53A5E7D8-FC9D-4FD8-874F-FAFF0CA0F52E}"/>
              </a:ext>
            </a:extLst>
          </p:cNvPr>
          <p:cNvSpPr>
            <a:spLocks xmlns:a="http://schemas.openxmlformats.org/drawingml/2006/main" noGrp="1"/>
          </p:cNvSpPr>
          <p:nvPr/>
        </p:nvSpPr>
        <p:spPr>
          <a:xfrm xmlns:a="http://schemas.openxmlformats.org/drawingml/2006/main">
            <a:off x="10382250" y="6324600"/>
            <a:ext cx="1095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278"/>
                </a:solidFill>
                <a:latin typeface="Malgun Gothic"/>
                <a:ea typeface="Malgun Gothic"/>
                <a:cs typeface="Malgun Gothic"/>
              </a:defRPr>
            </a:pPr>
            <a:r>
              <a:rPr sz="1500" b="0">
                <a:solidFill>
                  <a:srgbClr val="526278"/>
                </a:solidFill>
                <a:latin typeface="Malgun Gothic"/>
                <a:ea typeface="Malgun Gothic"/>
                <a:cs typeface="Malgun Gothic"/>
              </a:rPr>
              <a:t>15 / 16</a:t>
            </a:r>
          </a:p>
        </p:txBody>
      </p:sp>
    </p:spTree>
    <p:extLst>
      <p:ext uri="{BB962C8B-B14F-4D97-AF65-F5344CB8AC3E}">
        <p14:creationId xmlns:p14="http://schemas.microsoft.com/office/powerpoint/2010/main" val="1015826191"/>
      </p:ext>
    </p:extLst>
  </p:cSld>
</p:sld>
</file>

<file path=ppt/slides/slide16.xml><?xml version="1.0" encoding="utf-8"?>
<p:sld xmlns:p="http://schemas.openxmlformats.org/presentationml/2006/main">
  <p:cSld>
    <p:bg>
      <p:bgPr>
        <a:solidFill xmlns:a="http://schemas.openxmlformats.org/drawingml/2006/main">
          <a:srgbClr val="F9FA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7CA996A-8650-4A3A-A71E-B5CC2396ED11}"/>
              </a:ext>
            </a:extLst>
          </p:cNvPr>
          <p:cNvSpPr>
            <a:spLocks xmlns:a="http://schemas.openxmlformats.org/drawingml/2006/main" noGrp="1"/>
          </p:cNvSpPr>
          <p:nvPr/>
        </p:nvSpPr>
        <p:spPr>
          <a:xfrm xmlns:a="http://schemas.openxmlformats.org/drawingml/2006/main">
            <a:off x="800100" y="590550"/>
            <a:ext cx="10591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738"/>
                </a:solidFill>
                <a:latin typeface="Malgun Gothic"/>
                <a:ea typeface="Malgun Gothic"/>
                <a:cs typeface="Malgun Gothic"/>
              </a:defRPr>
            </a:pPr>
            <a:r>
              <a:rPr sz="3300" b="1">
                <a:solidFill>
                  <a:srgbClr val="172738"/>
                </a:solidFill>
                <a:latin typeface="Malgun Gothic"/>
                <a:ea typeface="Malgun Gothic"/>
                <a:cs typeface="Malgun Gothic"/>
              </a:rPr>
              <a:t>수업 개념을 설명서 문제에 적용한 결과</a:t>
            </a:r>
          </a:p>
        </p:txBody>
      </p:sp>
      <p:sp>
        <p:nvSpPr>
          <p:cNvPr id="2" name="">
            <a:extLst xmlns:a="http://schemas.openxmlformats.org/drawingml/2006/main">
              <a:ext uri="{FF2B5EF4-FFF2-40B4-BE49-F238E27FC236}">
                <a16:creationId xmlns:a16="http://schemas.microsoft.com/office/drawing/2014/main" id="{77583A36-D3C0-499F-9ED3-3FE1C800B2D1}"/>
              </a:ext>
            </a:extLst>
          </p:cNvPr>
          <p:cNvSpPr>
            <a:spLocks xmlns:a="http://schemas.openxmlformats.org/drawingml/2006/main" noGrp="1"/>
          </p:cNvSpPr>
          <p:nvPr/>
        </p:nvSpPr>
        <p:spPr>
          <a:xfrm xmlns:a="http://schemas.openxmlformats.org/drawingml/2006/main">
            <a:off x="800100" y="195262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72738"/>
                </a:solidFill>
                <a:latin typeface="Malgun Gothic"/>
                <a:ea typeface="Malgun Gothic"/>
                <a:cs typeface="Malgun Gothic"/>
              </a:defRPr>
            </a:pPr>
            <a:r>
              <a:rPr sz="2550" b="0">
                <a:solidFill>
                  <a:srgbClr val="172738"/>
                </a:solidFill>
                <a:latin typeface="Malgun Gothic"/>
                <a:ea typeface="Malgun Gothic"/>
                <a:cs typeface="Malgun Gothic"/>
              </a:rPr>
              <a:t>문서 로드·청킹·TF-IDF·임베딩·pgvector·LCEL 적용</a:t>
            </a:r>
          </a:p>
        </p:txBody>
      </p:sp>
      <p:sp>
        <p:nvSpPr>
          <p:cNvPr id="3" name="">
            <a:extLst xmlns:a="http://schemas.openxmlformats.org/drawingml/2006/main">
              <a:ext uri="{FF2B5EF4-FFF2-40B4-BE49-F238E27FC236}">
                <a16:creationId xmlns:a16="http://schemas.microsoft.com/office/drawing/2014/main" id="{B3D8321A-ED6C-41CA-AD92-D601AB533BB6}"/>
              </a:ext>
            </a:extLst>
          </p:cNvPr>
          <p:cNvSpPr>
            <a:spLocks xmlns:a="http://schemas.openxmlformats.org/drawingml/2006/main" noGrp="1"/>
          </p:cNvSpPr>
          <p:nvPr/>
        </p:nvSpPr>
        <p:spPr>
          <a:xfrm xmlns:a="http://schemas.openxmlformats.org/drawingml/2006/main">
            <a:off x="800100" y="286702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72738"/>
                </a:solidFill>
                <a:latin typeface="Malgun Gothic"/>
                <a:ea typeface="Malgun Gothic"/>
                <a:cs typeface="Malgun Gothic"/>
              </a:defRPr>
            </a:pPr>
            <a:r>
              <a:rPr sz="2550" b="0">
                <a:solidFill>
                  <a:srgbClr val="172738"/>
                </a:solidFill>
                <a:latin typeface="Malgun Gothic"/>
                <a:ea typeface="Malgun Gothic"/>
                <a:cs typeface="Malgun Gothic"/>
              </a:rPr>
              <a:t>표와 각주를 보존하고 검토 상태와 출처를 연결</a:t>
            </a:r>
          </a:p>
        </p:txBody>
      </p:sp>
      <p:sp>
        <p:nvSpPr>
          <p:cNvPr id="4" name="">
            <a:extLst xmlns:a="http://schemas.openxmlformats.org/drawingml/2006/main">
              <a:ext uri="{FF2B5EF4-FFF2-40B4-BE49-F238E27FC236}">
                <a16:creationId xmlns:a16="http://schemas.microsoft.com/office/drawing/2014/main" id="{675348B9-BC17-4889-B0A0-633D6EE539AF}"/>
              </a:ext>
            </a:extLst>
          </p:cNvPr>
          <p:cNvSpPr>
            <a:spLocks xmlns:a="http://schemas.openxmlformats.org/drawingml/2006/main" noGrp="1"/>
          </p:cNvSpPr>
          <p:nvPr/>
        </p:nvSpPr>
        <p:spPr>
          <a:xfrm xmlns:a="http://schemas.openxmlformats.org/drawingml/2006/main">
            <a:off x="800100" y="378142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72738"/>
                </a:solidFill>
                <a:latin typeface="Malgun Gothic"/>
                <a:ea typeface="Malgun Gothic"/>
                <a:cs typeface="Malgun Gothic"/>
              </a:defRPr>
            </a:pPr>
            <a:r>
              <a:rPr sz="2550" b="0">
                <a:solidFill>
                  <a:srgbClr val="172738"/>
                </a:solidFill>
                <a:latin typeface="Malgun Gothic"/>
                <a:ea typeface="Malgun Gothic"/>
                <a:cs typeface="Malgun Gothic"/>
              </a:rPr>
              <a:t>비교 실험과 실패 기록을 화면에서 확인</a:t>
            </a:r>
          </a:p>
        </p:txBody>
      </p:sp>
      <p:sp>
        <p:nvSpPr>
          <p:cNvPr id="5" name="">
            <a:extLst xmlns:a="http://schemas.openxmlformats.org/drawingml/2006/main">
              <a:ext uri="{FF2B5EF4-FFF2-40B4-BE49-F238E27FC236}">
                <a16:creationId xmlns:a16="http://schemas.microsoft.com/office/drawing/2014/main" id="{CA1A2B5E-3984-4093-8672-CE44EC13EF57}"/>
              </a:ext>
            </a:extLst>
          </p:cNvPr>
          <p:cNvSpPr>
            <a:spLocks xmlns:a="http://schemas.openxmlformats.org/drawingml/2006/main" noGrp="1"/>
          </p:cNvSpPr>
          <p:nvPr/>
        </p:nvSpPr>
        <p:spPr>
          <a:xfrm xmlns:a="http://schemas.openxmlformats.org/drawingml/2006/main">
            <a:off x="800100" y="469582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72738"/>
                </a:solidFill>
                <a:latin typeface="Malgun Gothic"/>
                <a:ea typeface="Malgun Gothic"/>
                <a:cs typeface="Malgun Gothic"/>
              </a:defRPr>
            </a:pPr>
            <a:r>
              <a:rPr sz="2550" b="0">
                <a:solidFill>
                  <a:srgbClr val="172738"/>
                </a:solidFill>
                <a:latin typeface="Malgun Gothic"/>
                <a:ea typeface="Malgun Gothic"/>
                <a:cs typeface="Malgun Gothic"/>
              </a:rPr>
              <a:t>다음 검증의 초점은 최종 근거 선택과 답변 품질</a:t>
            </a:r>
          </a:p>
        </p:txBody>
      </p:sp>
      <p:sp>
        <p:nvSpPr>
          <p:cNvPr id="6" name="">
            <a:extLst xmlns:a="http://schemas.openxmlformats.org/drawingml/2006/main">
              <a:ext uri="{FF2B5EF4-FFF2-40B4-BE49-F238E27FC236}">
                <a16:creationId xmlns:a16="http://schemas.microsoft.com/office/drawing/2014/main" id="{DBCDD13E-2BB8-47A1-A933-09595C79D1A0}"/>
              </a:ext>
            </a:extLst>
          </p:cNvPr>
          <p:cNvSpPr>
            <a:spLocks xmlns:a="http://schemas.openxmlformats.org/drawingml/2006/main" noGrp="1"/>
          </p:cNvSpPr>
          <p:nvPr/>
        </p:nvSpPr>
        <p:spPr>
          <a:xfrm xmlns:a="http://schemas.openxmlformats.org/drawingml/2006/main">
            <a:off x="10382250" y="6324600"/>
            <a:ext cx="1095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278"/>
                </a:solidFill>
                <a:latin typeface="Malgun Gothic"/>
                <a:ea typeface="Malgun Gothic"/>
                <a:cs typeface="Malgun Gothic"/>
              </a:defRPr>
            </a:pPr>
            <a:r>
              <a:rPr sz="1500" b="0">
                <a:solidFill>
                  <a:srgbClr val="526278"/>
                </a:solidFill>
                <a:latin typeface="Malgun Gothic"/>
                <a:ea typeface="Malgun Gothic"/>
                <a:cs typeface="Malgun Gothic"/>
              </a:rPr>
              <a:t>16 / 16</a:t>
            </a:r>
          </a:p>
        </p:txBody>
      </p:sp>
    </p:spTree>
    <p:extLst>
      <p:ext uri="{BB962C8B-B14F-4D97-AF65-F5344CB8AC3E}">
        <p14:creationId xmlns:p14="http://schemas.microsoft.com/office/powerpoint/2010/main" val="36479503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2026-10-06T15:32:50.2570000Z</dcterms:created>
  <dcterms:modified xsi:type="dcterms:W3CDTF">2026-10-06T15:32:50.2570000Z</dcterms:modified>
</coreProperties>
</file>